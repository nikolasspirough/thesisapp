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0" r:id="rId2"/>
  </p:sldMasterIdLst>
  <p:notesMasterIdLst>
    <p:notesMasterId r:id="rId31"/>
  </p:notesMasterIdLst>
  <p:sldIdLst>
    <p:sldId id="256" r:id="rId3"/>
    <p:sldId id="257" r:id="rId4"/>
    <p:sldId id="258" r:id="rId5"/>
    <p:sldId id="259" r:id="rId6"/>
    <p:sldId id="260" r:id="rId7"/>
    <p:sldId id="262" r:id="rId8"/>
    <p:sldId id="263" r:id="rId9"/>
    <p:sldId id="264" r:id="rId10"/>
    <p:sldId id="265" r:id="rId11"/>
    <p:sldId id="266" r:id="rId12"/>
    <p:sldId id="267" r:id="rId13"/>
    <p:sldId id="268" r:id="rId14"/>
    <p:sldId id="276" r:id="rId15"/>
    <p:sldId id="269" r:id="rId16"/>
    <p:sldId id="279" r:id="rId17"/>
    <p:sldId id="278" r:id="rId18"/>
    <p:sldId id="280" r:id="rId19"/>
    <p:sldId id="281" r:id="rId20"/>
    <p:sldId id="282" r:id="rId21"/>
    <p:sldId id="283" r:id="rId22"/>
    <p:sldId id="284" r:id="rId23"/>
    <p:sldId id="270" r:id="rId24"/>
    <p:sldId id="272" r:id="rId25"/>
    <p:sldId id="273" r:id="rId26"/>
    <p:sldId id="271" r:id="rId27"/>
    <p:sldId id="277" r:id="rId28"/>
    <p:sldId id="274" r:id="rId29"/>
    <p:sldId id="275" r:id="rId3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404" y="17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1224AE-8C6E-47C5-917B-485DFF73F561}"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CDE72B-7D3F-4723-AF86-6AF31CED4440}" type="slidenum">
              <a:rPr lang="en-US" smtClean="0"/>
              <a:t>‹#›</a:t>
            </a:fld>
            <a:endParaRPr lang="en-US"/>
          </a:p>
        </p:txBody>
      </p:sp>
    </p:spTree>
    <p:extLst>
      <p:ext uri="{BB962C8B-B14F-4D97-AF65-F5344CB8AC3E}">
        <p14:creationId xmlns:p14="http://schemas.microsoft.com/office/powerpoint/2010/main" val="455605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kern="1200" dirty="0">
                <a:solidFill>
                  <a:schemeClr val="tx1"/>
                </a:solidFill>
                <a:effectLst/>
                <a:latin typeface="+mn-lt"/>
                <a:ea typeface="+mn-ea"/>
                <a:cs typeface="+mn-cs"/>
              </a:rPr>
              <a:t>Καλησπέρα σας, αξιότιμα μέλη της επιτροπής. Ονομάζομαι Νικόλαος Σπύρου και μαζί με τον συνάδελφο Νικόλαο </a:t>
            </a:r>
            <a:r>
              <a:rPr lang="el-GR" sz="1200" kern="1200" dirty="0" err="1">
                <a:solidFill>
                  <a:schemeClr val="tx1"/>
                </a:solidFill>
                <a:effectLst/>
                <a:latin typeface="+mn-lt"/>
                <a:ea typeface="+mn-ea"/>
                <a:cs typeface="+mn-cs"/>
              </a:rPr>
              <a:t>Ριζόγιαννη</a:t>
            </a:r>
            <a:r>
              <a:rPr lang="el-GR" sz="1200" kern="1200" dirty="0">
                <a:solidFill>
                  <a:schemeClr val="tx1"/>
                </a:solidFill>
                <a:effectLst/>
                <a:latin typeface="+mn-lt"/>
                <a:ea typeface="+mn-ea"/>
                <a:cs typeface="+mn-cs"/>
              </a:rPr>
              <a:t> θα σας παρουσιάσουμε τη διπλωματική μας εργασία. Το θέμα μας αφορά τον σχεδιασμό και την υλοποίηση μιας ολοκληρωμένης </a:t>
            </a:r>
            <a:r>
              <a:rPr lang="en-US" sz="1200" kern="1200" dirty="0">
                <a:solidFill>
                  <a:schemeClr val="tx1"/>
                </a:solidFill>
                <a:effectLst/>
                <a:latin typeface="+mn-lt"/>
                <a:ea typeface="+mn-ea"/>
                <a:cs typeface="+mn-cs"/>
              </a:rPr>
              <a:t>Cloud</a:t>
            </a:r>
            <a:r>
              <a:rPr lang="el-GR" sz="1200" kern="1200" dirty="0">
                <a:solidFill>
                  <a:schemeClr val="tx1"/>
                </a:solidFill>
                <a:effectLst/>
                <a:latin typeface="+mn-lt"/>
                <a:ea typeface="+mn-ea"/>
                <a:cs typeface="+mn-cs"/>
              </a:rPr>
              <a:t> πλατφόρμας για τη διαχείριση και εκτέλεση μοντέλων Μηχανικής Μάθησης. Στόχος μας ήταν να δημιουργήσουμε ένα σύστημα </a:t>
            </a:r>
            <a:r>
              <a:rPr lang="en-US" sz="1200" kern="1200" dirty="0" err="1">
                <a:solidFill>
                  <a:schemeClr val="tx1"/>
                </a:solidFill>
                <a:effectLst/>
                <a:latin typeface="+mn-lt"/>
                <a:ea typeface="+mn-ea"/>
                <a:cs typeface="+mn-cs"/>
              </a:rPr>
              <a:t>MLaaS</a:t>
            </a:r>
            <a:r>
              <a:rPr lang="el-GR"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Machine Learning as a Service</a:t>
            </a:r>
            <a:r>
              <a:rPr lang="el-GR" sz="1200" kern="1200" dirty="0">
                <a:solidFill>
                  <a:schemeClr val="tx1"/>
                </a:solidFill>
                <a:effectLst/>
                <a:latin typeface="+mn-lt"/>
                <a:ea typeface="+mn-ea"/>
                <a:cs typeface="+mn-cs"/>
              </a:rPr>
              <a:t>) που να απλοποιεί τον κύκλο ζωής των μοντέλων, από την εκπαίδευση έως την πρόβλεψη, λύνοντας βασικά προβλήματα διαχείρισης πόρων και περιβάλλοντος.</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1</a:t>
            </a:fld>
            <a:endParaRPr lang="en-US"/>
          </a:p>
        </p:txBody>
      </p:sp>
    </p:spTree>
    <p:extLst>
      <p:ext uri="{BB962C8B-B14F-4D97-AF65-F5344CB8AC3E}">
        <p14:creationId xmlns:p14="http://schemas.microsoft.com/office/powerpoint/2010/main" val="4031596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Στην πράξη, η εκπαίδευση μοντέλων μηχανικής μάθησης είναι μια διαδικασία που μπορεί να διαρκέσει από λεπτά έως ώρες και να απαιτεί σημαντικούς πόρους.</a:t>
            </a:r>
            <a:br>
              <a:rPr lang="el-GR" dirty="0"/>
            </a:br>
            <a:r>
              <a:rPr lang="el-GR" dirty="0"/>
              <a:t>Αυτό σημαίνει ότι δεν μπορεί να εκτελεστεί με απλά </a:t>
            </a:r>
            <a:r>
              <a:rPr lang="el-GR" dirty="0" err="1"/>
              <a:t>synchronous</a:t>
            </a:r>
            <a:r>
              <a:rPr lang="el-GR" dirty="0"/>
              <a:t> HTTP </a:t>
            </a:r>
            <a:r>
              <a:rPr lang="el-GR" dirty="0" err="1"/>
              <a:t>requests</a:t>
            </a:r>
            <a:r>
              <a:rPr lang="el-GR" dirty="0"/>
              <a:t> σε μια </a:t>
            </a:r>
            <a:r>
              <a:rPr lang="el-GR" dirty="0" err="1"/>
              <a:t>web</a:t>
            </a:r>
            <a:r>
              <a:rPr lang="el-GR" dirty="0"/>
              <a:t> εφαρμογή.</a:t>
            </a:r>
            <a:br>
              <a:rPr lang="el-GR" dirty="0"/>
            </a:br>
            <a:r>
              <a:rPr lang="el-GR" dirty="0"/>
              <a:t>Παράλληλα, η υποστήριξη </a:t>
            </a:r>
            <a:r>
              <a:rPr lang="el-GR" dirty="0" err="1"/>
              <a:t>custom</a:t>
            </a:r>
            <a:r>
              <a:rPr lang="el-GR" dirty="0"/>
              <a:t> αλγορίθμων δημιουργεί σοβαρά ζητήματα ασφάλειας, σταθερότητας και διαχείρισης εξαρτήσεων.</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3</a:t>
            </a:fld>
            <a:endParaRPr lang="en-US"/>
          </a:p>
        </p:txBody>
      </p:sp>
    </p:spTree>
    <p:extLst>
      <p:ext uri="{BB962C8B-B14F-4D97-AF65-F5344CB8AC3E}">
        <p14:creationId xmlns:p14="http://schemas.microsoft.com/office/powerpoint/2010/main" val="1535334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Οι υπάρχουσες λύσεις χωρίζονται σε δύο άκρα. Από τη μία, οι κολοσσοί όπως η </a:t>
            </a:r>
            <a:r>
              <a:rPr lang="en-US" sz="1200" kern="1200" dirty="0">
                <a:solidFill>
                  <a:schemeClr val="tx1"/>
                </a:solidFill>
                <a:effectLst/>
                <a:latin typeface="+mn-lt"/>
                <a:ea typeface="+mn-ea"/>
                <a:cs typeface="+mn-cs"/>
              </a:rPr>
              <a:t>Amazon</a:t>
            </a:r>
            <a:r>
              <a:rPr lang="el-GR" sz="1200" kern="1200" dirty="0">
                <a:solidFill>
                  <a:schemeClr val="tx1"/>
                </a:solidFill>
                <a:effectLst/>
                <a:latin typeface="+mn-lt"/>
                <a:ea typeface="+mn-ea"/>
                <a:cs typeface="+mn-cs"/>
              </a:rPr>
              <a:t> και η </a:t>
            </a:r>
            <a:r>
              <a:rPr lang="en-US" sz="1200" kern="1200" dirty="0">
                <a:solidFill>
                  <a:schemeClr val="tx1"/>
                </a:solidFill>
                <a:effectLst/>
                <a:latin typeface="+mn-lt"/>
                <a:ea typeface="+mn-ea"/>
                <a:cs typeface="+mn-cs"/>
              </a:rPr>
              <a:t>Google</a:t>
            </a:r>
            <a:r>
              <a:rPr lang="el-GR" sz="1200" kern="1200" dirty="0">
                <a:solidFill>
                  <a:schemeClr val="tx1"/>
                </a:solidFill>
                <a:effectLst/>
                <a:latin typeface="+mn-lt"/>
                <a:ea typeface="+mn-ea"/>
                <a:cs typeface="+mn-cs"/>
              </a:rPr>
              <a:t> προσφέρουν ισχυρά εργαλεία, τα οποία όμως είναι ακριβά και δεσμεύουν τον χρήστη στην υποδομή τους (</a:t>
            </a:r>
            <a:r>
              <a:rPr lang="en-US" sz="1200" kern="1200" dirty="0">
                <a:solidFill>
                  <a:schemeClr val="tx1"/>
                </a:solidFill>
                <a:effectLst/>
                <a:latin typeface="+mn-lt"/>
                <a:ea typeface="+mn-ea"/>
                <a:cs typeface="+mn-cs"/>
              </a:rPr>
              <a:t>Vendor Lock</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in</a:t>
            </a:r>
            <a:r>
              <a:rPr lang="el-GR" sz="1200" kern="1200" dirty="0">
                <a:solidFill>
                  <a:schemeClr val="tx1"/>
                </a:solidFill>
                <a:effectLst/>
                <a:latin typeface="+mn-lt"/>
                <a:ea typeface="+mn-ea"/>
                <a:cs typeface="+mn-cs"/>
              </a:rPr>
              <a:t>). Από την άλλη, τα τοπικά εργαλεία δεν προσφέρουν δυνατότητες συνεργασίας ή εύκολης διάθεσης των μοντέλων. Η δική μας πρόταση έρχεται να καλύψει αυτό το κενό, προσφέροντας μια λύση που μπορεί να εγκατασταθεί σε οποιαδήποτε υποδομή (</a:t>
            </a:r>
            <a:r>
              <a:rPr lang="en-US" sz="1200" kern="1200" dirty="0">
                <a:solidFill>
                  <a:schemeClr val="tx1"/>
                </a:solidFill>
                <a:effectLst/>
                <a:latin typeface="+mn-lt"/>
                <a:ea typeface="+mn-ea"/>
                <a:cs typeface="+mn-cs"/>
              </a:rPr>
              <a:t>On</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Premise</a:t>
            </a:r>
            <a:r>
              <a:rPr lang="el-GR" sz="1200" kern="1200" dirty="0">
                <a:solidFill>
                  <a:schemeClr val="tx1"/>
                </a:solidFill>
                <a:effectLst/>
                <a:latin typeface="+mn-lt"/>
                <a:ea typeface="+mn-ea"/>
                <a:cs typeface="+mn-cs"/>
              </a:rPr>
              <a:t> ή </a:t>
            </a:r>
            <a:r>
              <a:rPr lang="en-US" sz="1200" kern="1200" dirty="0">
                <a:solidFill>
                  <a:schemeClr val="tx1"/>
                </a:solidFill>
                <a:effectLst/>
                <a:latin typeface="+mn-lt"/>
                <a:ea typeface="+mn-ea"/>
                <a:cs typeface="+mn-cs"/>
              </a:rPr>
              <a:t>Cloud</a:t>
            </a:r>
            <a:r>
              <a:rPr lang="el-GR" sz="1200" kern="1200" dirty="0">
                <a:solidFill>
                  <a:schemeClr val="tx1"/>
                </a:solidFill>
                <a:effectLst/>
                <a:latin typeface="+mn-lt"/>
                <a:ea typeface="+mn-ea"/>
                <a:cs typeface="+mn-cs"/>
              </a:rPr>
              <a:t>) χωρίς εξαρτήσεις.</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4</a:t>
            </a:fld>
            <a:endParaRPr lang="en-US"/>
          </a:p>
        </p:txBody>
      </p:sp>
    </p:spTree>
    <p:extLst>
      <p:ext uri="{BB962C8B-B14F-4D97-AF65-F5344CB8AC3E}">
        <p14:creationId xmlns:p14="http://schemas.microsoft.com/office/powerpoint/2010/main" val="163069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kern="1200" dirty="0">
                <a:solidFill>
                  <a:schemeClr val="tx1"/>
                </a:solidFill>
                <a:effectLst/>
                <a:latin typeface="+mn-lt"/>
                <a:ea typeface="+mn-ea"/>
                <a:cs typeface="+mn-cs"/>
              </a:rPr>
              <a:t>Οι κύριοι στόχοι μας ήταν τέσσερις: Πρώτον, να υιοθετήσουμε μια </a:t>
            </a:r>
            <a:r>
              <a:rPr lang="en-US" sz="1200" kern="1200" dirty="0">
                <a:solidFill>
                  <a:schemeClr val="tx1"/>
                </a:solidFill>
                <a:effectLst/>
                <a:latin typeface="+mn-lt"/>
                <a:ea typeface="+mn-ea"/>
                <a:cs typeface="+mn-cs"/>
              </a:rPr>
              <a:t>Cloud</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Native</a:t>
            </a:r>
            <a:r>
              <a:rPr lang="el-GR" sz="1200" kern="1200" dirty="0">
                <a:solidFill>
                  <a:schemeClr val="tx1"/>
                </a:solidFill>
                <a:effectLst/>
                <a:latin typeface="+mn-lt"/>
                <a:ea typeface="+mn-ea"/>
                <a:cs typeface="+mn-cs"/>
              </a:rPr>
              <a:t> αρχιτεκτονική που να είναι επεκτάσιμη. Δεύτερον, να υποστηρίξουμε τόσο αρχάριους χρήστες με έτοιμους αλγορίθμους (μέσω </a:t>
            </a:r>
            <a:r>
              <a:rPr lang="en-US" sz="1200" kern="1200" dirty="0">
                <a:solidFill>
                  <a:schemeClr val="tx1"/>
                </a:solidFill>
                <a:effectLst/>
                <a:latin typeface="+mn-lt"/>
                <a:ea typeface="+mn-ea"/>
                <a:cs typeface="+mn-cs"/>
              </a:rPr>
              <a:t>Weka</a:t>
            </a:r>
            <a:r>
              <a:rPr lang="el-GR" sz="1200" kern="1200" dirty="0">
                <a:solidFill>
                  <a:schemeClr val="tx1"/>
                </a:solidFill>
                <a:effectLst/>
                <a:latin typeface="+mn-lt"/>
                <a:ea typeface="+mn-ea"/>
                <a:cs typeface="+mn-cs"/>
              </a:rPr>
              <a:t>), όσο και έμπειρους επιστήμονες δεδομένων που θέλουν να τρέξουν τον δικό τους κώδικα. Τρίτον, να υλοποιήσουμε ένα ασύγχρονο μοντέλο εκτέλεσης ώστε ο χρήστης να μην περιμένει. Και τέταρτον, να διασφαλίσουμε την ασφάλεια των δεδομένων και την πλήρη ιχνηλασιμότητα κάθε πειράματος.</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5</a:t>
            </a:fld>
            <a:endParaRPr lang="en-US"/>
          </a:p>
        </p:txBody>
      </p:sp>
    </p:spTree>
    <p:extLst>
      <p:ext uri="{BB962C8B-B14F-4D97-AF65-F5344CB8AC3E}">
        <p14:creationId xmlns:p14="http://schemas.microsoft.com/office/powerpoint/2010/main" val="2474788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kern="1200" dirty="0">
                <a:solidFill>
                  <a:schemeClr val="tx1"/>
                </a:solidFill>
                <a:effectLst/>
                <a:latin typeface="+mn-lt"/>
                <a:ea typeface="+mn-ea"/>
                <a:cs typeface="+mn-cs"/>
              </a:rPr>
              <a:t>Σημειώσεις Ομιλητή: Η αρχιτεκτονική μας αποτελείται από τρία κύρια επίπεδα. Στο </a:t>
            </a:r>
            <a:r>
              <a:rPr lang="en-US" sz="1200" kern="1200" dirty="0">
                <a:solidFill>
                  <a:schemeClr val="tx1"/>
                </a:solidFill>
                <a:effectLst/>
                <a:latin typeface="+mn-lt"/>
                <a:ea typeface="+mn-ea"/>
                <a:cs typeface="+mn-cs"/>
              </a:rPr>
              <a:t>Frontend</a:t>
            </a:r>
            <a:r>
              <a:rPr lang="el-GR" sz="1200" kern="1200" dirty="0">
                <a:solidFill>
                  <a:schemeClr val="tx1"/>
                </a:solidFill>
                <a:effectLst/>
                <a:latin typeface="+mn-lt"/>
                <a:ea typeface="+mn-ea"/>
                <a:cs typeface="+mn-cs"/>
              </a:rPr>
              <a:t> χρησιμοποιήσαμε </a:t>
            </a:r>
            <a:r>
              <a:rPr lang="en-US" sz="1200" kern="1200" dirty="0">
                <a:solidFill>
                  <a:schemeClr val="tx1"/>
                </a:solidFill>
                <a:effectLst/>
                <a:latin typeface="+mn-lt"/>
                <a:ea typeface="+mn-ea"/>
                <a:cs typeface="+mn-cs"/>
              </a:rPr>
              <a:t>Web Components</a:t>
            </a:r>
            <a:r>
              <a:rPr lang="el-GR" sz="1200" kern="1200" dirty="0">
                <a:solidFill>
                  <a:schemeClr val="tx1"/>
                </a:solidFill>
                <a:effectLst/>
                <a:latin typeface="+mn-lt"/>
                <a:ea typeface="+mn-ea"/>
                <a:cs typeface="+mn-cs"/>
              </a:rPr>
              <a:t> για μια γρήγορη και ελαφριά εμπειρία χρήστη. Η καρδιά του συστήματος είναι το </a:t>
            </a:r>
            <a:r>
              <a:rPr lang="en-US" sz="1200" kern="1200" dirty="0">
                <a:solidFill>
                  <a:schemeClr val="tx1"/>
                </a:solidFill>
                <a:effectLst/>
                <a:latin typeface="+mn-lt"/>
                <a:ea typeface="+mn-ea"/>
                <a:cs typeface="+mn-cs"/>
              </a:rPr>
              <a:t>Backend</a:t>
            </a:r>
            <a:r>
              <a:rPr lang="el-GR" sz="1200" kern="1200" dirty="0">
                <a:solidFill>
                  <a:schemeClr val="tx1"/>
                </a:solidFill>
                <a:effectLst/>
                <a:latin typeface="+mn-lt"/>
                <a:ea typeface="+mn-ea"/>
                <a:cs typeface="+mn-cs"/>
              </a:rPr>
              <a:t> σε </a:t>
            </a:r>
            <a:r>
              <a:rPr lang="en-US" sz="1200" kern="1200" dirty="0">
                <a:solidFill>
                  <a:schemeClr val="tx1"/>
                </a:solidFill>
                <a:effectLst/>
                <a:latin typeface="+mn-lt"/>
                <a:ea typeface="+mn-ea"/>
                <a:cs typeface="+mn-cs"/>
              </a:rPr>
              <a:t>Spring Boot</a:t>
            </a:r>
            <a:r>
              <a:rPr lang="el-GR" sz="1200" kern="1200" dirty="0">
                <a:solidFill>
                  <a:schemeClr val="tx1"/>
                </a:solidFill>
                <a:effectLst/>
                <a:latin typeface="+mn-lt"/>
                <a:ea typeface="+mn-ea"/>
                <a:cs typeface="+mn-cs"/>
              </a:rPr>
              <a:t>, το οποίο ενορχηστρώνει τα πάντα. Για τα δεδομένα, ακολουθούμε υβριδική προσέγγιση: </a:t>
            </a:r>
            <a:r>
              <a:rPr lang="en-US" sz="1200" kern="1200" dirty="0">
                <a:solidFill>
                  <a:schemeClr val="tx1"/>
                </a:solidFill>
                <a:effectLst/>
                <a:latin typeface="+mn-lt"/>
                <a:ea typeface="+mn-ea"/>
                <a:cs typeface="+mn-cs"/>
              </a:rPr>
              <a:t>PostgreSQL</a:t>
            </a:r>
            <a:r>
              <a:rPr lang="el-GR" sz="1200" kern="1200" dirty="0">
                <a:solidFill>
                  <a:schemeClr val="tx1"/>
                </a:solidFill>
                <a:effectLst/>
                <a:latin typeface="+mn-lt"/>
                <a:ea typeface="+mn-ea"/>
                <a:cs typeface="+mn-cs"/>
              </a:rPr>
              <a:t> για τα </a:t>
            </a:r>
            <a:r>
              <a:rPr lang="el-GR" sz="1200" kern="1200" dirty="0" err="1">
                <a:solidFill>
                  <a:schemeClr val="tx1"/>
                </a:solidFill>
                <a:effectLst/>
                <a:latin typeface="+mn-lt"/>
                <a:ea typeface="+mn-ea"/>
                <a:cs typeface="+mn-cs"/>
              </a:rPr>
              <a:t>μεταδεδομένα</a:t>
            </a:r>
            <a:r>
              <a:rPr lang="el-GR" sz="1200" kern="1200" dirty="0">
                <a:solidFill>
                  <a:schemeClr val="tx1"/>
                </a:solidFill>
                <a:effectLst/>
                <a:latin typeface="+mn-lt"/>
                <a:ea typeface="+mn-ea"/>
                <a:cs typeface="+mn-cs"/>
              </a:rPr>
              <a:t> και </a:t>
            </a:r>
            <a:r>
              <a:rPr lang="en-US" sz="1200" kern="1200" dirty="0" err="1">
                <a:solidFill>
                  <a:schemeClr val="tx1"/>
                </a:solidFill>
                <a:effectLst/>
                <a:latin typeface="+mn-lt"/>
                <a:ea typeface="+mn-ea"/>
                <a:cs typeface="+mn-cs"/>
              </a:rPr>
              <a:t>MinIO</a:t>
            </a:r>
            <a:r>
              <a:rPr lang="el-GR" sz="1200" kern="1200" dirty="0">
                <a:solidFill>
                  <a:schemeClr val="tx1"/>
                </a:solidFill>
                <a:effectLst/>
                <a:latin typeface="+mn-lt"/>
                <a:ea typeface="+mn-ea"/>
                <a:cs typeface="+mn-cs"/>
              </a:rPr>
              <a:t> για την αποθήκευση των μεγάλων αρχείων (</a:t>
            </a:r>
            <a:r>
              <a:rPr lang="en-US" sz="1200" kern="1200" dirty="0">
                <a:solidFill>
                  <a:schemeClr val="tx1"/>
                </a:solidFill>
                <a:effectLst/>
                <a:latin typeface="+mn-lt"/>
                <a:ea typeface="+mn-ea"/>
                <a:cs typeface="+mn-cs"/>
              </a:rPr>
              <a:t>datasets</a:t>
            </a:r>
            <a:r>
              <a:rPr lang="el-GR" sz="1200" kern="1200" dirty="0">
                <a:solidFill>
                  <a:schemeClr val="tx1"/>
                </a:solidFill>
                <a:effectLst/>
                <a:latin typeface="+mn-lt"/>
                <a:ea typeface="+mn-ea"/>
                <a:cs typeface="+mn-cs"/>
              </a:rPr>
              <a:t> και μοντέλα). Τέλος, το επίπεδο εκτέλεσης είναι πλήρως αποσυνδεδεμένο, επιτρέποντας την εκτέλεση εργασιών σε διαφορετικά περιβάλλοντα.</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1CDE72B-7D3F-4723-AF86-6AF31CED4440}" type="slidenum">
              <a:rPr lang="en-US" smtClean="0"/>
              <a:t>6</a:t>
            </a:fld>
            <a:endParaRPr lang="en-US"/>
          </a:p>
        </p:txBody>
      </p:sp>
    </p:spTree>
    <p:extLst>
      <p:ext uri="{BB962C8B-B14F-4D97-AF65-F5344CB8AC3E}">
        <p14:creationId xmlns:p14="http://schemas.microsoft.com/office/powerpoint/2010/main" val="3474493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kern="1200" dirty="0">
                <a:solidFill>
                  <a:schemeClr val="tx1"/>
                </a:solidFill>
                <a:effectLst/>
                <a:latin typeface="+mn-lt"/>
                <a:ea typeface="+mn-ea"/>
                <a:cs typeface="+mn-cs"/>
              </a:rPr>
              <a:t>Επιλέξαμε τεχνολογίες αιχμής και μακράς υποστήριξης. Η </a:t>
            </a:r>
            <a:r>
              <a:rPr lang="en-US" sz="1200" kern="1200" dirty="0">
                <a:solidFill>
                  <a:schemeClr val="tx1"/>
                </a:solidFill>
                <a:effectLst/>
                <a:latin typeface="+mn-lt"/>
                <a:ea typeface="+mn-ea"/>
                <a:cs typeface="+mn-cs"/>
              </a:rPr>
              <a:t>Java</a:t>
            </a:r>
            <a:r>
              <a:rPr lang="el-GR" sz="1200" kern="1200" dirty="0">
                <a:solidFill>
                  <a:schemeClr val="tx1"/>
                </a:solidFill>
                <a:effectLst/>
                <a:latin typeface="+mn-lt"/>
                <a:ea typeface="+mn-ea"/>
                <a:cs typeface="+mn-cs"/>
              </a:rPr>
              <a:t> 21 και το </a:t>
            </a:r>
            <a:r>
              <a:rPr lang="en-US" sz="1200" kern="1200" dirty="0">
                <a:solidFill>
                  <a:schemeClr val="tx1"/>
                </a:solidFill>
                <a:effectLst/>
                <a:latin typeface="+mn-lt"/>
                <a:ea typeface="+mn-ea"/>
                <a:cs typeface="+mn-cs"/>
              </a:rPr>
              <a:t>Spring Boot</a:t>
            </a:r>
            <a:r>
              <a:rPr lang="el-GR" sz="1200" kern="1200" dirty="0">
                <a:solidFill>
                  <a:schemeClr val="tx1"/>
                </a:solidFill>
                <a:effectLst/>
                <a:latin typeface="+mn-lt"/>
                <a:ea typeface="+mn-ea"/>
                <a:cs typeface="+mn-cs"/>
              </a:rPr>
              <a:t> 3.4 εξασφαλίζουν σταθερότητα και απόδοση. Το </a:t>
            </a:r>
            <a:r>
              <a:rPr lang="en-US" sz="1200" kern="1200" dirty="0" err="1">
                <a:solidFill>
                  <a:schemeClr val="tx1"/>
                </a:solidFill>
                <a:effectLst/>
                <a:latin typeface="+mn-lt"/>
                <a:ea typeface="+mn-ea"/>
                <a:cs typeface="+mn-cs"/>
              </a:rPr>
              <a:t>MinIO</a:t>
            </a:r>
            <a:r>
              <a:rPr lang="el-GR" sz="1200" kern="1200" dirty="0">
                <a:solidFill>
                  <a:schemeClr val="tx1"/>
                </a:solidFill>
                <a:effectLst/>
                <a:latin typeface="+mn-lt"/>
                <a:ea typeface="+mn-ea"/>
                <a:cs typeface="+mn-cs"/>
              </a:rPr>
              <a:t> μας δίνει την ευελιξία του </a:t>
            </a:r>
            <a:r>
              <a:rPr lang="en-US" sz="1200" kern="1200" dirty="0">
                <a:solidFill>
                  <a:schemeClr val="tx1"/>
                </a:solidFill>
                <a:effectLst/>
                <a:latin typeface="+mn-lt"/>
                <a:ea typeface="+mn-ea"/>
                <a:cs typeface="+mn-cs"/>
              </a:rPr>
              <a:t>S</a:t>
            </a:r>
            <a:r>
              <a:rPr lang="el-GR" sz="1200" kern="1200" dirty="0">
                <a:solidFill>
                  <a:schemeClr val="tx1"/>
                </a:solidFill>
                <a:effectLst/>
                <a:latin typeface="+mn-lt"/>
                <a:ea typeface="+mn-ea"/>
                <a:cs typeface="+mn-cs"/>
              </a:rPr>
              <a:t>3 </a:t>
            </a:r>
            <a:r>
              <a:rPr lang="en-US" sz="1200" kern="1200" dirty="0">
                <a:solidFill>
                  <a:schemeClr val="tx1"/>
                </a:solidFill>
                <a:effectLst/>
                <a:latin typeface="+mn-lt"/>
                <a:ea typeface="+mn-ea"/>
                <a:cs typeface="+mn-cs"/>
              </a:rPr>
              <a:t>API</a:t>
            </a:r>
            <a:r>
              <a:rPr lang="el-GR" sz="1200" kern="1200" dirty="0">
                <a:solidFill>
                  <a:schemeClr val="tx1"/>
                </a:solidFill>
                <a:effectLst/>
                <a:latin typeface="+mn-lt"/>
                <a:ea typeface="+mn-ea"/>
                <a:cs typeface="+mn-cs"/>
              </a:rPr>
              <a:t> αλλά σε δική μας υποδομή. Για την επικοινωνία με το </a:t>
            </a:r>
            <a:r>
              <a:rPr lang="en-US" sz="1200" kern="1200" dirty="0">
                <a:solidFill>
                  <a:schemeClr val="tx1"/>
                </a:solidFill>
                <a:effectLst/>
                <a:latin typeface="+mn-lt"/>
                <a:ea typeface="+mn-ea"/>
                <a:cs typeface="+mn-cs"/>
              </a:rPr>
              <a:t>Kubernetes</a:t>
            </a:r>
            <a:r>
              <a:rPr lang="el-GR" sz="1200" kern="1200" dirty="0">
                <a:solidFill>
                  <a:schemeClr val="tx1"/>
                </a:solidFill>
                <a:effectLst/>
                <a:latin typeface="+mn-lt"/>
                <a:ea typeface="+mn-ea"/>
                <a:cs typeface="+mn-cs"/>
              </a:rPr>
              <a:t> χρησιμοποιούμε τον </a:t>
            </a:r>
            <a:r>
              <a:rPr lang="en-US" sz="1200" kern="1200" dirty="0">
                <a:solidFill>
                  <a:schemeClr val="tx1"/>
                </a:solidFill>
                <a:effectLst/>
                <a:latin typeface="+mn-lt"/>
                <a:ea typeface="+mn-ea"/>
                <a:cs typeface="+mn-cs"/>
              </a:rPr>
              <a:t>Fabric</a:t>
            </a:r>
            <a:r>
              <a:rPr lang="el-GR" sz="1200" kern="1200" dirty="0">
                <a:solidFill>
                  <a:schemeClr val="tx1"/>
                </a:solidFill>
                <a:effectLst/>
                <a:latin typeface="+mn-lt"/>
                <a:ea typeface="+mn-ea"/>
                <a:cs typeface="+mn-cs"/>
              </a:rPr>
              <a:t>8 </a:t>
            </a:r>
            <a:r>
              <a:rPr lang="en-US" sz="1200" kern="1200" dirty="0">
                <a:solidFill>
                  <a:schemeClr val="tx1"/>
                </a:solidFill>
                <a:effectLst/>
                <a:latin typeface="+mn-lt"/>
                <a:ea typeface="+mn-ea"/>
                <a:cs typeface="+mn-cs"/>
              </a:rPr>
              <a:t>client</a:t>
            </a:r>
            <a:r>
              <a:rPr lang="el-GR" sz="1200" kern="1200" dirty="0">
                <a:solidFill>
                  <a:schemeClr val="tx1"/>
                </a:solidFill>
                <a:effectLst/>
                <a:latin typeface="+mn-lt"/>
                <a:ea typeface="+mn-ea"/>
                <a:cs typeface="+mn-cs"/>
              </a:rPr>
              <a:t>. Στον τομέα της ασφάλειας, χρησιμοποιούμε ασύμμετρη κρυπτογράφηση για τα </a:t>
            </a:r>
            <a:r>
              <a:rPr lang="en-US" sz="1200" kern="1200" dirty="0">
                <a:solidFill>
                  <a:schemeClr val="tx1"/>
                </a:solidFill>
                <a:effectLst/>
                <a:latin typeface="+mn-lt"/>
                <a:ea typeface="+mn-ea"/>
                <a:cs typeface="+mn-cs"/>
              </a:rPr>
              <a:t>tokens</a:t>
            </a:r>
            <a:r>
              <a:rPr lang="el-GR" sz="1200" kern="1200" dirty="0">
                <a:solidFill>
                  <a:schemeClr val="tx1"/>
                </a:solidFill>
                <a:effectLst/>
                <a:latin typeface="+mn-lt"/>
                <a:ea typeface="+mn-ea"/>
                <a:cs typeface="+mn-cs"/>
              </a:rPr>
              <a:t> </a:t>
            </a:r>
            <a:r>
              <a:rPr lang="el-GR" sz="1200" kern="1200" dirty="0" err="1">
                <a:solidFill>
                  <a:schemeClr val="tx1"/>
                </a:solidFill>
                <a:effectLst/>
                <a:latin typeface="+mn-lt"/>
                <a:ea typeface="+mn-ea"/>
                <a:cs typeface="+mn-cs"/>
              </a:rPr>
              <a:t>αυθεντικοποίησης</a:t>
            </a:r>
            <a:r>
              <a:rPr lang="el-GR" sz="1200" kern="1200" dirty="0">
                <a:solidFill>
                  <a:schemeClr val="tx1"/>
                </a:solidFill>
                <a:effectLst/>
                <a:latin typeface="+mn-lt"/>
                <a:ea typeface="+mn-ea"/>
                <a:cs typeface="+mn-cs"/>
              </a:rPr>
              <a:t> και τον αλγόριθμο </a:t>
            </a:r>
            <a:r>
              <a:rPr lang="en-US" sz="1200" kern="1200" dirty="0">
                <a:solidFill>
                  <a:schemeClr val="tx1"/>
                </a:solidFill>
                <a:effectLst/>
                <a:latin typeface="+mn-lt"/>
                <a:ea typeface="+mn-ea"/>
                <a:cs typeface="+mn-cs"/>
              </a:rPr>
              <a:t>Argon</a:t>
            </a:r>
            <a:r>
              <a:rPr lang="el-GR" sz="1200" kern="1200" dirty="0">
                <a:solidFill>
                  <a:schemeClr val="tx1"/>
                </a:solidFill>
                <a:effectLst/>
                <a:latin typeface="+mn-lt"/>
                <a:ea typeface="+mn-ea"/>
                <a:cs typeface="+mn-cs"/>
              </a:rPr>
              <a:t>2 για την ασφαλή αποθήκευση των κωδικών.</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7</a:t>
            </a:fld>
            <a:endParaRPr lang="en-US"/>
          </a:p>
        </p:txBody>
      </p:sp>
    </p:spTree>
    <p:extLst>
      <p:ext uri="{BB962C8B-B14F-4D97-AF65-F5344CB8AC3E}">
        <p14:creationId xmlns:p14="http://schemas.microsoft.com/office/powerpoint/2010/main" val="4135722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kern="1200" dirty="0">
                <a:solidFill>
                  <a:schemeClr val="tx1"/>
                </a:solidFill>
                <a:effectLst/>
                <a:latin typeface="+mn-lt"/>
                <a:ea typeface="+mn-ea"/>
                <a:cs typeface="+mn-cs"/>
              </a:rPr>
              <a:t>Σημειώσεις Ομιλητή: Το μοντέλο δεδομένων μας είναι σχεδιασμένο για να εξασφαλίζει την ακεραιότητα και την ιστορικότητα. Κάθε εκπαίδευση (</a:t>
            </a:r>
            <a:r>
              <a:rPr lang="en-US" sz="1200" kern="1200" dirty="0">
                <a:solidFill>
                  <a:schemeClr val="tx1"/>
                </a:solidFill>
                <a:effectLst/>
                <a:latin typeface="+mn-lt"/>
                <a:ea typeface="+mn-ea"/>
                <a:cs typeface="+mn-cs"/>
              </a:rPr>
              <a:t>Training</a:t>
            </a:r>
            <a:r>
              <a:rPr lang="el-GR" sz="1200" kern="1200" dirty="0">
                <a:solidFill>
                  <a:schemeClr val="tx1"/>
                </a:solidFill>
                <a:effectLst/>
                <a:latin typeface="+mn-lt"/>
                <a:ea typeface="+mn-ea"/>
                <a:cs typeface="+mn-cs"/>
              </a:rPr>
              <a:t>) καταγράφει ακριβώς ποιο </a:t>
            </a:r>
            <a:r>
              <a:rPr lang="en-US" sz="1200" kern="1200" dirty="0">
                <a:solidFill>
                  <a:schemeClr val="tx1"/>
                </a:solidFill>
                <a:effectLst/>
                <a:latin typeface="+mn-lt"/>
                <a:ea typeface="+mn-ea"/>
                <a:cs typeface="+mn-cs"/>
              </a:rPr>
              <a:t>dataset</a:t>
            </a:r>
            <a:r>
              <a:rPr lang="el-GR" sz="1200" kern="1200" dirty="0">
                <a:solidFill>
                  <a:schemeClr val="tx1"/>
                </a:solidFill>
                <a:effectLst/>
                <a:latin typeface="+mn-lt"/>
                <a:ea typeface="+mn-ea"/>
                <a:cs typeface="+mn-cs"/>
              </a:rPr>
              <a:t> και ποιες ρυθμίσεις χρησιμοποιήθηκαν για να παραχθεί ένα Μοντέλο. Έτσι, ξέρουμε πάντα την "καταγωγή" ενός μοντέλου. Σημαντικό στοιχείο είναι ότι στη βάση δεδομένων κρατάμε μόνο αναφορές (</a:t>
            </a:r>
            <a:r>
              <a:rPr lang="en-US" sz="1200" kern="1200" dirty="0">
                <a:solidFill>
                  <a:schemeClr val="tx1"/>
                </a:solidFill>
                <a:effectLst/>
                <a:latin typeface="+mn-lt"/>
                <a:ea typeface="+mn-ea"/>
                <a:cs typeface="+mn-cs"/>
              </a:rPr>
              <a:t>paths</a:t>
            </a:r>
            <a:r>
              <a:rPr lang="el-GR" sz="1200" kern="1200" dirty="0">
                <a:solidFill>
                  <a:schemeClr val="tx1"/>
                </a:solidFill>
                <a:effectLst/>
                <a:latin typeface="+mn-lt"/>
                <a:ea typeface="+mn-ea"/>
                <a:cs typeface="+mn-cs"/>
              </a:rPr>
              <a:t>), ενώ τα πραγματικά δεδομένα βρίσκονται στο </a:t>
            </a:r>
            <a:r>
              <a:rPr lang="en-US" sz="1200" kern="1200" dirty="0" err="1">
                <a:solidFill>
                  <a:schemeClr val="tx1"/>
                </a:solidFill>
                <a:effectLst/>
                <a:latin typeface="+mn-lt"/>
                <a:ea typeface="+mn-ea"/>
                <a:cs typeface="+mn-cs"/>
              </a:rPr>
              <a:t>MinIO</a:t>
            </a:r>
            <a:r>
              <a:rPr lang="el-GR" sz="1200" kern="1200" dirty="0">
                <a:solidFill>
                  <a:schemeClr val="tx1"/>
                </a:solidFill>
                <a:effectLst/>
                <a:latin typeface="+mn-lt"/>
                <a:ea typeface="+mn-ea"/>
                <a:cs typeface="+mn-cs"/>
              </a:rPr>
              <a:t>, διατηρώντας τη βάση ελαφριά και γρήγορη.</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1CDE72B-7D3F-4723-AF86-6AF31CED4440}" type="slidenum">
              <a:rPr lang="en-US" smtClean="0"/>
              <a:t>8</a:t>
            </a:fld>
            <a:endParaRPr lang="en-US"/>
          </a:p>
        </p:txBody>
      </p:sp>
    </p:spTree>
    <p:extLst>
      <p:ext uri="{BB962C8B-B14F-4D97-AF65-F5344CB8AC3E}">
        <p14:creationId xmlns:p14="http://schemas.microsoft.com/office/powerpoint/2010/main" val="3024297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Όλες οι βαριές εργασίες εκτελούνται ασύγχρονα.</a:t>
            </a:r>
            <a:br>
              <a:rPr lang="el-GR" dirty="0"/>
            </a:br>
            <a:r>
              <a:rPr lang="el-GR" dirty="0"/>
              <a:t>Ο χρήστης λαμβάνει άμεσα ένα </a:t>
            </a:r>
            <a:r>
              <a:rPr lang="el-GR" dirty="0" err="1"/>
              <a:t>taskId</a:t>
            </a:r>
            <a:r>
              <a:rPr lang="el-GR" dirty="0"/>
              <a:t> και μπορεί να παρακολουθεί ή να ακυρώσει την εκτέλεση χωρίς να μπλοκάρει το σύστημα.</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9</a:t>
            </a:fld>
            <a:endParaRPr lang="en-US"/>
          </a:p>
        </p:txBody>
      </p:sp>
    </p:spTree>
    <p:extLst>
      <p:ext uri="{BB962C8B-B14F-4D97-AF65-F5344CB8AC3E}">
        <p14:creationId xmlns:p14="http://schemas.microsoft.com/office/powerpoint/2010/main" val="2157933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Ένα κρίσιμο σημείο της αρχιτεκτονικής είναι το </a:t>
            </a:r>
            <a:r>
              <a:rPr lang="el-GR" dirty="0" err="1"/>
              <a:t>abstraction</a:t>
            </a:r>
            <a:r>
              <a:rPr lang="el-GR" dirty="0"/>
              <a:t> του </a:t>
            </a:r>
            <a:r>
              <a:rPr lang="el-GR" dirty="0" err="1"/>
              <a:t>container</a:t>
            </a:r>
            <a:r>
              <a:rPr lang="el-GR" dirty="0"/>
              <a:t> </a:t>
            </a:r>
            <a:r>
              <a:rPr lang="el-GR" dirty="0" err="1"/>
              <a:t>runtime</a:t>
            </a:r>
            <a:r>
              <a:rPr lang="el-GR" dirty="0"/>
              <a:t>.</a:t>
            </a:r>
            <a:br>
              <a:rPr lang="el-GR" dirty="0"/>
            </a:br>
            <a:r>
              <a:rPr lang="el-GR" dirty="0"/>
              <a:t>Ο ίδιος κώδικας λειτουργεί τόσο σε </a:t>
            </a:r>
            <a:r>
              <a:rPr lang="el-GR" dirty="0" err="1"/>
              <a:t>Docker</a:t>
            </a:r>
            <a:r>
              <a:rPr lang="el-GR" dirty="0"/>
              <a:t> </a:t>
            </a:r>
            <a:r>
              <a:rPr lang="el-GR" dirty="0" err="1"/>
              <a:t>Compose</a:t>
            </a:r>
            <a:r>
              <a:rPr lang="el-GR" dirty="0"/>
              <a:t> όσο και σε </a:t>
            </a:r>
            <a:r>
              <a:rPr lang="el-GR" dirty="0" err="1"/>
              <a:t>Kubernetes</a:t>
            </a:r>
            <a:r>
              <a:rPr lang="el-GR" dirty="0"/>
              <a:t>, χωρίς αλλαγές.</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12</a:t>
            </a:fld>
            <a:endParaRPr lang="en-US"/>
          </a:p>
        </p:txBody>
      </p:sp>
    </p:spTree>
    <p:extLst>
      <p:ext uri="{BB962C8B-B14F-4D97-AF65-F5344CB8AC3E}">
        <p14:creationId xmlns:p14="http://schemas.microsoft.com/office/powerpoint/2010/main" val="2246751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15B7A-FA7C-6591-B9BD-682F352934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890D0-F9B9-EFD2-8F5A-B8CF56488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F16815-20A0-EF54-53EB-5B4F210A3969}"/>
              </a:ext>
            </a:extLst>
          </p:cNvPr>
          <p:cNvSpPr>
            <a:spLocks noGrp="1"/>
          </p:cNvSpPr>
          <p:nvPr>
            <p:ph type="body" idx="1"/>
          </p:nvPr>
        </p:nvSpPr>
        <p:spPr/>
        <p:txBody>
          <a:bodyPr/>
          <a:lstStyle/>
          <a:p>
            <a:r>
              <a:rPr lang="el-GR" sz="1200" kern="1200" dirty="0">
                <a:solidFill>
                  <a:schemeClr val="tx1"/>
                </a:solidFill>
                <a:effectLst/>
                <a:latin typeface="+mn-lt"/>
                <a:ea typeface="+mn-ea"/>
                <a:cs typeface="+mn-cs"/>
              </a:rPr>
              <a:t>Σημειώσεις Ομιλητή: Για τους έτοιμους αλγορίθμους, ενσωματώσαμε τη </a:t>
            </a:r>
            <a:r>
              <a:rPr lang="en-US" sz="1200" kern="1200" dirty="0">
                <a:solidFill>
                  <a:schemeClr val="tx1"/>
                </a:solidFill>
                <a:effectLst/>
                <a:latin typeface="+mn-lt"/>
                <a:ea typeface="+mn-ea"/>
                <a:cs typeface="+mn-cs"/>
              </a:rPr>
              <a:t>Weka</a:t>
            </a:r>
            <a:r>
              <a:rPr lang="el-GR" sz="1200" kern="1200" dirty="0">
                <a:solidFill>
                  <a:schemeClr val="tx1"/>
                </a:solidFill>
                <a:effectLst/>
                <a:latin typeface="+mn-lt"/>
                <a:ea typeface="+mn-ea"/>
                <a:cs typeface="+mn-cs"/>
              </a:rPr>
              <a:t>. Αντί όμως να την τρέξουμε μέσα στην κύρια εφαρμογή, δημιουργήσαμε ένα ξεχωριστό </a:t>
            </a:r>
            <a:r>
              <a:rPr lang="en-US" sz="1200" kern="1200" dirty="0">
                <a:solidFill>
                  <a:schemeClr val="tx1"/>
                </a:solidFill>
                <a:effectLst/>
                <a:latin typeface="+mn-lt"/>
                <a:ea typeface="+mn-ea"/>
                <a:cs typeface="+mn-cs"/>
              </a:rPr>
              <a:t>microservice</a:t>
            </a:r>
            <a:r>
              <a:rPr lang="el-GR" sz="1200" kern="1200" dirty="0">
                <a:solidFill>
                  <a:schemeClr val="tx1"/>
                </a:solidFill>
                <a:effectLst/>
                <a:latin typeface="+mn-lt"/>
                <a:ea typeface="+mn-ea"/>
                <a:cs typeface="+mn-cs"/>
              </a:rPr>
              <a:t> που τρέχει σε δικό του </a:t>
            </a:r>
            <a:r>
              <a:rPr lang="en-US" sz="1200" kern="1200" dirty="0">
                <a:solidFill>
                  <a:schemeClr val="tx1"/>
                </a:solidFill>
                <a:effectLst/>
                <a:latin typeface="+mn-lt"/>
                <a:ea typeface="+mn-ea"/>
                <a:cs typeface="+mn-cs"/>
              </a:rPr>
              <a:t>container</a:t>
            </a:r>
            <a:r>
              <a:rPr lang="el-GR" sz="1200" kern="1200" dirty="0">
                <a:solidFill>
                  <a:schemeClr val="tx1"/>
                </a:solidFill>
                <a:effectLst/>
                <a:latin typeface="+mn-lt"/>
                <a:ea typeface="+mn-ea"/>
                <a:cs typeface="+mn-cs"/>
              </a:rPr>
              <a:t>. Αυτό είναι κρίσιμο: οι αλγόριθμοι </a:t>
            </a:r>
            <a:r>
              <a:rPr lang="en-US" sz="1200" kern="1200" dirty="0">
                <a:solidFill>
                  <a:schemeClr val="tx1"/>
                </a:solidFill>
                <a:effectLst/>
                <a:latin typeface="+mn-lt"/>
                <a:ea typeface="+mn-ea"/>
                <a:cs typeface="+mn-cs"/>
              </a:rPr>
              <a:t>ML</a:t>
            </a:r>
            <a:r>
              <a:rPr lang="el-GR" sz="1200" kern="1200" dirty="0">
                <a:solidFill>
                  <a:schemeClr val="tx1"/>
                </a:solidFill>
                <a:effectLst/>
                <a:latin typeface="+mn-lt"/>
                <a:ea typeface="+mn-ea"/>
                <a:cs typeface="+mn-cs"/>
              </a:rPr>
              <a:t> συχνά καταναλώνουν όλη τη διαθέσιμη μνήμη. Με αυτόν τον τρόπο, αν μια εκπαίδευση </a:t>
            </a:r>
            <a:r>
              <a:rPr lang="el-GR" sz="1200" kern="1200" dirty="0" err="1">
                <a:solidFill>
                  <a:schemeClr val="tx1"/>
                </a:solidFill>
                <a:effectLst/>
                <a:latin typeface="+mn-lt"/>
                <a:ea typeface="+mn-ea"/>
                <a:cs typeface="+mn-cs"/>
              </a:rPr>
              <a:t>κρασάρει</a:t>
            </a:r>
            <a:r>
              <a:rPr lang="el-GR" sz="1200" kern="1200" dirty="0">
                <a:solidFill>
                  <a:schemeClr val="tx1"/>
                </a:solidFill>
                <a:effectLst/>
                <a:latin typeface="+mn-lt"/>
                <a:ea typeface="+mn-ea"/>
                <a:cs typeface="+mn-cs"/>
              </a:rPr>
              <a:t> λόγω μνήμης, θα πέσει μόνο το συγκεκριμένο </a:t>
            </a:r>
            <a:r>
              <a:rPr lang="en-US" sz="1200" kern="1200" dirty="0">
                <a:solidFill>
                  <a:schemeClr val="tx1"/>
                </a:solidFill>
                <a:effectLst/>
                <a:latin typeface="+mn-lt"/>
                <a:ea typeface="+mn-ea"/>
                <a:cs typeface="+mn-cs"/>
              </a:rPr>
              <a:t>container</a:t>
            </a:r>
            <a:r>
              <a:rPr lang="el-GR" sz="1200" kern="1200" dirty="0">
                <a:solidFill>
                  <a:schemeClr val="tx1"/>
                </a:solidFill>
                <a:effectLst/>
                <a:latin typeface="+mn-lt"/>
                <a:ea typeface="+mn-ea"/>
                <a:cs typeface="+mn-cs"/>
              </a:rPr>
              <a:t> και όχι ολόκληρος ο </a:t>
            </a:r>
            <a:r>
              <a:rPr lang="en-US" sz="1200" kern="1200" dirty="0">
                <a:solidFill>
                  <a:schemeClr val="tx1"/>
                </a:solidFill>
                <a:effectLst/>
                <a:latin typeface="+mn-lt"/>
                <a:ea typeface="+mn-ea"/>
                <a:cs typeface="+mn-cs"/>
              </a:rPr>
              <a:t>server</a:t>
            </a:r>
            <a:r>
              <a:rPr lang="el-GR" sz="1200" kern="1200" dirty="0">
                <a:solidFill>
                  <a:schemeClr val="tx1"/>
                </a:solidFill>
                <a:effectLst/>
                <a:latin typeface="+mn-lt"/>
                <a:ea typeface="+mn-ea"/>
                <a:cs typeface="+mn-cs"/>
              </a:rPr>
              <a:t> που εξυπηρετεί τους χρήστες.</a:t>
            </a: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C28F4DB-D806-6F8C-4BFA-89AAB2531991}"/>
              </a:ext>
            </a:extLst>
          </p:cNvPr>
          <p:cNvSpPr>
            <a:spLocks noGrp="1"/>
          </p:cNvSpPr>
          <p:nvPr>
            <p:ph type="sldNum" sz="quarter" idx="5"/>
          </p:nvPr>
        </p:nvSpPr>
        <p:spPr/>
        <p:txBody>
          <a:bodyPr/>
          <a:lstStyle/>
          <a:p>
            <a:fld id="{F1CDE72B-7D3F-4723-AF86-6AF31CED4440}" type="slidenum">
              <a:rPr lang="en-US" smtClean="0"/>
              <a:t>13</a:t>
            </a:fld>
            <a:endParaRPr lang="en-US"/>
          </a:p>
        </p:txBody>
      </p:sp>
    </p:spTree>
    <p:extLst>
      <p:ext uri="{BB962C8B-B14F-4D97-AF65-F5344CB8AC3E}">
        <p14:creationId xmlns:p14="http://schemas.microsoft.com/office/powerpoint/2010/main" val="402780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kern="1200" dirty="0">
                <a:solidFill>
                  <a:schemeClr val="tx1"/>
                </a:solidFill>
                <a:effectLst/>
                <a:latin typeface="+mn-lt"/>
                <a:ea typeface="+mn-ea"/>
                <a:cs typeface="+mn-cs"/>
              </a:rPr>
              <a:t>Για τους προχωρημένους χρήστες, προσφέρουμε τη δυνατότητα </a:t>
            </a:r>
            <a:r>
              <a:rPr lang="en-US" sz="1200" kern="1200" dirty="0">
                <a:solidFill>
                  <a:schemeClr val="tx1"/>
                </a:solidFill>
                <a:effectLst/>
                <a:latin typeface="+mn-lt"/>
                <a:ea typeface="+mn-ea"/>
                <a:cs typeface="+mn-cs"/>
              </a:rPr>
              <a:t>Custom Algorithms</a:t>
            </a:r>
            <a:r>
              <a:rPr lang="el-GR" sz="1200" kern="1200" dirty="0">
                <a:solidFill>
                  <a:schemeClr val="tx1"/>
                </a:solidFill>
                <a:effectLst/>
                <a:latin typeface="+mn-lt"/>
                <a:ea typeface="+mn-ea"/>
                <a:cs typeface="+mn-cs"/>
              </a:rPr>
              <a:t>. Ο χρήστης φέρνει το δικό του </a:t>
            </a:r>
            <a:r>
              <a:rPr lang="en-US" sz="1200" kern="1200" dirty="0">
                <a:solidFill>
                  <a:schemeClr val="tx1"/>
                </a:solidFill>
                <a:effectLst/>
                <a:latin typeface="+mn-lt"/>
                <a:ea typeface="+mn-ea"/>
                <a:cs typeface="+mn-cs"/>
              </a:rPr>
              <a:t>Docker Image</a:t>
            </a:r>
            <a:r>
              <a:rPr lang="el-GR" sz="1200" kern="1200" dirty="0">
                <a:solidFill>
                  <a:schemeClr val="tx1"/>
                </a:solidFill>
                <a:effectLst/>
                <a:latin typeface="+mn-lt"/>
                <a:ea typeface="+mn-ea"/>
                <a:cs typeface="+mn-cs"/>
              </a:rPr>
              <a:t> με τις βιβλιοθήκες που θέλει. Η καινοτομία μας είναι ότι το σύστημα "</a:t>
            </a:r>
            <a:r>
              <a:rPr lang="el-GR" sz="1200" kern="1200" dirty="0" err="1">
                <a:solidFill>
                  <a:schemeClr val="tx1"/>
                </a:solidFill>
                <a:effectLst/>
                <a:latin typeface="+mn-lt"/>
                <a:ea typeface="+mn-ea"/>
                <a:cs typeface="+mn-cs"/>
              </a:rPr>
              <a:t>ενίει</a:t>
            </a:r>
            <a:r>
              <a:rPr lang="el-GR"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injects</a:t>
            </a:r>
            <a:r>
              <a:rPr lang="el-GR" sz="1200" kern="1200" dirty="0">
                <a:solidFill>
                  <a:schemeClr val="tx1"/>
                </a:solidFill>
                <a:effectLst/>
                <a:latin typeface="+mn-lt"/>
                <a:ea typeface="+mn-ea"/>
                <a:cs typeface="+mn-cs"/>
              </a:rPr>
              <a:t>) αυτόματα τα απαραίτητα </a:t>
            </a:r>
            <a:r>
              <a:rPr lang="en-US" sz="1200" kern="1200" dirty="0">
                <a:solidFill>
                  <a:schemeClr val="tx1"/>
                </a:solidFill>
                <a:effectLst/>
                <a:latin typeface="+mn-lt"/>
                <a:ea typeface="+mn-ea"/>
                <a:cs typeface="+mn-cs"/>
              </a:rPr>
              <a:t>scripts</a:t>
            </a:r>
            <a:r>
              <a:rPr lang="el-GR" sz="1200" kern="1200" dirty="0">
                <a:solidFill>
                  <a:schemeClr val="tx1"/>
                </a:solidFill>
                <a:effectLst/>
                <a:latin typeface="+mn-lt"/>
                <a:ea typeface="+mn-ea"/>
                <a:cs typeface="+mn-cs"/>
              </a:rPr>
              <a:t> ελέγχου μέσα στο </a:t>
            </a:r>
            <a:r>
              <a:rPr lang="en-US" sz="1200" kern="1200" dirty="0">
                <a:solidFill>
                  <a:schemeClr val="tx1"/>
                </a:solidFill>
                <a:effectLst/>
                <a:latin typeface="+mn-lt"/>
                <a:ea typeface="+mn-ea"/>
                <a:cs typeface="+mn-cs"/>
              </a:rPr>
              <a:t>container</a:t>
            </a:r>
            <a:r>
              <a:rPr lang="el-GR" sz="1200" kern="1200" dirty="0">
                <a:solidFill>
                  <a:schemeClr val="tx1"/>
                </a:solidFill>
                <a:effectLst/>
                <a:latin typeface="+mn-lt"/>
                <a:ea typeface="+mn-ea"/>
                <a:cs typeface="+mn-cs"/>
              </a:rPr>
              <a:t> του χρήστη. Έτσι, ο χρήστης γράφει μόνο τον αλγόριθμο, και η πλατφόρμα μας αναλαμβάνει τη διαχείριση των δεδομένων εισόδου και εξόδου, εξασφαλίζοντας συμβατότητα με οποιαδήποτε βιβλιοθήκη.</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14</a:t>
            </a:fld>
            <a:endParaRPr lang="en-US"/>
          </a:p>
        </p:txBody>
      </p:sp>
    </p:spTree>
    <p:extLst>
      <p:ext uri="{BB962C8B-B14F-4D97-AF65-F5344CB8AC3E}">
        <p14:creationId xmlns:p14="http://schemas.microsoft.com/office/powerpoint/2010/main" val="1887555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1781-7075-7762-C738-E76C132BC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99717E-AB9D-1520-4B0B-73FEDD4BA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17EA0-D36C-9878-1FC4-382E2B6FB989}"/>
              </a:ext>
            </a:extLst>
          </p:cNvPr>
          <p:cNvSpPr>
            <a:spLocks noGrp="1"/>
          </p:cNvSpPr>
          <p:nvPr>
            <p:ph type="body" idx="1"/>
          </p:nvPr>
        </p:nvSpPr>
        <p:spPr/>
        <p:txBody>
          <a:bodyPr/>
          <a:lstStyle/>
          <a:p>
            <a:r>
              <a:rPr lang="el-GR" sz="1200" kern="1200" dirty="0">
                <a:solidFill>
                  <a:schemeClr val="tx1"/>
                </a:solidFill>
                <a:effectLst/>
                <a:latin typeface="+mn-lt"/>
                <a:ea typeface="+mn-ea"/>
                <a:cs typeface="+mn-cs"/>
              </a:rPr>
              <a:t>Η ροή της εκπαίδευσης είναι πλήρως αυτοματοποιημένη. Το σύστημα προετοιμάζει τα δεδομένα σε έναν κοινόχρηστο χώρο, ξεκινάει το </a:t>
            </a:r>
            <a:r>
              <a:rPr lang="en-US" sz="1200" kern="1200" dirty="0">
                <a:solidFill>
                  <a:schemeClr val="tx1"/>
                </a:solidFill>
                <a:effectLst/>
                <a:latin typeface="+mn-lt"/>
                <a:ea typeface="+mn-ea"/>
                <a:cs typeface="+mn-cs"/>
              </a:rPr>
              <a:t>container</a:t>
            </a:r>
            <a:r>
              <a:rPr lang="el-GR" sz="1200" kern="1200" dirty="0">
                <a:solidFill>
                  <a:schemeClr val="tx1"/>
                </a:solidFill>
                <a:effectLst/>
                <a:latin typeface="+mn-lt"/>
                <a:ea typeface="+mn-ea"/>
                <a:cs typeface="+mn-cs"/>
              </a:rPr>
              <a:t> με αυστηρά όρια πόρων για να μην μονοπωλήσει το σύστημα, και περιμένει την ολοκλήρωση. Μόλις τελειώσει η εκπαίδευση, το σύστημα παίρνει το παραγόμενο μοντέλο, το αποθηκεύει μόνιμα στο </a:t>
            </a:r>
            <a:r>
              <a:rPr lang="en-US" sz="1200" kern="1200" dirty="0">
                <a:solidFill>
                  <a:schemeClr val="tx1"/>
                </a:solidFill>
                <a:effectLst/>
                <a:latin typeface="+mn-lt"/>
                <a:ea typeface="+mn-ea"/>
                <a:cs typeface="+mn-cs"/>
              </a:rPr>
              <a:t>Object Storage</a:t>
            </a:r>
            <a:r>
              <a:rPr lang="el-GR" sz="1200" kern="1200" dirty="0">
                <a:solidFill>
                  <a:schemeClr val="tx1"/>
                </a:solidFill>
                <a:effectLst/>
                <a:latin typeface="+mn-lt"/>
                <a:ea typeface="+mn-ea"/>
                <a:cs typeface="+mn-cs"/>
              </a:rPr>
              <a:t> και ενημερώνει τη βάση δεδομένων. Όλα αυτά γίνονται χωρίς ανθρώπινη παρέμβαση.</a:t>
            </a:r>
            <a:endParaRPr lang="en-US" dirty="0"/>
          </a:p>
        </p:txBody>
      </p:sp>
      <p:sp>
        <p:nvSpPr>
          <p:cNvPr id="4" name="Slide Number Placeholder 3">
            <a:extLst>
              <a:ext uri="{FF2B5EF4-FFF2-40B4-BE49-F238E27FC236}">
                <a16:creationId xmlns:a16="http://schemas.microsoft.com/office/drawing/2014/main" id="{411A3289-A615-8FB0-25BE-082393E9EB50}"/>
              </a:ext>
            </a:extLst>
          </p:cNvPr>
          <p:cNvSpPr>
            <a:spLocks noGrp="1"/>
          </p:cNvSpPr>
          <p:nvPr>
            <p:ph type="sldNum" sz="quarter" idx="5"/>
          </p:nvPr>
        </p:nvSpPr>
        <p:spPr/>
        <p:txBody>
          <a:bodyPr/>
          <a:lstStyle/>
          <a:p>
            <a:fld id="{F1CDE72B-7D3F-4723-AF86-6AF31CED4440}" type="slidenum">
              <a:rPr lang="en-US" smtClean="0"/>
              <a:t>15</a:t>
            </a:fld>
            <a:endParaRPr lang="en-US"/>
          </a:p>
        </p:txBody>
      </p:sp>
    </p:spTree>
    <p:extLst>
      <p:ext uri="{BB962C8B-B14F-4D97-AF65-F5344CB8AC3E}">
        <p14:creationId xmlns:p14="http://schemas.microsoft.com/office/powerpoint/2010/main" val="963039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kern="1200" dirty="0">
                <a:solidFill>
                  <a:schemeClr val="tx1"/>
                </a:solidFill>
                <a:effectLst/>
                <a:latin typeface="+mn-lt"/>
                <a:ea typeface="+mn-ea"/>
                <a:cs typeface="+mn-cs"/>
              </a:rPr>
              <a:t>Στη φάση της πρόβλεψης, η μεγαλύτερη πρόκληση είναι η συνέπεια των δεδομένων. Το σύστημά μας διασφαλίζει ότι τα νέα δεδομένα υφίστανται ακριβώς την ίδια προ-επεξεργασία με τα δεδομένα εκπαίδευσης. Ανακτούμε τους μετασχηματισμούς που αποθηκεύτηκαν κατά την εκπαίδευση και τους εφαρμόζουμε στα νέα δεδομένα πριν τρέξει το μοντέλο. Το αποτέλεσμα είναι ένα νέο αρχείο που περιέχει τις αρχικές εγγραφές μαζί με τις προβλέψεις του συστήματος.</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16</a:t>
            </a:fld>
            <a:endParaRPr lang="en-US"/>
          </a:p>
        </p:txBody>
      </p:sp>
    </p:spTree>
    <p:extLst>
      <p:ext uri="{BB962C8B-B14F-4D97-AF65-F5344CB8AC3E}">
        <p14:creationId xmlns:p14="http://schemas.microsoft.com/office/powerpoint/2010/main" val="2455706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A94BC-3570-EF19-DA08-BA1DAF47E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5AB6C-321A-C222-2461-7ED3F443C8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02D88A-1FEA-86DB-06E7-492D32D37860}"/>
              </a:ext>
            </a:extLst>
          </p:cNvPr>
          <p:cNvSpPr>
            <a:spLocks noGrp="1"/>
          </p:cNvSpPr>
          <p:nvPr>
            <p:ph type="body" idx="1"/>
          </p:nvPr>
        </p:nvSpPr>
        <p:spPr/>
        <p:txBody>
          <a:bodyPr/>
          <a:lstStyle/>
          <a:p>
            <a:r>
              <a:rPr lang="el-GR" sz="1200" kern="1200" dirty="0">
                <a:solidFill>
                  <a:schemeClr val="tx1"/>
                </a:solidFill>
                <a:effectLst/>
                <a:latin typeface="+mn-lt"/>
                <a:ea typeface="+mn-ea"/>
                <a:cs typeface="+mn-cs"/>
              </a:rPr>
              <a:t>Τι συμβαίνει αν κάτι πάει στραβά ή αν ο χρήστης αλλάξει γνώμη; Το σύστημα επιτρέπει την άμεση ακύρωση μιας εργασίας. Στέλνουμε σήμα στο </a:t>
            </a:r>
            <a:r>
              <a:rPr lang="en-US" sz="1200" kern="1200" dirty="0">
                <a:solidFill>
                  <a:schemeClr val="tx1"/>
                </a:solidFill>
                <a:effectLst/>
                <a:latin typeface="+mn-lt"/>
                <a:ea typeface="+mn-ea"/>
                <a:cs typeface="+mn-cs"/>
              </a:rPr>
              <a:t>Kubernetes</a:t>
            </a:r>
            <a:r>
              <a:rPr lang="el-GR" sz="1200" kern="1200" dirty="0">
                <a:solidFill>
                  <a:schemeClr val="tx1"/>
                </a:solidFill>
                <a:effectLst/>
                <a:latin typeface="+mn-lt"/>
                <a:ea typeface="+mn-ea"/>
                <a:cs typeface="+mn-cs"/>
              </a:rPr>
              <a:t> να τερματίσει βίαια αλλά ελεγχόμενα το </a:t>
            </a:r>
            <a:r>
              <a:rPr lang="en-US" sz="1200" kern="1200" dirty="0">
                <a:solidFill>
                  <a:schemeClr val="tx1"/>
                </a:solidFill>
                <a:effectLst/>
                <a:latin typeface="+mn-lt"/>
                <a:ea typeface="+mn-ea"/>
                <a:cs typeface="+mn-cs"/>
              </a:rPr>
              <a:t>container</a:t>
            </a:r>
            <a:r>
              <a:rPr lang="el-GR" sz="1200" kern="1200" dirty="0">
                <a:solidFill>
                  <a:schemeClr val="tx1"/>
                </a:solidFill>
                <a:effectLst/>
                <a:latin typeface="+mn-lt"/>
                <a:ea typeface="+mn-ea"/>
                <a:cs typeface="+mn-cs"/>
              </a:rPr>
              <a:t>, απελευθερώνοντας τους πόρους. Παράλληλα, ένας μηχανισμός καθαρισμού σβήνει τα ημιτελή αρχεία για να μην γεμίζει ο δίσκος με "σκουπίδια". Επίσης, ανιχνεύουμε αυτόματα αν ένα </a:t>
            </a:r>
            <a:r>
              <a:rPr lang="en-US" sz="1200" kern="1200" dirty="0">
                <a:solidFill>
                  <a:schemeClr val="tx1"/>
                </a:solidFill>
                <a:effectLst/>
                <a:latin typeface="+mn-lt"/>
                <a:ea typeface="+mn-ea"/>
                <a:cs typeface="+mn-cs"/>
              </a:rPr>
              <a:t>container</a:t>
            </a:r>
            <a:r>
              <a:rPr lang="el-GR" sz="1200" kern="1200" dirty="0">
                <a:solidFill>
                  <a:schemeClr val="tx1"/>
                </a:solidFill>
                <a:effectLst/>
                <a:latin typeface="+mn-lt"/>
                <a:ea typeface="+mn-ea"/>
                <a:cs typeface="+mn-cs"/>
              </a:rPr>
              <a:t> "έσκασε" από έλλειψη μνήμης και ενημερώνουμε τον χρήστη.</a:t>
            </a:r>
            <a:endParaRPr lang="en-US" dirty="0"/>
          </a:p>
        </p:txBody>
      </p:sp>
      <p:sp>
        <p:nvSpPr>
          <p:cNvPr id="4" name="Slide Number Placeholder 3">
            <a:extLst>
              <a:ext uri="{FF2B5EF4-FFF2-40B4-BE49-F238E27FC236}">
                <a16:creationId xmlns:a16="http://schemas.microsoft.com/office/drawing/2014/main" id="{B2A25EBC-DD56-0389-D67B-B1AEC88B7D8A}"/>
              </a:ext>
            </a:extLst>
          </p:cNvPr>
          <p:cNvSpPr>
            <a:spLocks noGrp="1"/>
          </p:cNvSpPr>
          <p:nvPr>
            <p:ph type="sldNum" sz="quarter" idx="5"/>
          </p:nvPr>
        </p:nvSpPr>
        <p:spPr/>
        <p:txBody>
          <a:bodyPr/>
          <a:lstStyle/>
          <a:p>
            <a:fld id="{F1CDE72B-7D3F-4723-AF86-6AF31CED4440}" type="slidenum">
              <a:rPr lang="en-US" smtClean="0"/>
              <a:t>17</a:t>
            </a:fld>
            <a:endParaRPr lang="en-US"/>
          </a:p>
        </p:txBody>
      </p:sp>
    </p:spTree>
    <p:extLst>
      <p:ext uri="{BB962C8B-B14F-4D97-AF65-F5344CB8AC3E}">
        <p14:creationId xmlns:p14="http://schemas.microsoft.com/office/powerpoint/2010/main" val="1683084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4CD7-B9C8-5BF4-0D8B-6CA16C205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A50E4-C563-5BC0-43E4-E3B7A1797B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8776C-01B2-7A87-A536-B2CA353F1AE0}"/>
              </a:ext>
            </a:extLst>
          </p:cNvPr>
          <p:cNvSpPr>
            <a:spLocks noGrp="1"/>
          </p:cNvSpPr>
          <p:nvPr>
            <p:ph type="body" idx="1"/>
          </p:nvPr>
        </p:nvSpPr>
        <p:spPr/>
        <p:txBody>
          <a:bodyPr/>
          <a:lstStyle/>
          <a:p>
            <a:r>
              <a:rPr lang="el-GR" dirty="0"/>
              <a:t>Η ασφάλεια εφαρμόζεται τόσο σε επίπεδο </a:t>
            </a:r>
            <a:r>
              <a:rPr lang="el-GR" dirty="0" err="1"/>
              <a:t>authentication</a:t>
            </a:r>
            <a:r>
              <a:rPr lang="el-GR" dirty="0"/>
              <a:t> όσο και </a:t>
            </a:r>
            <a:r>
              <a:rPr lang="el-GR" dirty="0" err="1"/>
              <a:t>authorization</a:t>
            </a:r>
            <a:r>
              <a:rPr lang="el-GR" dirty="0"/>
              <a:t>, με </a:t>
            </a:r>
            <a:r>
              <a:rPr lang="el-GR" dirty="0" err="1"/>
              <a:t>granular</a:t>
            </a:r>
            <a:r>
              <a:rPr lang="el-GR" dirty="0"/>
              <a:t> έλεγχο πρόσβασης σε </a:t>
            </a:r>
            <a:r>
              <a:rPr lang="el-GR" dirty="0" err="1"/>
              <a:t>datasets</a:t>
            </a:r>
            <a:r>
              <a:rPr lang="el-GR" dirty="0"/>
              <a:t> και </a:t>
            </a:r>
            <a:r>
              <a:rPr lang="el-GR" dirty="0" err="1"/>
              <a:t>models</a:t>
            </a:r>
            <a:r>
              <a:rPr lang="el-GR" dirty="0"/>
              <a:t>.</a:t>
            </a:r>
          </a:p>
        </p:txBody>
      </p:sp>
      <p:sp>
        <p:nvSpPr>
          <p:cNvPr id="4" name="Slide Number Placeholder 3">
            <a:extLst>
              <a:ext uri="{FF2B5EF4-FFF2-40B4-BE49-F238E27FC236}">
                <a16:creationId xmlns:a16="http://schemas.microsoft.com/office/drawing/2014/main" id="{D0E3DE2C-B75B-A5F6-8133-A74969C173B7}"/>
              </a:ext>
            </a:extLst>
          </p:cNvPr>
          <p:cNvSpPr>
            <a:spLocks noGrp="1"/>
          </p:cNvSpPr>
          <p:nvPr>
            <p:ph type="sldNum" sz="quarter" idx="5"/>
          </p:nvPr>
        </p:nvSpPr>
        <p:spPr/>
        <p:txBody>
          <a:bodyPr/>
          <a:lstStyle/>
          <a:p>
            <a:fld id="{F1CDE72B-7D3F-4723-AF86-6AF31CED4440}" type="slidenum">
              <a:rPr lang="en-US" smtClean="0"/>
              <a:t>18</a:t>
            </a:fld>
            <a:endParaRPr lang="en-US"/>
          </a:p>
        </p:txBody>
      </p:sp>
    </p:spTree>
    <p:extLst>
      <p:ext uri="{BB962C8B-B14F-4D97-AF65-F5344CB8AC3E}">
        <p14:creationId xmlns:p14="http://schemas.microsoft.com/office/powerpoint/2010/main" val="1754465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4BB19-93B3-E6D0-F131-C525DDB21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C32C9-4964-FB65-3B57-FA784062C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F6B897-CAA0-3810-EEE4-2EC35354F401}"/>
              </a:ext>
            </a:extLst>
          </p:cNvPr>
          <p:cNvSpPr>
            <a:spLocks noGrp="1"/>
          </p:cNvSpPr>
          <p:nvPr>
            <p:ph type="body" idx="1"/>
          </p:nvPr>
        </p:nvSpPr>
        <p:spPr/>
        <p:txBody>
          <a:bodyPr/>
          <a:lstStyle/>
          <a:p>
            <a:r>
              <a:rPr lang="el-GR" sz="1200" kern="1200" dirty="0">
                <a:solidFill>
                  <a:schemeClr val="tx1"/>
                </a:solidFill>
                <a:effectLst/>
                <a:latin typeface="+mn-lt"/>
                <a:ea typeface="+mn-ea"/>
                <a:cs typeface="+mn-cs"/>
              </a:rPr>
              <a:t>Για να είμαστε σίγουροι για την ποιότητα του κώδικα, αναπτύξαμε </a:t>
            </a:r>
            <a:r>
              <a:rPr lang="en-US" sz="1200" kern="1200" dirty="0">
                <a:solidFill>
                  <a:schemeClr val="tx1"/>
                </a:solidFill>
                <a:effectLst/>
                <a:latin typeface="+mn-lt"/>
                <a:ea typeface="+mn-ea"/>
                <a:cs typeface="+mn-cs"/>
              </a:rPr>
              <a:t>Integration Tests</a:t>
            </a:r>
            <a:r>
              <a:rPr lang="el-GR" sz="1200" kern="1200" dirty="0">
                <a:solidFill>
                  <a:schemeClr val="tx1"/>
                </a:solidFill>
                <a:effectLst/>
                <a:latin typeface="+mn-lt"/>
                <a:ea typeface="+mn-ea"/>
                <a:cs typeface="+mn-cs"/>
              </a:rPr>
              <a:t> που προσομοιώνουν πραγματικά σενάρια χρήσης. Κάθε φορά που αλλάζουμε κάτι, τρέχουν αυτόματα τεστ που ανεβάζουν δεδομένα, εκπαιδεύουν μοντέλα και ελέγχουν τα αποτελέσματα. Αυτό μας επιτρέπει να εντοπίζουμε λάθη πριν βγουν στην παραγωγή. Επίσης, παρέχουμε πλήρη τεκμηρίωση του </a:t>
            </a:r>
            <a:r>
              <a:rPr lang="en-US" sz="1200" kern="1200" dirty="0">
                <a:solidFill>
                  <a:schemeClr val="tx1"/>
                </a:solidFill>
                <a:effectLst/>
                <a:latin typeface="+mn-lt"/>
                <a:ea typeface="+mn-ea"/>
                <a:cs typeface="+mn-cs"/>
              </a:rPr>
              <a:t>API</a:t>
            </a:r>
            <a:r>
              <a:rPr lang="el-GR" sz="1200" kern="1200" dirty="0">
                <a:solidFill>
                  <a:schemeClr val="tx1"/>
                </a:solidFill>
                <a:effectLst/>
                <a:latin typeface="+mn-lt"/>
                <a:ea typeface="+mn-ea"/>
                <a:cs typeface="+mn-cs"/>
              </a:rPr>
              <a:t> μέσω </a:t>
            </a:r>
            <a:r>
              <a:rPr lang="en-US" sz="1200" kern="1200" dirty="0">
                <a:solidFill>
                  <a:schemeClr val="tx1"/>
                </a:solidFill>
                <a:effectLst/>
                <a:latin typeface="+mn-lt"/>
                <a:ea typeface="+mn-ea"/>
                <a:cs typeface="+mn-cs"/>
              </a:rPr>
              <a:t>Swagger</a:t>
            </a:r>
            <a:r>
              <a:rPr lang="el-GR" sz="1200" kern="1200" dirty="0">
                <a:solidFill>
                  <a:schemeClr val="tx1"/>
                </a:solidFill>
                <a:effectLst/>
                <a:latin typeface="+mn-lt"/>
                <a:ea typeface="+mn-ea"/>
                <a:cs typeface="+mn-cs"/>
              </a:rPr>
              <a:t> για εύκολη διασύνδεση με άλλες εφαρμογές.</a:t>
            </a:r>
            <a:endParaRPr lang="el-GR" dirty="0"/>
          </a:p>
        </p:txBody>
      </p:sp>
      <p:sp>
        <p:nvSpPr>
          <p:cNvPr id="4" name="Slide Number Placeholder 3">
            <a:extLst>
              <a:ext uri="{FF2B5EF4-FFF2-40B4-BE49-F238E27FC236}">
                <a16:creationId xmlns:a16="http://schemas.microsoft.com/office/drawing/2014/main" id="{85C7E2AD-2615-BDEA-A64B-3BA07BD1226B}"/>
              </a:ext>
            </a:extLst>
          </p:cNvPr>
          <p:cNvSpPr>
            <a:spLocks noGrp="1"/>
          </p:cNvSpPr>
          <p:nvPr>
            <p:ph type="sldNum" sz="quarter" idx="5"/>
          </p:nvPr>
        </p:nvSpPr>
        <p:spPr/>
        <p:txBody>
          <a:bodyPr/>
          <a:lstStyle/>
          <a:p>
            <a:fld id="{F1CDE72B-7D3F-4723-AF86-6AF31CED4440}" type="slidenum">
              <a:rPr lang="en-US" smtClean="0"/>
              <a:t>19</a:t>
            </a:fld>
            <a:endParaRPr lang="en-US"/>
          </a:p>
        </p:txBody>
      </p:sp>
    </p:spTree>
    <p:extLst>
      <p:ext uri="{BB962C8B-B14F-4D97-AF65-F5344CB8AC3E}">
        <p14:creationId xmlns:p14="http://schemas.microsoft.com/office/powerpoint/2010/main" val="2496680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6F5BB-12B8-8595-A7FB-7B99060DA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DD875-E529-1533-2A9C-FDA8BD044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023B22-1D54-CDFA-2E37-E4ED5DF47B9F}"/>
              </a:ext>
            </a:extLst>
          </p:cNvPr>
          <p:cNvSpPr>
            <a:spLocks noGrp="1"/>
          </p:cNvSpPr>
          <p:nvPr>
            <p:ph type="body" idx="1"/>
          </p:nvPr>
        </p:nvSpPr>
        <p:spPr/>
        <p:txBody>
          <a:bodyPr/>
          <a:lstStyle/>
          <a:p>
            <a:r>
              <a:rPr lang="el-GR" dirty="0"/>
              <a:t>Κατά την επίδειξη της εφαρμογής, θα δούμε 5 βασικά σενάρια. Θα ξεκινήσουμε με κάτι απλό, μια εκπαίδευση </a:t>
            </a:r>
            <a:r>
              <a:rPr lang="el-GR" dirty="0" err="1"/>
              <a:t>Weka</a:t>
            </a:r>
            <a:r>
              <a:rPr lang="el-GR" dirty="0"/>
              <a:t>. Μετά θα προχωρήσουμε σε κάτι πιο σύνθετο, τρέχοντας ένα </a:t>
            </a:r>
            <a:r>
              <a:rPr lang="el-GR" dirty="0" err="1"/>
              <a:t>custom</a:t>
            </a:r>
            <a:r>
              <a:rPr lang="el-GR" dirty="0"/>
              <a:t> </a:t>
            </a:r>
            <a:r>
              <a:rPr lang="el-GR" dirty="0" err="1"/>
              <a:t>Python</a:t>
            </a:r>
            <a:r>
              <a:rPr lang="el-GR" dirty="0"/>
              <a:t> </a:t>
            </a:r>
            <a:r>
              <a:rPr lang="el-GR" dirty="0" err="1"/>
              <a:t>script</a:t>
            </a:r>
            <a:r>
              <a:rPr lang="el-GR" dirty="0"/>
              <a:t>. Θα δείξουμε πώς χρησιμοποιούμε το μοντέλο για προβλέψεις, πώς παρακολουθούμε τα </a:t>
            </a:r>
            <a:r>
              <a:rPr lang="el-GR" dirty="0" err="1"/>
              <a:t>logs</a:t>
            </a:r>
            <a:r>
              <a:rPr lang="el-GR" dirty="0"/>
              <a:t> σε πραγματικό χρόνο και, τέλος, θα επιβεβαιώσουμε ότι το σύστημα αντιδρά σωστά στην εντολή ακύρωσης, καθαρίζοντας τους πόρους.</a:t>
            </a:r>
          </a:p>
        </p:txBody>
      </p:sp>
      <p:sp>
        <p:nvSpPr>
          <p:cNvPr id="4" name="Slide Number Placeholder 3">
            <a:extLst>
              <a:ext uri="{FF2B5EF4-FFF2-40B4-BE49-F238E27FC236}">
                <a16:creationId xmlns:a16="http://schemas.microsoft.com/office/drawing/2014/main" id="{0D30E8DB-DB7B-C2A9-E49C-1D53A5DC6567}"/>
              </a:ext>
            </a:extLst>
          </p:cNvPr>
          <p:cNvSpPr>
            <a:spLocks noGrp="1"/>
          </p:cNvSpPr>
          <p:nvPr>
            <p:ph type="sldNum" sz="quarter" idx="5"/>
          </p:nvPr>
        </p:nvSpPr>
        <p:spPr/>
        <p:txBody>
          <a:bodyPr/>
          <a:lstStyle/>
          <a:p>
            <a:fld id="{F1CDE72B-7D3F-4723-AF86-6AF31CED4440}" type="slidenum">
              <a:rPr lang="en-US" smtClean="0"/>
              <a:t>20</a:t>
            </a:fld>
            <a:endParaRPr lang="en-US"/>
          </a:p>
        </p:txBody>
      </p:sp>
    </p:spTree>
    <p:extLst>
      <p:ext uri="{BB962C8B-B14F-4D97-AF65-F5344CB8AC3E}">
        <p14:creationId xmlns:p14="http://schemas.microsoft.com/office/powerpoint/2010/main" val="2128419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44AA8-EB63-19B6-F409-F58707232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22032-E82A-B730-6F52-27E9C033B4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35427-C526-09E7-DB1D-58E625F21243}"/>
              </a:ext>
            </a:extLst>
          </p:cNvPr>
          <p:cNvSpPr>
            <a:spLocks noGrp="1"/>
          </p:cNvSpPr>
          <p:nvPr>
            <p:ph type="body" idx="1"/>
          </p:nvPr>
        </p:nvSpPr>
        <p:spPr/>
        <p:txBody>
          <a:bodyPr/>
          <a:lstStyle/>
          <a:p>
            <a:r>
              <a:rPr lang="el-GR" sz="1200" kern="1200" dirty="0">
                <a:solidFill>
                  <a:schemeClr val="tx1"/>
                </a:solidFill>
                <a:effectLst/>
                <a:latin typeface="+mn-lt"/>
                <a:ea typeface="+mn-ea"/>
                <a:cs typeface="+mn-cs"/>
              </a:rPr>
              <a:t>Συγκρίνοντας τη λύση μας με τον ανταγωνισμό, το βασικό πλεονέκτημα είναι η </a:t>
            </a:r>
            <a:r>
              <a:rPr lang="el-GR" sz="1200" kern="1200" dirty="0" err="1">
                <a:solidFill>
                  <a:schemeClr val="tx1"/>
                </a:solidFill>
                <a:effectLst/>
                <a:latin typeface="+mn-lt"/>
                <a:ea typeface="+mn-ea"/>
                <a:cs typeface="+mn-cs"/>
              </a:rPr>
              <a:t>ιδιωτικότητα</a:t>
            </a:r>
            <a:r>
              <a:rPr lang="el-GR" sz="1200" kern="1200" dirty="0">
                <a:solidFill>
                  <a:schemeClr val="tx1"/>
                </a:solidFill>
                <a:effectLst/>
                <a:latin typeface="+mn-lt"/>
                <a:ea typeface="+mn-ea"/>
                <a:cs typeface="+mn-cs"/>
              </a:rPr>
              <a:t> και το κόστος. Τα δεδομένα μένουν στην υποδομή μας και δεν χρεωνόμαστε ανά λεπτό εκτέλεσης. Η χρήση </a:t>
            </a:r>
            <a:r>
              <a:rPr lang="en-US" sz="1200" kern="1200" dirty="0">
                <a:solidFill>
                  <a:schemeClr val="tx1"/>
                </a:solidFill>
                <a:effectLst/>
                <a:latin typeface="+mn-lt"/>
                <a:ea typeface="+mn-ea"/>
                <a:cs typeface="+mn-cs"/>
              </a:rPr>
              <a:t>Kubernetes</a:t>
            </a:r>
            <a:r>
              <a:rPr lang="el-GR" sz="1200" kern="1200" dirty="0">
                <a:solidFill>
                  <a:schemeClr val="tx1"/>
                </a:solidFill>
                <a:effectLst/>
                <a:latin typeface="+mn-lt"/>
                <a:ea typeface="+mn-ea"/>
                <a:cs typeface="+mn-cs"/>
              </a:rPr>
              <a:t> μας δίνει μεγάλη επεκτασιμότητα. Ως μειονέκτημα, αναγνωρίζουμε ότι η τρέχουσα έκδοση δεν υποστηρίζει εγγενώς </a:t>
            </a:r>
            <a:r>
              <a:rPr lang="en-US" sz="1200" kern="1200" dirty="0">
                <a:solidFill>
                  <a:schemeClr val="tx1"/>
                </a:solidFill>
                <a:effectLst/>
                <a:latin typeface="+mn-lt"/>
                <a:ea typeface="+mn-ea"/>
                <a:cs typeface="+mn-cs"/>
              </a:rPr>
              <a:t>GPU</a:t>
            </a:r>
            <a:r>
              <a:rPr lang="el-GR" sz="1200" kern="1200" dirty="0">
                <a:solidFill>
                  <a:schemeClr val="tx1"/>
                </a:solidFill>
                <a:effectLst/>
                <a:latin typeface="+mn-lt"/>
                <a:ea typeface="+mn-ea"/>
                <a:cs typeface="+mn-cs"/>
              </a:rPr>
              <a:t> επιτάχυνση, κάτι που είναι σημαντικό για </a:t>
            </a:r>
            <a:r>
              <a:rPr lang="en-US" sz="1200" kern="1200" dirty="0">
                <a:solidFill>
                  <a:schemeClr val="tx1"/>
                </a:solidFill>
                <a:effectLst/>
                <a:latin typeface="+mn-lt"/>
                <a:ea typeface="+mn-ea"/>
                <a:cs typeface="+mn-cs"/>
              </a:rPr>
              <a:t>Deep Learning</a:t>
            </a:r>
            <a:r>
              <a:rPr lang="el-GR" sz="1200" kern="1200" dirty="0">
                <a:solidFill>
                  <a:schemeClr val="tx1"/>
                </a:solidFill>
                <a:effectLst/>
                <a:latin typeface="+mn-lt"/>
                <a:ea typeface="+mn-ea"/>
                <a:cs typeface="+mn-cs"/>
              </a:rPr>
              <a:t> μοντέλα.</a:t>
            </a:r>
            <a:endParaRPr lang="el-GR" dirty="0"/>
          </a:p>
        </p:txBody>
      </p:sp>
      <p:sp>
        <p:nvSpPr>
          <p:cNvPr id="4" name="Slide Number Placeholder 3">
            <a:extLst>
              <a:ext uri="{FF2B5EF4-FFF2-40B4-BE49-F238E27FC236}">
                <a16:creationId xmlns:a16="http://schemas.microsoft.com/office/drawing/2014/main" id="{123A05D4-69F7-6331-768C-E5CB8978D646}"/>
              </a:ext>
            </a:extLst>
          </p:cNvPr>
          <p:cNvSpPr>
            <a:spLocks noGrp="1"/>
          </p:cNvSpPr>
          <p:nvPr>
            <p:ph type="sldNum" sz="quarter" idx="5"/>
          </p:nvPr>
        </p:nvSpPr>
        <p:spPr/>
        <p:txBody>
          <a:bodyPr/>
          <a:lstStyle/>
          <a:p>
            <a:fld id="{F1CDE72B-7D3F-4723-AF86-6AF31CED4440}" type="slidenum">
              <a:rPr lang="en-US" smtClean="0"/>
              <a:t>21</a:t>
            </a:fld>
            <a:endParaRPr lang="en-US"/>
          </a:p>
        </p:txBody>
      </p:sp>
    </p:spTree>
    <p:extLst>
      <p:ext uri="{BB962C8B-B14F-4D97-AF65-F5344CB8AC3E}">
        <p14:creationId xmlns:p14="http://schemas.microsoft.com/office/powerpoint/2010/main" val="637821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kern="1200" dirty="0">
                <a:solidFill>
                  <a:schemeClr val="tx1"/>
                </a:solidFill>
                <a:effectLst/>
                <a:latin typeface="+mn-lt"/>
                <a:ea typeface="+mn-ea"/>
                <a:cs typeface="+mn-cs"/>
              </a:rPr>
              <a:t>Συνοψίζοντας, η εργασία αυτή απέδειξε ότι είναι εφικτή η δημιουργία μιας ισχυρής πλατφόρμας Μηχανικής Μάθησης χρησιμοποιώντας ανοιχτά πρότυπα και τεχνολογίες </a:t>
            </a:r>
            <a:r>
              <a:rPr lang="en-US" sz="1200" kern="1200" dirty="0">
                <a:solidFill>
                  <a:schemeClr val="tx1"/>
                </a:solidFill>
                <a:effectLst/>
                <a:latin typeface="+mn-lt"/>
                <a:ea typeface="+mn-ea"/>
                <a:cs typeface="+mn-cs"/>
              </a:rPr>
              <a:t>Containers</a:t>
            </a:r>
            <a:r>
              <a:rPr lang="el-GR" sz="1200" kern="1200" dirty="0">
                <a:solidFill>
                  <a:schemeClr val="tx1"/>
                </a:solidFill>
                <a:effectLst/>
                <a:latin typeface="+mn-lt"/>
                <a:ea typeface="+mn-ea"/>
                <a:cs typeface="+mn-cs"/>
              </a:rPr>
              <a:t>. Επιβεβαιώσαμε ότι η ασύγχρονη επικοινωνία είναι απαραίτητη για την καλή εμπειρία χρήστη και ότι η αρχιτεκτονική μας μπορεί να υποστηρίξει αποτελεσματικά εκπαιδευτικά και ερευνητικά σενάρια</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23</a:t>
            </a:fld>
            <a:endParaRPr lang="en-US"/>
          </a:p>
        </p:txBody>
      </p:sp>
    </p:spTree>
    <p:extLst>
      <p:ext uri="{BB962C8B-B14F-4D97-AF65-F5344CB8AC3E}">
        <p14:creationId xmlns:p14="http://schemas.microsoft.com/office/powerpoint/2010/main" val="3171752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Συμπερασματικά, η εργασία υλοποιεί μια πλήρη πλατφόρμα </a:t>
            </a:r>
            <a:r>
              <a:rPr lang="el-GR" dirty="0" err="1"/>
              <a:t>ορχήστρωσης</a:t>
            </a:r>
            <a:r>
              <a:rPr lang="el-GR" dirty="0"/>
              <a:t> ML με έμφαση στην αρχιτεκτονική, την απομόνωση και την επεκτασιμότητα, και αποτελεί σταθερή βάση για μελλοντική έρευνα.</a:t>
            </a:r>
            <a:endParaRPr lang="en-US" dirty="0"/>
          </a:p>
        </p:txBody>
      </p:sp>
      <p:sp>
        <p:nvSpPr>
          <p:cNvPr id="4" name="Slide Number Placeholder 3"/>
          <p:cNvSpPr>
            <a:spLocks noGrp="1"/>
          </p:cNvSpPr>
          <p:nvPr>
            <p:ph type="sldNum" sz="quarter" idx="5"/>
          </p:nvPr>
        </p:nvSpPr>
        <p:spPr/>
        <p:txBody>
          <a:bodyPr/>
          <a:lstStyle/>
          <a:p>
            <a:fld id="{F1CDE72B-7D3F-4723-AF86-6AF31CED4440}" type="slidenum">
              <a:rPr lang="en-US" smtClean="0"/>
              <a:t>27</a:t>
            </a:fld>
            <a:endParaRPr lang="en-US"/>
          </a:p>
        </p:txBody>
      </p:sp>
    </p:spTree>
    <p:extLst>
      <p:ext uri="{BB962C8B-B14F-4D97-AF65-F5344CB8AC3E}">
        <p14:creationId xmlns:p14="http://schemas.microsoft.com/office/powerpoint/2010/main" val="200140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55960"/>
            <a:ext cx="4160520" cy="2385360"/>
          </a:xfrm>
          <a:prstGeom prst="rect">
            <a:avLst/>
          </a:prstGeom>
          <a:noFill/>
          <a:ln w="0">
            <a:noFill/>
          </a:ln>
        </p:spPr>
        <p:txBody>
          <a:bodyPr lIns="91440" tIns="91440" rIns="91440" bIns="91440" anchor="b">
            <a:noAutofit/>
          </a:bodyPr>
          <a:lstStyle/>
          <a:p>
            <a:pPr indent="0">
              <a:buNone/>
            </a:pPr>
            <a:r>
              <a:rPr lang="fr-FR" sz="36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774080"/>
            <a:ext cx="4675680" cy="109764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dk1"/>
                </a:solidFill>
                <a:effectLst/>
                <a:uFillTx/>
                <a:latin typeface="Outfit"/>
                <a:ea typeface="Outfit"/>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grpSp>
        <p:nvGrpSpPr>
          <p:cNvPr id="3" name="Google Shape;69;p13"/>
          <p:cNvGrpSpPr/>
          <p:nvPr/>
        </p:nvGrpSpPr>
        <p:grpSpPr>
          <a:xfrm>
            <a:off x="-417600" y="-428760"/>
            <a:ext cx="9978840" cy="6000480"/>
            <a:chOff x="-417600" y="-428760"/>
            <a:chExt cx="9978840" cy="6000480"/>
          </a:xfrm>
        </p:grpSpPr>
        <p:sp>
          <p:nvSpPr>
            <p:cNvPr id="4" name="Google Shape;70;p13"/>
            <p:cNvSpPr/>
            <p:nvPr/>
          </p:nvSpPr>
          <p:spPr>
            <a:xfrm>
              <a:off x="42084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 name="Google Shape;71;p13"/>
            <p:cNvSpPr/>
            <p:nvPr/>
          </p:nvSpPr>
          <p:spPr>
            <a:xfrm>
              <a:off x="788436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 name="Google Shape;72;p13"/>
            <p:cNvSpPr/>
            <p:nvPr/>
          </p:nvSpPr>
          <p:spPr>
            <a:xfrm>
              <a:off x="84308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 name="Google Shape;73;p13"/>
            <p:cNvSpPr/>
            <p:nvPr/>
          </p:nvSpPr>
          <p:spPr>
            <a:xfrm>
              <a:off x="84308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74;p13"/>
            <p:cNvSpPr/>
            <p:nvPr/>
          </p:nvSpPr>
          <p:spPr>
            <a:xfrm>
              <a:off x="-1256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 name="Google Shape;75;p13"/>
            <p:cNvSpPr/>
            <p:nvPr/>
          </p:nvSpPr>
          <p:spPr>
            <a:xfrm>
              <a:off x="-1256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76;p13"/>
            <p:cNvSpPr/>
            <p:nvPr/>
          </p:nvSpPr>
          <p:spPr>
            <a:xfrm>
              <a:off x="-4176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 name="Google Shape;77;p13"/>
            <p:cNvSpPr/>
            <p:nvPr/>
          </p:nvSpPr>
          <p:spPr>
            <a:xfrm>
              <a:off x="87228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3" name="PlaceHolder 2"/>
          <p:cNvSpPr>
            <a:spLocks noGrp="1"/>
          </p:cNvSpPr>
          <p:nvPr>
            <p:ph type="title"/>
          </p:nvPr>
        </p:nvSpPr>
        <p:spPr>
          <a:xfrm>
            <a:off x="150552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a:endParaRPr>
          </a:p>
        </p:txBody>
      </p:sp>
      <p:sp>
        <p:nvSpPr>
          <p:cNvPr id="14" name="PlaceHolder 3"/>
          <p:cNvSpPr>
            <a:spLocks noGrp="1"/>
          </p:cNvSpPr>
          <p:nvPr>
            <p:ph type="title"/>
          </p:nvPr>
        </p:nvSpPr>
        <p:spPr>
          <a:xfrm>
            <a:off x="150552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a:endParaRPr>
          </a:p>
        </p:txBody>
      </p:sp>
      <p:sp>
        <p:nvSpPr>
          <p:cNvPr id="15" name="PlaceHolder 4"/>
          <p:cNvSpPr>
            <a:spLocks noGrp="1"/>
          </p:cNvSpPr>
          <p:nvPr>
            <p:ph type="title"/>
          </p:nvPr>
        </p:nvSpPr>
        <p:spPr>
          <a:xfrm>
            <a:off x="420480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a:endParaRPr>
          </a:p>
        </p:txBody>
      </p:sp>
      <p:sp>
        <p:nvSpPr>
          <p:cNvPr id="16" name="PlaceHolder 5"/>
          <p:cNvSpPr>
            <a:spLocks noGrp="1"/>
          </p:cNvSpPr>
          <p:nvPr>
            <p:ph type="title"/>
          </p:nvPr>
        </p:nvSpPr>
        <p:spPr>
          <a:xfrm>
            <a:off x="420480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a:endParaRPr>
          </a:p>
        </p:txBody>
      </p:sp>
      <p:sp>
        <p:nvSpPr>
          <p:cNvPr id="17" name="PlaceHolder 6"/>
          <p:cNvSpPr>
            <a:spLocks noGrp="1"/>
          </p:cNvSpPr>
          <p:nvPr>
            <p:ph type="title"/>
          </p:nvPr>
        </p:nvSpPr>
        <p:spPr>
          <a:xfrm>
            <a:off x="690408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a:endParaRPr>
          </a:p>
        </p:txBody>
      </p:sp>
      <p:sp>
        <p:nvSpPr>
          <p:cNvPr id="18" name="PlaceHolder 7"/>
          <p:cNvSpPr>
            <a:spLocks noGrp="1"/>
          </p:cNvSpPr>
          <p:nvPr>
            <p:ph type="title"/>
          </p:nvPr>
        </p:nvSpPr>
        <p:spPr>
          <a:xfrm>
            <a:off x="690408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u="none" strike="noStrike">
                <a:solidFill>
                  <a:schemeClr val="dk1"/>
                </a:solidFill>
                <a:effectLst/>
                <a:uFillTx/>
                <a:latin typeface="Outfit"/>
                <a:ea typeface="Outfit"/>
              </a:rPr>
              <a:t>xx%</a:t>
            </a:r>
            <a:endParaRPr lang="fr-FR" sz="30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grpSp>
        <p:nvGrpSpPr>
          <p:cNvPr id="19" name="Google Shape;98;p14"/>
          <p:cNvGrpSpPr/>
          <p:nvPr/>
        </p:nvGrpSpPr>
        <p:grpSpPr>
          <a:xfrm>
            <a:off x="-247320" y="-445680"/>
            <a:ext cx="9638640" cy="6029280"/>
            <a:chOff x="-247320" y="-445680"/>
            <a:chExt cx="9638640" cy="6029280"/>
          </a:xfrm>
        </p:grpSpPr>
        <p:sp>
          <p:nvSpPr>
            <p:cNvPr id="20" name="Google Shape;99;p1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100;p1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 name="Google Shape;101;p1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102;p1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Google Shape;103;p1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104;p1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105;p1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106;p1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8" name="PlaceHolder 1"/>
          <p:cNvSpPr>
            <a:spLocks noGrp="1"/>
          </p:cNvSpPr>
          <p:nvPr>
            <p:ph type="title"/>
          </p:nvPr>
        </p:nvSpPr>
        <p:spPr>
          <a:xfrm>
            <a:off x="1226520" y="3229560"/>
            <a:ext cx="6690960" cy="54756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grpSp>
        <p:nvGrpSpPr>
          <p:cNvPr id="29" name="Google Shape;110;p15"/>
          <p:cNvGrpSpPr/>
          <p:nvPr/>
        </p:nvGrpSpPr>
        <p:grpSpPr>
          <a:xfrm>
            <a:off x="-534960" y="-37440"/>
            <a:ext cx="10207440" cy="5621040"/>
            <a:chOff x="-534960" y="-37440"/>
            <a:chExt cx="10207440" cy="5621040"/>
          </a:xfrm>
        </p:grpSpPr>
        <p:sp>
          <p:nvSpPr>
            <p:cNvPr id="30" name="Google Shape;111;p15"/>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Google Shape;112;p15"/>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113;p15"/>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114;p15"/>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115;p15"/>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116;p15"/>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117;p15"/>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118;p15"/>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grpSp>
        <p:nvGrpSpPr>
          <p:cNvPr id="39" name="Google Shape;121;p16"/>
          <p:cNvGrpSpPr/>
          <p:nvPr/>
        </p:nvGrpSpPr>
        <p:grpSpPr>
          <a:xfrm>
            <a:off x="-247320" y="-445680"/>
            <a:ext cx="9638640" cy="6029280"/>
            <a:chOff x="-247320" y="-445680"/>
            <a:chExt cx="9638640" cy="6029280"/>
          </a:xfrm>
        </p:grpSpPr>
        <p:sp>
          <p:nvSpPr>
            <p:cNvPr id="40" name="Google Shape;122;p16"/>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Google Shape;123;p16"/>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Google Shape;124;p16"/>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 name="Google Shape;125;p16"/>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126;p16"/>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127;p16"/>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128;p16"/>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129;p16"/>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3">
    <p:bg>
      <p:bgPr>
        <a:solidFill>
          <a:schemeClr val="lt1"/>
        </a:solidFill>
        <a:effectLst/>
      </p:bgPr>
    </p:bg>
    <p:spTree>
      <p:nvGrpSpPr>
        <p:cNvPr id="1" name=""/>
        <p:cNvGrpSpPr/>
        <p:nvPr/>
      </p:nvGrpSpPr>
      <p:grpSpPr>
        <a:xfrm>
          <a:off x="0" y="0"/>
          <a:ext cx="0" cy="0"/>
          <a:chOff x="0" y="0"/>
          <a:chExt cx="0" cy="0"/>
        </a:xfrm>
      </p:grpSpPr>
      <p:grpSp>
        <p:nvGrpSpPr>
          <p:cNvPr id="49" name="Google Shape;132;p17"/>
          <p:cNvGrpSpPr/>
          <p:nvPr/>
        </p:nvGrpSpPr>
        <p:grpSpPr>
          <a:xfrm>
            <a:off x="-549000" y="-585000"/>
            <a:ext cx="10241640" cy="6168600"/>
            <a:chOff x="-549000" y="-585000"/>
            <a:chExt cx="10241640" cy="6168600"/>
          </a:xfrm>
        </p:grpSpPr>
        <p:sp>
          <p:nvSpPr>
            <p:cNvPr id="50" name="Google Shape;133;p17"/>
            <p:cNvSpPr/>
            <p:nvPr/>
          </p:nvSpPr>
          <p:spPr>
            <a:xfrm>
              <a:off x="2937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134;p17"/>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135;p17"/>
            <p:cNvSpPr/>
            <p:nvPr/>
          </p:nvSpPr>
          <p:spPr>
            <a:xfrm rot="10800000" flipH="1">
              <a:off x="-129600" y="450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 name="Google Shape;136;p17"/>
            <p:cNvSpPr/>
            <p:nvPr/>
          </p:nvSpPr>
          <p:spPr>
            <a:xfrm rot="10800000" flipH="1">
              <a:off x="-549360" y="453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137;p17"/>
            <p:cNvSpPr/>
            <p:nvPr/>
          </p:nvSpPr>
          <p:spPr>
            <a:xfrm>
              <a:off x="185040" y="-585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Google Shape;138;p17"/>
            <p:cNvSpPr/>
            <p:nvPr/>
          </p:nvSpPr>
          <p:spPr>
            <a:xfrm rot="10800000">
              <a:off x="8434800" y="450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Google Shape;139;p17"/>
            <p:cNvSpPr/>
            <p:nvPr/>
          </p:nvSpPr>
          <p:spPr>
            <a:xfrm rot="10800000">
              <a:off x="8854200" y="45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140;p17"/>
            <p:cNvSpPr/>
            <p:nvPr/>
          </p:nvSpPr>
          <p:spPr>
            <a:xfrm flipH="1">
              <a:off x="8119440" y="-585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LE_ONLY_4">
    <p:bg>
      <p:bgPr>
        <a:solidFill>
          <a:schemeClr val="lt1"/>
        </a:solidFill>
        <a:effectLst/>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grpSp>
        <p:nvGrpSpPr>
          <p:cNvPr id="60" name="Google Shape;144;p18"/>
          <p:cNvGrpSpPr/>
          <p:nvPr/>
        </p:nvGrpSpPr>
        <p:grpSpPr>
          <a:xfrm>
            <a:off x="-476640" y="2900520"/>
            <a:ext cx="10096920" cy="2864880"/>
            <a:chOff x="-476640" y="2900520"/>
            <a:chExt cx="10096920" cy="2864880"/>
          </a:xfrm>
        </p:grpSpPr>
        <p:grpSp>
          <p:nvGrpSpPr>
            <p:cNvPr id="61" name="Google Shape;145;p18"/>
            <p:cNvGrpSpPr/>
            <p:nvPr/>
          </p:nvGrpSpPr>
          <p:grpSpPr>
            <a:xfrm>
              <a:off x="-476640" y="2900520"/>
              <a:ext cx="10096920" cy="2864880"/>
              <a:chOff x="-476640" y="2900520"/>
              <a:chExt cx="10096920" cy="2864880"/>
            </a:xfrm>
          </p:grpSpPr>
          <p:sp>
            <p:nvSpPr>
              <p:cNvPr id="62" name="Google Shape;146;p18"/>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147;p18"/>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148;p18"/>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 name="Google Shape;149;p18"/>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150;p18"/>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 name="Google Shape;151;p18"/>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152;p18"/>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9" name="Google Shape;153;p18"/>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grpSp>
        <p:nvGrpSpPr>
          <p:cNvPr id="70" name="Google Shape;155;p19"/>
          <p:cNvGrpSpPr/>
          <p:nvPr/>
        </p:nvGrpSpPr>
        <p:grpSpPr>
          <a:xfrm>
            <a:off x="-145080" y="-504000"/>
            <a:ext cx="9434160" cy="6151320"/>
            <a:chOff x="-145080" y="-504000"/>
            <a:chExt cx="9434160" cy="6151320"/>
          </a:xfrm>
        </p:grpSpPr>
        <p:sp>
          <p:nvSpPr>
            <p:cNvPr id="71" name="Google Shape;156;p19"/>
            <p:cNvSpPr/>
            <p:nvPr/>
          </p:nvSpPr>
          <p:spPr>
            <a:xfrm rot="10800000" flipH="1">
              <a:off x="534240" y="467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Google Shape;157;p19"/>
            <p:cNvSpPr/>
            <p:nvPr/>
          </p:nvSpPr>
          <p:spPr>
            <a:xfrm>
              <a:off x="-145080" y="3924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Google Shape;158;p19"/>
            <p:cNvSpPr/>
            <p:nvPr/>
          </p:nvSpPr>
          <p:spPr>
            <a:xfrm>
              <a:off x="-145080" y="4419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Google Shape;159;p19"/>
            <p:cNvSpPr/>
            <p:nvPr/>
          </p:nvSpPr>
          <p:spPr>
            <a:xfrm flipH="1">
              <a:off x="8430120" y="46443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 name="Google Shape;160;p19"/>
            <p:cNvSpPr/>
            <p:nvPr/>
          </p:nvSpPr>
          <p:spPr>
            <a:xfrm rot="10800000" flipH="1">
              <a:off x="-126000" y="-428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161;p19"/>
            <p:cNvSpPr/>
            <p:nvPr/>
          </p:nvSpPr>
          <p:spPr>
            <a:xfrm flipH="1">
              <a:off x="7769880" y="-504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 name="Google Shape;162;p19"/>
            <p:cNvSpPr/>
            <p:nvPr/>
          </p:nvSpPr>
          <p:spPr>
            <a:xfrm rot="10800000">
              <a:off x="8450640" y="251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163;p19"/>
            <p:cNvSpPr/>
            <p:nvPr/>
          </p:nvSpPr>
          <p:spPr>
            <a:xfrm rot="10800000">
              <a:off x="8450640" y="-244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9" name="PlaceHolder 1"/>
          <p:cNvSpPr>
            <a:spLocks noGrp="1"/>
          </p:cNvSpPr>
          <p:nvPr>
            <p:ph type="title"/>
          </p:nvPr>
        </p:nvSpPr>
        <p:spPr>
          <a:xfrm>
            <a:off x="720000" y="1270440"/>
            <a:ext cx="3777120" cy="170928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80" name="PlaceHolder 2"/>
          <p:cNvSpPr>
            <a:spLocks noGrp="1"/>
          </p:cNvSpPr>
          <p:nvPr>
            <p:ph type="body"/>
          </p:nvPr>
        </p:nvSpPr>
        <p:spPr>
          <a:xfrm>
            <a:off x="5122080" y="1060200"/>
            <a:ext cx="3108960" cy="3108960"/>
          </a:xfrm>
          <a:prstGeom prst="rect">
            <a:avLst/>
          </a:prstGeom>
          <a:noFill/>
          <a:ln w="0">
            <a:noFill/>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grpSp>
        <p:nvGrpSpPr>
          <p:cNvPr id="81" name="Google Shape;168;p20"/>
          <p:cNvGrpSpPr/>
          <p:nvPr/>
        </p:nvGrpSpPr>
        <p:grpSpPr>
          <a:xfrm>
            <a:off x="-247320" y="-445680"/>
            <a:ext cx="9637920" cy="6029280"/>
            <a:chOff x="-247320" y="-445680"/>
            <a:chExt cx="9637920" cy="6029280"/>
          </a:xfrm>
        </p:grpSpPr>
        <p:sp>
          <p:nvSpPr>
            <p:cNvPr id="82" name="Google Shape;169;p20"/>
            <p:cNvSpPr/>
            <p:nvPr/>
          </p:nvSpPr>
          <p:spPr>
            <a:xfrm>
              <a:off x="-125640" y="4453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170;p20"/>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Google Shape;171;p20"/>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172;p20"/>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 name="Google Shape;173;p20"/>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 name="Google Shape;174;p20"/>
            <p:cNvSpPr/>
            <p:nvPr/>
          </p:nvSpPr>
          <p:spPr>
            <a:xfrm rot="10800000">
              <a:off x="8431200" y="-403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175;p20"/>
            <p:cNvSpPr/>
            <p:nvPr/>
          </p:nvSpPr>
          <p:spPr>
            <a:xfrm>
              <a:off x="-125640" y="3996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 name="Google Shape;176;p20"/>
            <p:cNvSpPr/>
            <p:nvPr/>
          </p:nvSpPr>
          <p:spPr>
            <a:xfrm>
              <a:off x="8430840" y="468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0" name="PlaceHolder 1"/>
          <p:cNvSpPr>
            <a:spLocks noGrp="1"/>
          </p:cNvSpPr>
          <p:nvPr>
            <p:ph type="title"/>
          </p:nvPr>
        </p:nvSpPr>
        <p:spPr>
          <a:xfrm>
            <a:off x="720000" y="1637640"/>
            <a:ext cx="3597480" cy="106272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713160" y="2384280"/>
            <a:ext cx="4344120" cy="91548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92" name="PlaceHolder 2"/>
          <p:cNvSpPr>
            <a:spLocks noGrp="1"/>
          </p:cNvSpPr>
          <p:nvPr>
            <p:ph type="title"/>
          </p:nvPr>
        </p:nvSpPr>
        <p:spPr>
          <a:xfrm>
            <a:off x="713160" y="1468440"/>
            <a:ext cx="1263960" cy="915480"/>
          </a:xfrm>
          <a:prstGeom prst="rect">
            <a:avLst/>
          </a:prstGeom>
          <a:noFill/>
          <a:ln w="0">
            <a:noFill/>
          </a:ln>
        </p:spPr>
        <p:txBody>
          <a:bodyPr lIns="91440" tIns="91440" rIns="91440" bIns="91440" anchor="ctr">
            <a:noAutofit/>
          </a:bodyPr>
          <a:lstStyle/>
          <a:p>
            <a:pPr indent="0">
              <a:lnSpc>
                <a:spcPct val="100000"/>
              </a:lnSpc>
              <a:buNone/>
            </a:pPr>
            <a:r>
              <a:rPr lang="fr-FR" sz="6000" b="1" u="none" strike="noStrike">
                <a:solidFill>
                  <a:schemeClr val="dk1"/>
                </a:solidFill>
                <a:effectLst/>
                <a:uFillTx/>
                <a:latin typeface="Outfit"/>
                <a:ea typeface="Outfit"/>
              </a:rPr>
              <a:t>xx%</a:t>
            </a:r>
            <a:endParaRPr lang="fr-FR" sz="6000" b="0" u="none" strike="noStrike">
              <a:solidFill>
                <a:schemeClr val="dk1"/>
              </a:solidFill>
              <a:effectLst/>
              <a:uFillTx/>
              <a:latin typeface="Arial"/>
            </a:endParaRPr>
          </a:p>
        </p:txBody>
      </p:sp>
      <p:sp>
        <p:nvSpPr>
          <p:cNvPr id="93"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grpSp>
        <p:nvGrpSpPr>
          <p:cNvPr id="94" name="Google Shape;180;p21"/>
          <p:cNvGrpSpPr/>
          <p:nvPr/>
        </p:nvGrpSpPr>
        <p:grpSpPr>
          <a:xfrm>
            <a:off x="-247320" y="-445680"/>
            <a:ext cx="9638640" cy="6029280"/>
            <a:chOff x="-247320" y="-445680"/>
            <a:chExt cx="9638640" cy="6029280"/>
          </a:xfrm>
        </p:grpSpPr>
        <p:sp>
          <p:nvSpPr>
            <p:cNvPr id="95" name="Google Shape;181;p21"/>
            <p:cNvSpPr/>
            <p:nvPr/>
          </p:nvSpPr>
          <p:spPr>
            <a:xfrm flipH="1">
              <a:off x="8430120" y="4453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182;p21"/>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 name="Google Shape;183;p21"/>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 name="Google Shape;184;p2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 name="Google Shape;185;p21"/>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186;p21"/>
            <p:cNvSpPr/>
            <p:nvPr/>
          </p:nvSpPr>
          <p:spPr>
            <a:xfrm rot="10800000" flipH="1">
              <a:off x="-126000" y="-403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 name="Google Shape;187;p21"/>
            <p:cNvSpPr/>
            <p:nvPr/>
          </p:nvSpPr>
          <p:spPr>
            <a:xfrm flipH="1">
              <a:off x="8430120" y="3996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 name="Google Shape;188;p21"/>
            <p:cNvSpPr/>
            <p:nvPr/>
          </p:nvSpPr>
          <p:spPr>
            <a:xfrm flipH="1">
              <a:off x="-126360" y="46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3" name="PlaceHolder 1"/>
          <p:cNvSpPr>
            <a:spLocks noGrp="1"/>
          </p:cNvSpPr>
          <p:nvPr>
            <p:ph type="title"/>
          </p:nvPr>
        </p:nvSpPr>
        <p:spPr>
          <a:xfrm>
            <a:off x="4837320" y="1796400"/>
            <a:ext cx="3593160" cy="64440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AND_BODY_1">
    <p:bg>
      <p:bgPr>
        <a:solidFill>
          <a:schemeClr val="lt1"/>
        </a:solidFill>
        <a:effectLst/>
      </p:bgPr>
    </p:bg>
    <p:spTree>
      <p:nvGrpSpPr>
        <p:cNvPr id="1" name=""/>
        <p:cNvGrpSpPr/>
        <p:nvPr/>
      </p:nvGrpSpPr>
      <p:grpSpPr>
        <a:xfrm>
          <a:off x="0" y="0"/>
          <a:ext cx="0" cy="0"/>
          <a:chOff x="0" y="0"/>
          <a:chExt cx="0" cy="0"/>
        </a:xfrm>
      </p:grpSpPr>
      <p:grpSp>
        <p:nvGrpSpPr>
          <p:cNvPr id="104" name="Google Shape;192;p22"/>
          <p:cNvGrpSpPr/>
          <p:nvPr/>
        </p:nvGrpSpPr>
        <p:grpSpPr>
          <a:xfrm>
            <a:off x="-247320" y="-445680"/>
            <a:ext cx="9638640" cy="6029280"/>
            <a:chOff x="-247320" y="-445680"/>
            <a:chExt cx="9638640" cy="6029280"/>
          </a:xfrm>
        </p:grpSpPr>
        <p:sp>
          <p:nvSpPr>
            <p:cNvPr id="105" name="Google Shape;193;p22"/>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194;p22"/>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195;p22"/>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196;p22"/>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197;p22"/>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198;p22"/>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199;p22"/>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 name="Google Shape;200;p22"/>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14" name="PlaceHolder 2"/>
          <p:cNvSpPr>
            <a:spLocks noGrp="1"/>
          </p:cNvSpPr>
          <p:nvPr>
            <p:ph type="body"/>
          </p:nvPr>
        </p:nvSpPr>
        <p:spPr>
          <a:xfrm>
            <a:off x="720000" y="1215720"/>
            <a:ext cx="7703640" cy="10216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BODY_1_1">
    <p:bg>
      <p:bgPr>
        <a:solidFill>
          <a:schemeClr val="lt1"/>
        </a:solidFill>
        <a:effectLst/>
      </p:bgPr>
    </p:bg>
    <p:spTree>
      <p:nvGrpSpPr>
        <p:cNvPr id="1" name=""/>
        <p:cNvGrpSpPr/>
        <p:nvPr/>
      </p:nvGrpSpPr>
      <p:grpSpPr>
        <a:xfrm>
          <a:off x="0" y="0"/>
          <a:ext cx="0" cy="0"/>
          <a:chOff x="0" y="0"/>
          <a:chExt cx="0" cy="0"/>
        </a:xfrm>
      </p:grpSpPr>
      <p:grpSp>
        <p:nvGrpSpPr>
          <p:cNvPr id="115" name="Google Shape;204;p23"/>
          <p:cNvGrpSpPr/>
          <p:nvPr/>
        </p:nvGrpSpPr>
        <p:grpSpPr>
          <a:xfrm>
            <a:off x="-534960" y="-37440"/>
            <a:ext cx="10207440" cy="5621040"/>
            <a:chOff x="-534960" y="-37440"/>
            <a:chExt cx="10207440" cy="5621040"/>
          </a:xfrm>
        </p:grpSpPr>
        <p:sp>
          <p:nvSpPr>
            <p:cNvPr id="116" name="Google Shape;205;p23"/>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206;p23"/>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207;p23"/>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208;p23"/>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209;p23"/>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210;p23"/>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211;p23"/>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212;p23"/>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25" name="PlaceHolder 2"/>
          <p:cNvSpPr>
            <a:spLocks noGrp="1"/>
          </p:cNvSpPr>
          <p:nvPr>
            <p:ph type="body"/>
          </p:nvPr>
        </p:nvSpPr>
        <p:spPr>
          <a:xfrm>
            <a:off x="720000" y="1215720"/>
            <a:ext cx="7703640" cy="31449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grpSp>
        <p:nvGrpSpPr>
          <p:cNvPr id="126" name="Google Shape;216;p24"/>
          <p:cNvGrpSpPr/>
          <p:nvPr/>
        </p:nvGrpSpPr>
        <p:grpSpPr>
          <a:xfrm>
            <a:off x="-310320" y="3500640"/>
            <a:ext cx="9764280" cy="2328120"/>
            <a:chOff x="-310320" y="3500640"/>
            <a:chExt cx="9764280" cy="2328120"/>
          </a:xfrm>
        </p:grpSpPr>
        <p:sp>
          <p:nvSpPr>
            <p:cNvPr id="127" name="Google Shape;217;p24"/>
            <p:cNvSpPr/>
            <p:nvPr/>
          </p:nvSpPr>
          <p:spPr>
            <a:xfrm rot="10800000" flipH="1">
              <a:off x="927000" y="46303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218;p24"/>
            <p:cNvSpPr/>
            <p:nvPr/>
          </p:nvSpPr>
          <p:spPr>
            <a:xfrm rot="10800000" flipH="1">
              <a:off x="272520" y="4861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 name="Google Shape;219;p24"/>
            <p:cNvSpPr/>
            <p:nvPr/>
          </p:nvSpPr>
          <p:spPr>
            <a:xfrm>
              <a:off x="-310320" y="3996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 name="Google Shape;220;p24"/>
            <p:cNvSpPr/>
            <p:nvPr/>
          </p:nvSpPr>
          <p:spPr>
            <a:xfrm>
              <a:off x="-125640" y="3500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221;p24"/>
            <p:cNvSpPr/>
            <p:nvPr/>
          </p:nvSpPr>
          <p:spPr>
            <a:xfrm flipH="1">
              <a:off x="8615160" y="39963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 name="Google Shape;222;p24"/>
            <p:cNvSpPr/>
            <p:nvPr/>
          </p:nvSpPr>
          <p:spPr>
            <a:xfrm flipH="1">
              <a:off x="8423280" y="3500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223;p24"/>
            <p:cNvSpPr/>
            <p:nvPr/>
          </p:nvSpPr>
          <p:spPr>
            <a:xfrm rot="10800000">
              <a:off x="7378200" y="46303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224;p24"/>
            <p:cNvSpPr/>
            <p:nvPr/>
          </p:nvSpPr>
          <p:spPr>
            <a:xfrm rot="10800000">
              <a:off x="8032680" y="486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grpSp>
        <p:nvGrpSpPr>
          <p:cNvPr id="136" name="Google Shape;231;p25"/>
          <p:cNvGrpSpPr/>
          <p:nvPr/>
        </p:nvGrpSpPr>
        <p:grpSpPr>
          <a:xfrm>
            <a:off x="-655560" y="3436920"/>
            <a:ext cx="10454760" cy="2310840"/>
            <a:chOff x="-655560" y="3436920"/>
            <a:chExt cx="10454760" cy="2310840"/>
          </a:xfrm>
        </p:grpSpPr>
        <p:sp>
          <p:nvSpPr>
            <p:cNvPr id="137" name="Google Shape;232;p25"/>
            <p:cNvSpPr/>
            <p:nvPr/>
          </p:nvSpPr>
          <p:spPr>
            <a:xfrm rot="10800000" flipH="1">
              <a:off x="-137160" y="3436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233;p25"/>
            <p:cNvSpPr/>
            <p:nvPr/>
          </p:nvSpPr>
          <p:spPr>
            <a:xfrm>
              <a:off x="183240" y="4541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234;p25"/>
            <p:cNvSpPr/>
            <p:nvPr/>
          </p:nvSpPr>
          <p:spPr>
            <a:xfrm rot="10800000" flipH="1">
              <a:off x="-655920" y="390348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235;p25"/>
            <p:cNvSpPr/>
            <p:nvPr/>
          </p:nvSpPr>
          <p:spPr>
            <a:xfrm rot="10800000">
              <a:off x="8442360" y="3436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Google Shape;236;p25"/>
            <p:cNvSpPr/>
            <p:nvPr/>
          </p:nvSpPr>
          <p:spPr>
            <a:xfrm flipH="1">
              <a:off x="8121240" y="4541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237;p25"/>
            <p:cNvSpPr/>
            <p:nvPr/>
          </p:nvSpPr>
          <p:spPr>
            <a:xfrm rot="10800000">
              <a:off x="8960760" y="39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 name="Google Shape;238;p25"/>
            <p:cNvSpPr/>
            <p:nvPr/>
          </p:nvSpPr>
          <p:spPr>
            <a:xfrm rot="10800000">
              <a:off x="771912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239;p25"/>
            <p:cNvSpPr/>
            <p:nvPr/>
          </p:nvSpPr>
          <p:spPr>
            <a:xfrm rot="10800000">
              <a:off x="58680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grpSp>
        <p:nvGrpSpPr>
          <p:cNvPr id="146" name="Google Shape;244;p26"/>
          <p:cNvGrpSpPr/>
          <p:nvPr/>
        </p:nvGrpSpPr>
        <p:grpSpPr>
          <a:xfrm>
            <a:off x="-512280" y="-358200"/>
            <a:ext cx="10169640" cy="5930280"/>
            <a:chOff x="-512280" y="-358200"/>
            <a:chExt cx="10169640" cy="5930280"/>
          </a:xfrm>
        </p:grpSpPr>
        <p:sp>
          <p:nvSpPr>
            <p:cNvPr id="147" name="Google Shape;245;p26"/>
            <p:cNvSpPr/>
            <p:nvPr/>
          </p:nvSpPr>
          <p:spPr>
            <a:xfrm flipH="1">
              <a:off x="8430120" y="4074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 name="Google Shape;246;p26"/>
            <p:cNvSpPr/>
            <p:nvPr/>
          </p:nvSpPr>
          <p:spPr>
            <a:xfrm rot="10800000">
              <a:off x="8818920" y="183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 name="Google Shape;247;p26"/>
            <p:cNvSpPr/>
            <p:nvPr/>
          </p:nvSpPr>
          <p:spPr>
            <a:xfrm rot="10800000">
              <a:off x="8011800" y="4604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 name="Google Shape;248;p26"/>
            <p:cNvSpPr/>
            <p:nvPr/>
          </p:nvSpPr>
          <p:spPr>
            <a:xfrm flipH="1">
              <a:off x="8430120" y="-358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249;p26"/>
            <p:cNvSpPr/>
            <p:nvPr/>
          </p:nvSpPr>
          <p:spPr>
            <a:xfrm>
              <a:off x="-124200" y="407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 name="Google Shape;250;p26"/>
            <p:cNvSpPr/>
            <p:nvPr/>
          </p:nvSpPr>
          <p:spPr>
            <a:xfrm rot="10800000" flipH="1">
              <a:off x="-512640" y="1832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 name="Google Shape;251;p26"/>
            <p:cNvSpPr/>
            <p:nvPr/>
          </p:nvSpPr>
          <p:spPr>
            <a:xfrm rot="10800000" flipH="1">
              <a:off x="294840" y="4604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 name="Google Shape;252;p26"/>
            <p:cNvSpPr/>
            <p:nvPr/>
          </p:nvSpPr>
          <p:spPr>
            <a:xfrm>
              <a:off x="-124200" y="-358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5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grpSp>
        <p:nvGrpSpPr>
          <p:cNvPr id="156" name="Google Shape;261;p27"/>
          <p:cNvGrpSpPr/>
          <p:nvPr/>
        </p:nvGrpSpPr>
        <p:grpSpPr>
          <a:xfrm>
            <a:off x="-519480" y="2675160"/>
            <a:ext cx="10224360" cy="2743920"/>
            <a:chOff x="-519480" y="2675160"/>
            <a:chExt cx="10224360" cy="2743920"/>
          </a:xfrm>
        </p:grpSpPr>
        <p:sp>
          <p:nvSpPr>
            <p:cNvPr id="157" name="Google Shape;262;p27"/>
            <p:cNvSpPr/>
            <p:nvPr/>
          </p:nvSpPr>
          <p:spPr>
            <a:xfrm rot="10800000" flipH="1">
              <a:off x="-119160" y="308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 name="Google Shape;263;p27"/>
            <p:cNvSpPr/>
            <p:nvPr/>
          </p:nvSpPr>
          <p:spPr>
            <a:xfrm rot="10800000" flipH="1">
              <a:off x="-519840" y="26751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264;p27"/>
            <p:cNvSpPr/>
            <p:nvPr/>
          </p:nvSpPr>
          <p:spPr>
            <a:xfrm>
              <a:off x="-519480" y="395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 name="Google Shape;265;p27"/>
            <p:cNvSpPr/>
            <p:nvPr/>
          </p:nvSpPr>
          <p:spPr>
            <a:xfrm>
              <a:off x="21240" y="4451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266;p27"/>
            <p:cNvSpPr/>
            <p:nvPr/>
          </p:nvSpPr>
          <p:spPr>
            <a:xfrm rot="10800000">
              <a:off x="8465400" y="3085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267;p27"/>
            <p:cNvSpPr/>
            <p:nvPr/>
          </p:nvSpPr>
          <p:spPr>
            <a:xfrm rot="10800000">
              <a:off x="8866440" y="2675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268;p27"/>
            <p:cNvSpPr/>
            <p:nvPr/>
          </p:nvSpPr>
          <p:spPr>
            <a:xfrm flipH="1">
              <a:off x="8865360" y="395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269;p27"/>
            <p:cNvSpPr/>
            <p:nvPr/>
          </p:nvSpPr>
          <p:spPr>
            <a:xfrm flipH="1">
              <a:off x="8324640" y="44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grpSp>
        <p:nvGrpSpPr>
          <p:cNvPr id="166" name="Google Shape;280;p28"/>
          <p:cNvGrpSpPr/>
          <p:nvPr/>
        </p:nvGrpSpPr>
        <p:grpSpPr>
          <a:xfrm>
            <a:off x="-266400" y="3341880"/>
            <a:ext cx="9676800" cy="2320920"/>
            <a:chOff x="-266400" y="3341880"/>
            <a:chExt cx="9676800" cy="2320920"/>
          </a:xfrm>
        </p:grpSpPr>
        <p:sp>
          <p:nvSpPr>
            <p:cNvPr id="167" name="Google Shape;281;p28"/>
            <p:cNvSpPr/>
            <p:nvPr/>
          </p:nvSpPr>
          <p:spPr>
            <a:xfrm flipH="1">
              <a:off x="7440840" y="469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282;p28"/>
            <p:cNvSpPr/>
            <p:nvPr/>
          </p:nvSpPr>
          <p:spPr>
            <a:xfrm>
              <a:off x="863640" y="469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 name="Google Shape;283;p28"/>
            <p:cNvSpPr/>
            <p:nvPr/>
          </p:nvSpPr>
          <p:spPr>
            <a:xfrm rot="10800000" flipH="1">
              <a:off x="-266760" y="4029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284;p28"/>
            <p:cNvSpPr/>
            <p:nvPr/>
          </p:nvSpPr>
          <p:spPr>
            <a:xfrm>
              <a:off x="153000" y="4524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285;p28"/>
            <p:cNvSpPr/>
            <p:nvPr/>
          </p:nvSpPr>
          <p:spPr>
            <a:xfrm rot="10800000" flipH="1">
              <a:off x="-151560" y="33418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286;p28"/>
            <p:cNvSpPr/>
            <p:nvPr/>
          </p:nvSpPr>
          <p:spPr>
            <a:xfrm rot="10800000">
              <a:off x="8571960" y="4029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 name="Google Shape;287;p28"/>
            <p:cNvSpPr/>
            <p:nvPr/>
          </p:nvSpPr>
          <p:spPr>
            <a:xfrm flipH="1">
              <a:off x="8151840" y="45244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 name="Google Shape;288;p28"/>
            <p:cNvSpPr/>
            <p:nvPr/>
          </p:nvSpPr>
          <p:spPr>
            <a:xfrm rot="10800000">
              <a:off x="8456760" y="33418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7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176" name="PlaceHolder 1"/>
          <p:cNvSpPr>
            <a:spLocks noGrp="1"/>
          </p:cNvSpPr>
          <p:nvPr>
            <p:ph type="title"/>
          </p:nvPr>
        </p:nvSpPr>
        <p:spPr>
          <a:xfrm>
            <a:off x="4352040" y="63828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Outfit"/>
                <a:ea typeface="Outfit"/>
              </a:rPr>
              <a:t>xx%</a:t>
            </a:r>
            <a:endParaRPr lang="fr-FR" sz="4500" b="0" u="none" strike="noStrike">
              <a:solidFill>
                <a:schemeClr val="dk1"/>
              </a:solidFill>
              <a:effectLst/>
              <a:uFillTx/>
              <a:latin typeface="Arial"/>
            </a:endParaRPr>
          </a:p>
        </p:txBody>
      </p:sp>
      <p:sp>
        <p:nvSpPr>
          <p:cNvPr id="177" name="PlaceHolder 2"/>
          <p:cNvSpPr>
            <a:spLocks noGrp="1"/>
          </p:cNvSpPr>
          <p:nvPr>
            <p:ph type="title"/>
          </p:nvPr>
        </p:nvSpPr>
        <p:spPr>
          <a:xfrm>
            <a:off x="4352040" y="199044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Outfit"/>
                <a:ea typeface="Outfit"/>
              </a:rPr>
              <a:t>xx%</a:t>
            </a:r>
            <a:endParaRPr lang="fr-FR" sz="4500" b="0" u="none" strike="noStrike">
              <a:solidFill>
                <a:schemeClr val="dk1"/>
              </a:solidFill>
              <a:effectLst/>
              <a:uFillTx/>
              <a:latin typeface="Arial"/>
            </a:endParaRPr>
          </a:p>
        </p:txBody>
      </p:sp>
      <p:sp>
        <p:nvSpPr>
          <p:cNvPr id="178" name="PlaceHolder 3"/>
          <p:cNvSpPr>
            <a:spLocks noGrp="1"/>
          </p:cNvSpPr>
          <p:nvPr>
            <p:ph type="title"/>
          </p:nvPr>
        </p:nvSpPr>
        <p:spPr>
          <a:xfrm>
            <a:off x="4352040" y="334296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Outfit"/>
                <a:ea typeface="Outfit"/>
              </a:rPr>
              <a:t>xx%</a:t>
            </a:r>
            <a:endParaRPr lang="fr-FR" sz="4500" b="0" u="none" strike="noStrike">
              <a:solidFill>
                <a:schemeClr val="dk1"/>
              </a:solidFill>
              <a:effectLst/>
              <a:uFillTx/>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179" name="PlaceHolder 1"/>
          <p:cNvSpPr>
            <a:spLocks noGrp="1"/>
          </p:cNvSpPr>
          <p:nvPr>
            <p:ph type="title"/>
          </p:nvPr>
        </p:nvSpPr>
        <p:spPr>
          <a:xfrm>
            <a:off x="713160" y="677520"/>
            <a:ext cx="5094360" cy="105840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180" name="Google Shape;312;p30"/>
          <p:cNvSpPr/>
          <p:nvPr/>
        </p:nvSpPr>
        <p:spPr>
          <a:xfrm>
            <a:off x="713160" y="3611880"/>
            <a:ext cx="509436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200" b="1" u="none" strike="noStrike">
                <a:solidFill>
                  <a:schemeClr val="dk1"/>
                </a:solidFill>
                <a:effectLst/>
                <a:uFillTx/>
                <a:latin typeface="DM Sans"/>
                <a:ea typeface="DM Sans"/>
              </a:rPr>
              <a:t>CREDITS:</a:t>
            </a:r>
            <a:r>
              <a:rPr lang="en" sz="1200" b="0" u="none" strike="noStrike">
                <a:solidFill>
                  <a:schemeClr val="dk1"/>
                </a:solidFill>
                <a:effectLst/>
                <a:uFillTx/>
                <a:latin typeface="DM Sans"/>
                <a:ea typeface="DM Sans"/>
              </a:rPr>
              <a:t> This presentation template was created by </a:t>
            </a:r>
            <a:r>
              <a:rPr lang="en" sz="1200" b="1" u="sng" strike="noStrike">
                <a:solidFill>
                  <a:schemeClr val="dk1"/>
                </a:solidFill>
                <a:effectLst/>
                <a:uFillTx/>
                <a:latin typeface="DM Sans"/>
                <a:ea typeface="DM Sans"/>
                <a:hlinkClick r:id="rId2"/>
              </a:rPr>
              <a:t>Slidesgo</a:t>
            </a:r>
            <a:r>
              <a:rPr lang="en" sz="1200" b="0" u="none" strike="noStrike">
                <a:solidFill>
                  <a:schemeClr val="dk1"/>
                </a:solidFill>
                <a:effectLst/>
                <a:uFillTx/>
                <a:latin typeface="DM Sans"/>
                <a:ea typeface="DM Sans"/>
              </a:rPr>
              <a:t>, and includes icons by </a:t>
            </a:r>
            <a:r>
              <a:rPr lang="en" sz="1200" b="1" u="sng" strike="noStrike">
                <a:solidFill>
                  <a:schemeClr val="dk1"/>
                </a:solidFill>
                <a:effectLst/>
                <a:uFillTx/>
                <a:latin typeface="DM Sans"/>
                <a:ea typeface="DM Sans"/>
                <a:hlinkClick r:id="rId3"/>
              </a:rPr>
              <a:t>Flaticon</a:t>
            </a:r>
            <a:r>
              <a:rPr lang="en" sz="1200" b="0" u="none" strike="noStrike">
                <a:solidFill>
                  <a:schemeClr val="dk1"/>
                </a:solidFill>
                <a:effectLst/>
                <a:uFillTx/>
                <a:latin typeface="DM Sans"/>
                <a:ea typeface="DM Sans"/>
              </a:rPr>
              <a:t>, and infographics &amp; images by </a:t>
            </a:r>
            <a:r>
              <a:rPr lang="en" sz="1200" b="1" u="sng" strike="noStrike">
                <a:solidFill>
                  <a:schemeClr val="dk1"/>
                </a:solidFill>
                <a:effectLst/>
                <a:uFillTx/>
                <a:latin typeface="DM Sans"/>
                <a:ea typeface="DM Sans"/>
                <a:hlinkClick r:id="rId4"/>
              </a:rPr>
              <a:t>Freepik</a:t>
            </a:r>
            <a:r>
              <a:rPr lang="en" sz="1200" b="0" u="sng" strike="noStrike">
                <a:solidFill>
                  <a:schemeClr val="dk1"/>
                </a:solidFill>
                <a:effectLst/>
                <a:uFillTx/>
                <a:latin typeface="DM Sans"/>
                <a:ea typeface="DM Sans"/>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181" name="Google Shape;16;p4"/>
          <p:cNvGrpSpPr/>
          <p:nvPr/>
        </p:nvGrpSpPr>
        <p:grpSpPr>
          <a:xfrm>
            <a:off x="-247320" y="-445680"/>
            <a:ext cx="9638640" cy="6029280"/>
            <a:chOff x="-247320" y="-445680"/>
            <a:chExt cx="9638640" cy="6029280"/>
          </a:xfrm>
        </p:grpSpPr>
        <p:sp>
          <p:nvSpPr>
            <p:cNvPr id="182" name="Google Shape;17;p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18;p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 name="Google Shape;19;p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20;p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21;p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22;p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23;p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 name="Google Shape;24;p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9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91" name="PlaceHolder 2"/>
          <p:cNvSpPr>
            <a:spLocks noGrp="1"/>
          </p:cNvSpPr>
          <p:nvPr>
            <p:ph type="body"/>
          </p:nvPr>
        </p:nvSpPr>
        <p:spPr>
          <a:xfrm>
            <a:off x="720000" y="1215720"/>
            <a:ext cx="7703640" cy="3974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grpSp>
        <p:nvGrpSpPr>
          <p:cNvPr id="192" name="Google Shape;314;p31"/>
          <p:cNvGrpSpPr/>
          <p:nvPr/>
        </p:nvGrpSpPr>
        <p:grpSpPr>
          <a:xfrm>
            <a:off x="-247320" y="-445680"/>
            <a:ext cx="9638640" cy="6029280"/>
            <a:chOff x="-247320" y="-445680"/>
            <a:chExt cx="9638640" cy="6029280"/>
          </a:xfrm>
        </p:grpSpPr>
        <p:sp>
          <p:nvSpPr>
            <p:cNvPr id="193" name="Google Shape;315;p31"/>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316;p31"/>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 name="Google Shape;317;p31"/>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318;p31"/>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7" name="Google Shape;319;p31"/>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320;p3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321;p31"/>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 name="Google Shape;322;p31"/>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grpSp>
        <p:nvGrpSpPr>
          <p:cNvPr id="201" name="Google Shape;324;p32"/>
          <p:cNvGrpSpPr/>
          <p:nvPr/>
        </p:nvGrpSpPr>
        <p:grpSpPr>
          <a:xfrm>
            <a:off x="-476640" y="2900520"/>
            <a:ext cx="10096920" cy="2864880"/>
            <a:chOff x="-476640" y="2900520"/>
            <a:chExt cx="10096920" cy="2864880"/>
          </a:xfrm>
        </p:grpSpPr>
        <p:grpSp>
          <p:nvGrpSpPr>
            <p:cNvPr id="202" name="Google Shape;325;p32"/>
            <p:cNvGrpSpPr/>
            <p:nvPr/>
          </p:nvGrpSpPr>
          <p:grpSpPr>
            <a:xfrm>
              <a:off x="-476640" y="2900520"/>
              <a:ext cx="10096920" cy="2864880"/>
              <a:chOff x="-476640" y="2900520"/>
              <a:chExt cx="10096920" cy="2864880"/>
            </a:xfrm>
          </p:grpSpPr>
          <p:sp>
            <p:nvSpPr>
              <p:cNvPr id="203" name="Google Shape;326;p32"/>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327;p32"/>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 name="Google Shape;328;p32"/>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329;p32"/>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330;p32"/>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331;p32"/>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 name="Google Shape;332;p32"/>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10" name="Google Shape;333;p32"/>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grpSp>
        <p:nvGrpSpPr>
          <p:cNvPr id="211" name="Google Shape;28;p5"/>
          <p:cNvGrpSpPr/>
          <p:nvPr/>
        </p:nvGrpSpPr>
        <p:grpSpPr>
          <a:xfrm>
            <a:off x="-247320" y="-445680"/>
            <a:ext cx="9638640" cy="6029280"/>
            <a:chOff x="-247320" y="-445680"/>
            <a:chExt cx="9638640" cy="6029280"/>
          </a:xfrm>
        </p:grpSpPr>
        <p:sp>
          <p:nvSpPr>
            <p:cNvPr id="212" name="Google Shape;29;p5"/>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30;p5"/>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31;p5"/>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 name="Google Shape;32;p5"/>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33;p5"/>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34;p5"/>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35;p5"/>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 name="Google Shape;36;p5"/>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grpSp>
        <p:nvGrpSpPr>
          <p:cNvPr id="221" name="Google Shape;43;p6"/>
          <p:cNvGrpSpPr/>
          <p:nvPr/>
        </p:nvGrpSpPr>
        <p:grpSpPr>
          <a:xfrm>
            <a:off x="-247320" y="-283680"/>
            <a:ext cx="9637920" cy="5867280"/>
            <a:chOff x="-247320" y="-283680"/>
            <a:chExt cx="9637920" cy="5867280"/>
          </a:xfrm>
        </p:grpSpPr>
        <p:sp>
          <p:nvSpPr>
            <p:cNvPr id="222" name="Google Shape;44;p6"/>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 name="Google Shape;45;p6"/>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46;p6"/>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47;p6"/>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48;p6"/>
            <p:cNvSpPr/>
            <p:nvPr/>
          </p:nvSpPr>
          <p:spPr>
            <a:xfrm rot="10800000" flipH="1">
              <a:off x="-12600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7" name="Google Shape;49;p6"/>
            <p:cNvSpPr/>
            <p:nvPr/>
          </p:nvSpPr>
          <p:spPr>
            <a:xfrm rot="10800000" flipH="1">
              <a:off x="-12600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 name="Google Shape;50;p6"/>
            <p:cNvSpPr/>
            <p:nvPr/>
          </p:nvSpPr>
          <p:spPr>
            <a:xfrm rot="10800000" flipH="1">
              <a:off x="842364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 name="Google Shape;51;p6"/>
            <p:cNvSpPr/>
            <p:nvPr/>
          </p:nvSpPr>
          <p:spPr>
            <a:xfrm rot="10800000" flipH="1">
              <a:off x="842364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3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231" name="PlaceHolder 1"/>
          <p:cNvSpPr>
            <a:spLocks noGrp="1"/>
          </p:cNvSpPr>
          <p:nvPr>
            <p:ph type="title"/>
          </p:nvPr>
        </p:nvSpPr>
        <p:spPr>
          <a:xfrm>
            <a:off x="720000" y="444960"/>
            <a:ext cx="554940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232" name="PlaceHolder 1"/>
          <p:cNvSpPr>
            <a:spLocks noGrp="1"/>
          </p:cNvSpPr>
          <p:nvPr>
            <p:ph type="title"/>
          </p:nvPr>
        </p:nvSpPr>
        <p:spPr>
          <a:xfrm>
            <a:off x="4292280" y="1663920"/>
            <a:ext cx="4138200" cy="18154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233" name="PlaceHolder 1"/>
          <p:cNvSpPr>
            <a:spLocks noGrp="1"/>
          </p:cNvSpPr>
          <p:nvPr>
            <p:ph type="title"/>
          </p:nvPr>
        </p:nvSpPr>
        <p:spPr>
          <a:xfrm>
            <a:off x="3862800" y="1655640"/>
            <a:ext cx="4567320" cy="1161000"/>
          </a:xfrm>
          <a:prstGeom prst="rect">
            <a:avLst/>
          </a:prstGeom>
          <a:noFill/>
          <a:ln w="0">
            <a:noFill/>
          </a:ln>
        </p:spPr>
        <p:txBody>
          <a:bodyPr lIns="91440" tIns="91440" rIns="91440" bIns="91440" anchor="b">
            <a:noAutofit/>
          </a:bodyPr>
          <a:lstStyle/>
          <a:p>
            <a:pPr indent="0">
              <a:buNone/>
            </a:pPr>
            <a:r>
              <a:rPr lang="fr-FR" sz="6500" b="0" u="none" strike="noStrike">
                <a:solidFill>
                  <a:schemeClr val="dk1"/>
                </a:solidFill>
                <a:effectLst/>
                <a:uFillTx/>
                <a:latin typeface="Arial"/>
              </a:rPr>
              <a:t>Click to edit the title text format</a:t>
            </a:r>
          </a:p>
        </p:txBody>
      </p:sp>
      <p:sp>
        <p:nvSpPr>
          <p:cNvPr id="23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235"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36" name="PlaceHolder 2"/>
          <p:cNvSpPr>
            <a:spLocks noGrp="1"/>
          </p:cNvSpPr>
          <p:nvPr>
            <p:ph type="title"/>
          </p:nvPr>
        </p:nvSpPr>
        <p:spPr>
          <a:xfrm>
            <a:off x="720000" y="3942720"/>
            <a:ext cx="7703640" cy="644040"/>
          </a:xfrm>
          <a:prstGeom prst="rect">
            <a:avLst/>
          </a:prstGeom>
          <a:solidFill>
            <a:schemeClr val="lt1"/>
          </a:solid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237" name="PlaceHolder 1"/>
          <p:cNvSpPr>
            <a:spLocks noGrp="1"/>
          </p:cNvSpPr>
          <p:nvPr>
            <p:ph type="title"/>
          </p:nvPr>
        </p:nvSpPr>
        <p:spPr>
          <a:xfrm>
            <a:off x="716760" y="51120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 id="214748368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714240" y="1049400"/>
            <a:ext cx="5340240" cy="1456560"/>
          </a:xfrm>
          <a:prstGeom prst="rect">
            <a:avLst/>
          </a:prstGeom>
          <a:noFill/>
          <a:ln w="0">
            <a:noFill/>
          </a:ln>
        </p:spPr>
        <p:txBody>
          <a:bodyPr lIns="91440" tIns="91440" rIns="91440" bIns="91440" anchor="b">
            <a:normAutofit/>
          </a:bodyPr>
          <a:lstStyle/>
          <a:p>
            <a:pPr indent="0">
              <a:lnSpc>
                <a:spcPct val="100000"/>
              </a:lnSpc>
              <a:buNone/>
              <a:tabLst>
                <a:tab pos="0" algn="l"/>
              </a:tabLst>
            </a:pPr>
            <a:r>
              <a:rPr lang="el-GR" sz="2200" b="1" dirty="0">
                <a:solidFill>
                  <a:schemeClr val="dk1"/>
                </a:solidFill>
                <a:latin typeface="Outfit"/>
                <a:ea typeface="Outfit"/>
              </a:rPr>
              <a:t>Μια Εφαρμογή Νέφους για την Διαχείριση &amp; Εκτέλεση Μοντέλων Μηχανικής Μάθησης</a:t>
            </a:r>
            <a:endParaRPr lang="fr-FR" sz="2200" b="0" u="none" strike="noStrike" dirty="0">
              <a:solidFill>
                <a:schemeClr val="dk1"/>
              </a:solidFill>
              <a:effectLst/>
              <a:uFillTx/>
              <a:latin typeface="Arial"/>
            </a:endParaRPr>
          </a:p>
        </p:txBody>
      </p:sp>
      <p:sp>
        <p:nvSpPr>
          <p:cNvPr id="239" name="PlaceHolder 2"/>
          <p:cNvSpPr>
            <a:spLocks noGrp="1"/>
          </p:cNvSpPr>
          <p:nvPr>
            <p:ph type="subTitle"/>
          </p:nvPr>
        </p:nvSpPr>
        <p:spPr>
          <a:xfrm>
            <a:off x="804959" y="2864090"/>
            <a:ext cx="4161960" cy="1153510"/>
          </a:xfrm>
          <a:prstGeom prst="rect">
            <a:avLst/>
          </a:prstGeom>
          <a:noFill/>
          <a:ln w="0">
            <a:noFill/>
          </a:ln>
        </p:spPr>
        <p:txBody>
          <a:bodyPr lIns="91440" tIns="91440" rIns="91440" bIns="91440" anchor="t">
            <a:normAutofit fontScale="25000" lnSpcReduction="20000"/>
          </a:bodyPr>
          <a:lstStyle/>
          <a:p>
            <a:r>
              <a:rPr lang="el-GR" dirty="0"/>
              <a:t>Φοιτητές: Νικόλαος Σπύρου, Νικόλαος </a:t>
            </a:r>
            <a:r>
              <a:rPr lang="el-GR" dirty="0" err="1"/>
              <a:t>Ριζόγιαννης</a:t>
            </a:r>
            <a:endParaRPr lang="en-US" dirty="0"/>
          </a:p>
          <a:p>
            <a:r>
              <a:rPr lang="el-GR" dirty="0"/>
              <a:t> </a:t>
            </a:r>
            <a:endParaRPr lang="en-US" dirty="0"/>
          </a:p>
          <a:p>
            <a:r>
              <a:rPr lang="el-GR" dirty="0"/>
              <a:t>Επιβλέπων: </a:t>
            </a:r>
            <a:r>
              <a:rPr lang="el-GR" dirty="0" err="1"/>
              <a:t>Αναπλ</a:t>
            </a:r>
            <a:r>
              <a:rPr lang="el-GR" dirty="0"/>
              <a:t>. Καθηγητής Κυριάκος Κρητικός</a:t>
            </a:r>
            <a:endParaRPr lang="en-US" dirty="0"/>
          </a:p>
          <a:p>
            <a:r>
              <a:rPr lang="el-GR" dirty="0"/>
              <a:t> </a:t>
            </a:r>
            <a:endParaRPr lang="en-US" dirty="0"/>
          </a:p>
          <a:p>
            <a:r>
              <a:rPr lang="el-GR" dirty="0"/>
              <a:t>Ίδρυμα: Πανεπιστήμιο Αιγαίου – Τμήμα Μηχανικών Πληροφοριακών &amp; Επικοινωνιακών Συστημάτων</a:t>
            </a:r>
            <a:endParaRPr lang="en-US" dirty="0"/>
          </a:p>
          <a:p>
            <a:pPr>
              <a:lnSpc>
                <a:spcPct val="100000"/>
              </a:lnSpc>
              <a:tabLst>
                <a:tab pos="0" algn="l"/>
              </a:tabLst>
            </a:pPr>
            <a:br>
              <a:rPr lang="el-GR" sz="1600" dirty="0"/>
            </a:br>
            <a:endParaRPr lang="en-US" sz="1500" b="0" u="none" strike="noStrike" dirty="0">
              <a:solidFill>
                <a:srgbClr val="000000"/>
              </a:solidFill>
              <a:effectLst/>
              <a:uFillTx/>
              <a:latin typeface="OpenSymbol"/>
            </a:endParaRPr>
          </a:p>
        </p:txBody>
      </p:sp>
      <p:cxnSp>
        <p:nvCxnSpPr>
          <p:cNvPr id="240" name="Google Shape;346;p36"/>
          <p:cNvCxnSpPr/>
          <p:nvPr/>
        </p:nvCxnSpPr>
        <p:spPr>
          <a:xfrm>
            <a:off x="823320" y="987120"/>
            <a:ext cx="373680" cy="360"/>
          </a:xfrm>
          <a:prstGeom prst="straightConnector1">
            <a:avLst/>
          </a:prstGeom>
          <a:ln w="19050">
            <a:solidFill>
              <a:srgbClr val="384655"/>
            </a:solidFill>
            <a:round/>
          </a:ln>
        </p:spPr>
      </p:cxnSp>
      <p:grpSp>
        <p:nvGrpSpPr>
          <p:cNvPr id="241" name="Google Shape;347;p36"/>
          <p:cNvGrpSpPr/>
          <p:nvPr/>
        </p:nvGrpSpPr>
        <p:grpSpPr>
          <a:xfrm>
            <a:off x="5115240" y="-428760"/>
            <a:ext cx="4275000" cy="6450480"/>
            <a:chOff x="5115240" y="-428760"/>
            <a:chExt cx="4275000" cy="6450480"/>
          </a:xfrm>
        </p:grpSpPr>
        <p:sp>
          <p:nvSpPr>
            <p:cNvPr id="242" name="Google Shape;348;p36"/>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 name="Google Shape;349;p36"/>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 name="Google Shape;350;p36"/>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5" name="Google Shape;351;p36"/>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6" name="Google Shape;352;p36"/>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7" name="Google Shape;353;p36"/>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8" name="Google Shape;354;p36"/>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355;p36"/>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 name="Google Shape;356;p36"/>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 name="Google Shape;357;p36"/>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 name="Google Shape;358;p36"/>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 name="Google Shape;359;p36"/>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4" name="Google Shape;360;p36"/>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361;p36"/>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6" name="Google Shape;362;p36"/>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363;p36"/>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 name="Google Shape;364;p36"/>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 name="Google Shape;365;p36"/>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366;p36"/>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367;p36"/>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3867120" y="1657440"/>
            <a:ext cx="4571640" cy="11617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6500" b="1" u="none" strike="noStrike">
                <a:solidFill>
                  <a:schemeClr val="dk1"/>
                </a:solidFill>
                <a:effectLst/>
                <a:uFillTx/>
                <a:latin typeface="Outfit"/>
                <a:ea typeface="Outfit"/>
              </a:rPr>
              <a:t>Εισαγωγή</a:t>
            </a:r>
            <a:endParaRPr lang="fr-FR" sz="6500" b="0" u="none" strike="noStrike">
              <a:solidFill>
                <a:schemeClr val="dk1"/>
              </a:solidFill>
              <a:effectLst/>
              <a:uFillTx/>
              <a:latin typeface="Arial"/>
            </a:endParaRPr>
          </a:p>
        </p:txBody>
      </p:sp>
      <p:sp>
        <p:nvSpPr>
          <p:cNvPr id="263" name="PlaceHolder 2"/>
          <p:cNvSpPr>
            <a:spLocks noGrp="1"/>
          </p:cNvSpPr>
          <p:nvPr>
            <p:ph type="subTitle"/>
          </p:nvPr>
        </p:nvSpPr>
        <p:spPr>
          <a:xfrm>
            <a:off x="3867120" y="2819520"/>
            <a:ext cx="4571640" cy="666360"/>
          </a:xfrm>
          <a:prstGeom prst="rect">
            <a:avLst/>
          </a:prstGeom>
          <a:noFill/>
          <a:ln w="0">
            <a:noFill/>
          </a:ln>
        </p:spPr>
        <p:txBody>
          <a:bodyPr lIns="91440" tIns="91440" rIns="91440" bIns="91440" anchor="t">
            <a:normAutofit fontScale="40000" lnSpcReduction="20000"/>
          </a:bodyPr>
          <a:lstStyle/>
          <a:p>
            <a:pPr indent="0">
              <a:lnSpc>
                <a:spcPct val="150000"/>
              </a:lnSpc>
              <a:buNone/>
              <a:tabLst>
                <a:tab pos="0" algn="l"/>
              </a:tabLst>
            </a:pPr>
            <a:r>
              <a:rPr lang="en-US" sz="1600" b="0" u="none" strike="noStrike" dirty="0" err="1">
                <a:solidFill>
                  <a:schemeClr val="dk1"/>
                </a:solidFill>
                <a:effectLst/>
                <a:uFillTx/>
                <a:latin typeface="DM Sans"/>
                <a:ea typeface="DM Sans"/>
              </a:rPr>
              <a:t>Αυτή</a:t>
            </a:r>
            <a:r>
              <a:rPr lang="en-US" sz="1600" b="0" u="none" strike="noStrike" dirty="0">
                <a:solidFill>
                  <a:schemeClr val="dk1"/>
                </a:solidFill>
                <a:effectLst/>
                <a:uFillTx/>
                <a:latin typeface="DM Sans"/>
                <a:ea typeface="DM Sans"/>
              </a:rPr>
              <a:t> η πα</a:t>
            </a:r>
            <a:r>
              <a:rPr lang="en-US" sz="1600" b="0" u="none" strike="noStrike" dirty="0" err="1">
                <a:solidFill>
                  <a:schemeClr val="dk1"/>
                </a:solidFill>
                <a:effectLst/>
                <a:uFillTx/>
                <a:latin typeface="DM Sans"/>
                <a:ea typeface="DM Sans"/>
              </a:rPr>
              <a:t>ρουσί</a:t>
            </a:r>
            <a:r>
              <a:rPr lang="en-US" sz="1600" b="0" u="none" strike="noStrike" dirty="0">
                <a:solidFill>
                  <a:schemeClr val="dk1"/>
                </a:solidFill>
                <a:effectLst/>
                <a:uFillTx/>
                <a:latin typeface="DM Sans"/>
                <a:ea typeface="DM Sans"/>
              </a:rPr>
              <a:t>αση επικεντρώνεται στην οργάνωση και διαμόρφωση μιας ακαδημαϊκής διπλωματικής παρουσίασης. </a:t>
            </a:r>
            <a:r>
              <a:rPr lang="en-US" sz="1600" b="0" u="none" strike="noStrike" dirty="0" err="1">
                <a:solidFill>
                  <a:schemeClr val="dk1"/>
                </a:solidFill>
                <a:effectLst/>
                <a:uFillTx/>
                <a:latin typeface="DM Sans"/>
                <a:ea typeface="DM Sans"/>
              </a:rPr>
              <a:t>Στόχος</a:t>
            </a:r>
            <a:r>
              <a:rPr lang="en-US" sz="1600" b="0" u="none" strike="noStrike" dirty="0">
                <a:solidFill>
                  <a:schemeClr val="dk1"/>
                </a:solidFill>
                <a:effectLst/>
                <a:uFillTx/>
                <a:latin typeface="DM Sans"/>
                <a:ea typeface="DM Sans"/>
              </a:rPr>
              <a:t> </a:t>
            </a:r>
            <a:r>
              <a:rPr lang="en-US" sz="1600" b="0" u="none" strike="noStrike" dirty="0" err="1">
                <a:solidFill>
                  <a:schemeClr val="dk1"/>
                </a:solidFill>
                <a:effectLst/>
                <a:uFillTx/>
                <a:latin typeface="DM Sans"/>
                <a:ea typeface="DM Sans"/>
              </a:rPr>
              <a:t>είν</a:t>
            </a:r>
            <a:r>
              <a:rPr lang="en-US" sz="1600" b="0" u="none" strike="noStrike" dirty="0">
                <a:solidFill>
                  <a:schemeClr val="dk1"/>
                </a:solidFill>
                <a:effectLst/>
                <a:uFillTx/>
                <a:latin typeface="DM Sans"/>
                <a:ea typeface="DM Sans"/>
              </a:rPr>
              <a:t>αι να προσφέρει κατευθυντήριες γραμμές και πρακτικές για μια καθαρή, επαγγελματική και τεχνικά ακριβή παρουσίαση, ιδανική για την επιτροπή εξέτασης.</a:t>
            </a:r>
            <a:endParaRPr lang="en-US" sz="1600" b="0" u="none" strike="noStrike" dirty="0">
              <a:solidFill>
                <a:srgbClr val="000000"/>
              </a:solidFill>
              <a:effectLst/>
              <a:uFillTx/>
              <a:latin typeface="OpenSymbol"/>
            </a:endParaRPr>
          </a:p>
        </p:txBody>
      </p:sp>
      <p:grpSp>
        <p:nvGrpSpPr>
          <p:cNvPr id="264" name="Google Shape;406;p39"/>
          <p:cNvGrpSpPr/>
          <p:nvPr/>
        </p:nvGrpSpPr>
        <p:grpSpPr>
          <a:xfrm>
            <a:off x="-541800" y="-622440"/>
            <a:ext cx="4135320" cy="6091200"/>
            <a:chOff x="-541800" y="-622440"/>
            <a:chExt cx="4135320" cy="6091200"/>
          </a:xfrm>
        </p:grpSpPr>
        <p:sp>
          <p:nvSpPr>
            <p:cNvPr id="265" name="Google Shape;407;p39"/>
            <p:cNvSpPr/>
            <p:nvPr/>
          </p:nvSpPr>
          <p:spPr>
            <a:xfrm rot="10800000">
              <a:off x="84600" y="4042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 name="Google Shape;408;p39"/>
            <p:cNvSpPr/>
            <p:nvPr/>
          </p:nvSpPr>
          <p:spPr>
            <a:xfrm rot="10800000">
              <a:off x="993960" y="457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409;p39"/>
            <p:cNvSpPr/>
            <p:nvPr/>
          </p:nvSpPr>
          <p:spPr>
            <a:xfrm rot="10800000">
              <a:off x="204084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 name="Google Shape;410;p39"/>
            <p:cNvSpPr/>
            <p:nvPr/>
          </p:nvSpPr>
          <p:spPr>
            <a:xfrm rot="10800000">
              <a:off x="-54180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 name="Google Shape;411;p39"/>
            <p:cNvSpPr/>
            <p:nvPr/>
          </p:nvSpPr>
          <p:spPr>
            <a:xfrm flipH="1">
              <a:off x="992880" y="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 name="Google Shape;412;p39"/>
            <p:cNvSpPr/>
            <p:nvPr/>
          </p:nvSpPr>
          <p:spPr>
            <a:xfrm flipH="1">
              <a:off x="712440" y="227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 name="Google Shape;413;p39"/>
            <p:cNvSpPr/>
            <p:nvPr/>
          </p:nvSpPr>
          <p:spPr>
            <a:xfrm flipH="1">
              <a:off x="420840" y="1778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2" name="Google Shape;414;p39"/>
            <p:cNvSpPr/>
            <p:nvPr/>
          </p:nvSpPr>
          <p:spPr>
            <a:xfrm flipH="1">
              <a:off x="1611000" y="1474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 name="Google Shape;415;p39"/>
            <p:cNvSpPr/>
            <p:nvPr/>
          </p:nvSpPr>
          <p:spPr>
            <a:xfrm flipH="1">
              <a:off x="2597040" y="-622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 name="Google Shape;416;p39"/>
            <p:cNvSpPr/>
            <p:nvPr/>
          </p:nvSpPr>
          <p:spPr>
            <a:xfrm flipH="1">
              <a:off x="1259280" y="26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 name="Google Shape;417;p39"/>
            <p:cNvSpPr/>
            <p:nvPr/>
          </p:nvSpPr>
          <p:spPr>
            <a:xfrm flipH="1">
              <a:off x="2180160" y="-138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 name="Google Shape;418;p39"/>
            <p:cNvSpPr/>
            <p:nvPr/>
          </p:nvSpPr>
          <p:spPr>
            <a:xfrm rot="10800000">
              <a:off x="1759320" y="40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 name="Google Shape;419;p39"/>
            <p:cNvSpPr/>
            <p:nvPr/>
          </p:nvSpPr>
          <p:spPr>
            <a:xfrm rot="10800000">
              <a:off x="2368080" y="2651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 name="Google Shape;420;p39"/>
            <p:cNvSpPr/>
            <p:nvPr/>
          </p:nvSpPr>
          <p:spPr>
            <a:xfrm rot="10800000">
              <a:off x="503640" y="3558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 name="Google Shape;421;p39"/>
            <p:cNvSpPr/>
            <p:nvPr/>
          </p:nvSpPr>
          <p:spPr>
            <a:xfrm rot="10800000">
              <a:off x="1759320" y="450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 name="Google Shape;422;p39"/>
            <p:cNvSpPr/>
            <p:nvPr/>
          </p:nvSpPr>
          <p:spPr>
            <a:xfrm flipH="1">
              <a:off x="-126360" y="53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 name="Google Shape;423;p39"/>
            <p:cNvSpPr/>
            <p:nvPr/>
          </p:nvSpPr>
          <p:spPr>
            <a:xfrm flipH="1">
              <a:off x="2754720" y="3194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282" name="Google Shape;424;p39"/>
          <p:cNvCxnSpPr/>
          <p:nvPr/>
        </p:nvCxnSpPr>
        <p:spPr>
          <a:xfrm>
            <a:off x="3967200" y="1655280"/>
            <a:ext cx="374040" cy="360"/>
          </a:xfrm>
          <a:prstGeom prst="straightConnector1">
            <a:avLst/>
          </a:prstGeom>
          <a:ln w="19050">
            <a:solidFill>
              <a:srgbClr val="384655"/>
            </a:solidFill>
            <a:roun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Rectangle 283"/>
          <p:cNvSpPr/>
          <p:nvPr/>
        </p:nvSpPr>
        <p:spPr>
          <a:xfrm>
            <a:off x="5048280" y="659166"/>
            <a:ext cx="3253683" cy="36049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tabLst>
                <a:tab pos="0" algn="l"/>
              </a:tabLst>
            </a:pPr>
            <a:r>
              <a:rPr lang="el-GR" sz="2200" dirty="0"/>
              <a:t>Ορισμός του Προβλήματος</a:t>
            </a:r>
            <a:endParaRPr lang="en-US" sz="2200" b="0" u="none" strike="noStrike" dirty="0">
              <a:solidFill>
                <a:srgbClr val="000000"/>
              </a:solidFill>
              <a:effectLst/>
              <a:uFillTx/>
              <a:latin typeface="OpenSymbol"/>
            </a:endParaRPr>
          </a:p>
        </p:txBody>
      </p:sp>
      <p:pic>
        <p:nvPicPr>
          <p:cNvPr id="285" name="image6988c66583eee" descr="image6988c66583ef3"/>
          <p:cNvPicPr/>
          <p:nvPr/>
        </p:nvPicPr>
        <p:blipFill>
          <a:blip r:embed="rId3"/>
          <a:stretch/>
        </p:blipFill>
        <p:spPr>
          <a:xfrm>
            <a:off x="0" y="0"/>
            <a:ext cx="4571640" cy="5143320"/>
          </a:xfrm>
          <a:prstGeom prst="rect">
            <a:avLst/>
          </a:prstGeom>
          <a:noFill/>
          <a:ln w="0">
            <a:noFill/>
          </a:ln>
        </p:spPr>
      </p:pic>
      <p:sp>
        <p:nvSpPr>
          <p:cNvPr id="2" name="TextBox 1">
            <a:extLst>
              <a:ext uri="{FF2B5EF4-FFF2-40B4-BE49-F238E27FC236}">
                <a16:creationId xmlns:a16="http://schemas.microsoft.com/office/drawing/2014/main" id="{A365DA38-C157-2047-AECE-843D801132D7}"/>
              </a:ext>
            </a:extLst>
          </p:cNvPr>
          <p:cNvSpPr txBox="1"/>
          <p:nvPr/>
        </p:nvSpPr>
        <p:spPr>
          <a:xfrm>
            <a:off x="4893983" y="1160347"/>
            <a:ext cx="3832583" cy="3323987"/>
          </a:xfrm>
          <a:prstGeom prst="rect">
            <a:avLst/>
          </a:prstGeom>
          <a:noFill/>
        </p:spPr>
        <p:txBody>
          <a:bodyPr wrap="square" rtlCol="0">
            <a:spAutoFit/>
          </a:bodyPr>
          <a:lstStyle/>
          <a:p>
            <a:pPr marL="285750" indent="-285750">
              <a:buFont typeface="Arial" panose="020B0604020202020204" pitchFamily="34" charset="0"/>
              <a:buChar char="•"/>
            </a:pPr>
            <a:r>
              <a:rPr lang="el-GR" sz="1400" dirty="0"/>
              <a:t>Υπολογιστικό Κόστος: Η εκπαίδευση </a:t>
            </a:r>
            <a:r>
              <a:rPr lang="en-US" sz="1400" dirty="0"/>
              <a:t>ML</a:t>
            </a:r>
            <a:r>
              <a:rPr lang="el-GR" sz="1400" dirty="0"/>
              <a:t> μοντέλων είναι βαριά διεργασία, ασύμβατη με σύγχρονα </a:t>
            </a:r>
            <a:r>
              <a:rPr lang="en-US" sz="1400" dirty="0"/>
              <a:t>web requests</a:t>
            </a:r>
            <a:r>
              <a:rPr lang="el-GR" sz="1400" dirty="0"/>
              <a:t>.</a:t>
            </a:r>
            <a:endParaRPr lang="en-US" sz="1400" dirty="0"/>
          </a:p>
          <a:p>
            <a:r>
              <a:rPr lang="el-GR" sz="1400" dirty="0"/>
              <a:t> </a:t>
            </a:r>
            <a:endParaRPr lang="en-US" sz="1400" dirty="0"/>
          </a:p>
          <a:p>
            <a:pPr marL="285750" indent="-285750">
              <a:buFont typeface="Arial" panose="020B0604020202020204" pitchFamily="34" charset="0"/>
              <a:buChar char="•"/>
            </a:pPr>
            <a:r>
              <a:rPr lang="en-US" sz="1400" dirty="0"/>
              <a:t>Environment Hell</a:t>
            </a:r>
            <a:r>
              <a:rPr lang="el-GR" sz="1400" dirty="0"/>
              <a:t>: Πολυπλοκότητα στη διαχείριση εξαρτήσεων και περιβαλλόντων (</a:t>
            </a:r>
            <a:r>
              <a:rPr lang="en-US" sz="1400" dirty="0"/>
              <a:t>Python versions</a:t>
            </a:r>
            <a:r>
              <a:rPr lang="el-GR" sz="1400" dirty="0"/>
              <a:t>, </a:t>
            </a:r>
            <a:r>
              <a:rPr lang="en-US" sz="1400" dirty="0"/>
              <a:t>libraries</a:t>
            </a:r>
            <a:r>
              <a:rPr lang="el-GR" sz="1400" dirty="0"/>
              <a:t>).</a:t>
            </a:r>
            <a:endParaRPr lang="en-US" sz="1400" dirty="0"/>
          </a:p>
          <a:p>
            <a:r>
              <a:rPr lang="el-GR" sz="1400" dirty="0"/>
              <a:t> </a:t>
            </a:r>
            <a:endParaRPr lang="en-US" sz="1400" dirty="0"/>
          </a:p>
          <a:p>
            <a:pPr marL="285750" indent="-285750">
              <a:buFont typeface="Arial" panose="020B0604020202020204" pitchFamily="34" charset="0"/>
              <a:buChar char="•"/>
            </a:pPr>
            <a:r>
              <a:rPr lang="el-GR" sz="1400" dirty="0"/>
              <a:t>Έλλειψη Απομόνωσης: Κίνδυνος κατάρρευσης του συστήματος από έναν κακογραμμένο αλγόριθμο χρήστη.</a:t>
            </a:r>
            <a:endParaRPr lang="en-US" sz="1400" dirty="0"/>
          </a:p>
          <a:p>
            <a:r>
              <a:rPr lang="el-GR" sz="1400" dirty="0"/>
              <a:t> </a:t>
            </a:r>
            <a:endParaRPr lang="en-US" sz="1400" dirty="0"/>
          </a:p>
          <a:p>
            <a:pPr marL="285750" indent="-285750">
              <a:buFont typeface="Arial" panose="020B0604020202020204" pitchFamily="34" charset="0"/>
              <a:buChar char="•"/>
            </a:pPr>
            <a:r>
              <a:rPr lang="el-GR" sz="1400" dirty="0"/>
              <a:t>Δυσκολία </a:t>
            </a:r>
            <a:r>
              <a:rPr lang="el-GR" sz="1400" dirty="0" err="1"/>
              <a:t>Αναπαραγωγιμότητας</a:t>
            </a:r>
            <a:r>
              <a:rPr lang="el-GR" sz="1400" dirty="0"/>
              <a:t>: Ανάγκη για αυστηρή σύνδεση </a:t>
            </a:r>
            <a:r>
              <a:rPr lang="en-US" sz="1400" dirty="0"/>
              <a:t>Dataset</a:t>
            </a:r>
            <a:r>
              <a:rPr lang="el-GR" sz="1400" dirty="0"/>
              <a:t>, Παραμέτρων και Μοντέλου.</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Rectangle 285"/>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tabLst>
                <a:tab pos="0" algn="l"/>
              </a:tabLst>
            </a:pPr>
            <a:r>
              <a:rPr lang="el-GR" sz="3600" dirty="0"/>
              <a:t>Περιορισμοί Υπαρχουσών Λύσεων</a:t>
            </a:r>
            <a:endParaRPr lang="en-US" sz="3500" b="0" u="none" strike="noStrike" dirty="0">
              <a:solidFill>
                <a:srgbClr val="000000"/>
              </a:solidFill>
              <a:effectLst/>
              <a:uFillTx/>
              <a:latin typeface="OpenSymbol"/>
            </a:endParaRPr>
          </a:p>
        </p:txBody>
      </p:sp>
      <p:sp>
        <p:nvSpPr>
          <p:cNvPr id="287" name="Rectangle 286"/>
          <p:cNvSpPr/>
          <p:nvPr/>
        </p:nvSpPr>
        <p:spPr>
          <a:xfrm>
            <a:off x="476280" y="1905120"/>
            <a:ext cx="7641487"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l-GR" sz="1200" b="0" u="none" strike="noStrike" dirty="0">
                <a:solidFill>
                  <a:schemeClr val="dk1"/>
                </a:solidFill>
                <a:effectLst/>
                <a:uFillTx/>
                <a:latin typeface="DM Sans"/>
              </a:rPr>
              <a:t>Εμπορικές Λύσεις (</a:t>
            </a:r>
            <a:r>
              <a:rPr lang="en-US" sz="1200" b="0" u="none" strike="noStrike" dirty="0">
                <a:solidFill>
                  <a:schemeClr val="dk1"/>
                </a:solidFill>
                <a:effectLst/>
                <a:uFillTx/>
                <a:latin typeface="DM Sans"/>
              </a:rPr>
              <a:t>SaaS): (</a:t>
            </a:r>
            <a:r>
              <a:rPr lang="el-GR" sz="1200" b="0" u="none" strike="noStrike" dirty="0">
                <a:solidFill>
                  <a:schemeClr val="dk1"/>
                </a:solidFill>
                <a:effectLst/>
                <a:uFillTx/>
                <a:latin typeface="DM Sans"/>
              </a:rPr>
              <a:t>π.χ. </a:t>
            </a:r>
            <a:r>
              <a:rPr lang="en-US" sz="1200" b="0" u="none" strike="noStrike" dirty="0">
                <a:solidFill>
                  <a:schemeClr val="dk1"/>
                </a:solidFill>
                <a:effectLst/>
                <a:uFillTx/>
                <a:latin typeface="DM Sans"/>
              </a:rPr>
              <a:t>AWS SageMaker, Vertex AI)</a:t>
            </a:r>
          </a:p>
          <a:p>
            <a:pPr marL="171450" indent="-171450" algn="just">
              <a:lnSpc>
                <a:spcPct val="150000"/>
              </a:lnSpc>
              <a:buFont typeface="Arial" panose="020B0604020202020204" pitchFamily="34" charset="0"/>
              <a:buChar char="•"/>
              <a:tabLst>
                <a:tab pos="0" algn="l"/>
              </a:tabLst>
            </a:pPr>
            <a:r>
              <a:rPr lang="el-GR" sz="1200" b="0" u="none" strike="noStrike" dirty="0">
                <a:solidFill>
                  <a:schemeClr val="dk1"/>
                </a:solidFill>
                <a:effectLst/>
                <a:uFillTx/>
                <a:latin typeface="DM Sans"/>
              </a:rPr>
              <a:t>Υψηλό κόστος και </a:t>
            </a:r>
            <a:r>
              <a:rPr lang="el-GR" sz="1200" b="0" u="none" strike="noStrike" dirty="0" err="1">
                <a:solidFill>
                  <a:schemeClr val="dk1"/>
                </a:solidFill>
                <a:effectLst/>
                <a:uFillTx/>
                <a:latin typeface="DM Sans"/>
              </a:rPr>
              <a:t>Vendor</a:t>
            </a:r>
            <a:r>
              <a:rPr lang="el-GR" sz="1200" b="0" u="none" strike="noStrike" dirty="0">
                <a:solidFill>
                  <a:schemeClr val="dk1"/>
                </a:solidFill>
                <a:effectLst/>
                <a:uFillTx/>
                <a:latin typeface="DM Sans"/>
              </a:rPr>
              <a:t> </a:t>
            </a:r>
            <a:r>
              <a:rPr lang="el-GR" sz="1200" b="0" u="none" strike="noStrike" dirty="0" err="1">
                <a:solidFill>
                  <a:schemeClr val="dk1"/>
                </a:solidFill>
                <a:effectLst/>
                <a:uFillTx/>
                <a:latin typeface="DM Sans"/>
              </a:rPr>
              <a:t>Lock</a:t>
            </a:r>
            <a:r>
              <a:rPr lang="el-GR" sz="1200" b="0" u="none" strike="noStrike" dirty="0">
                <a:solidFill>
                  <a:schemeClr val="dk1"/>
                </a:solidFill>
                <a:effectLst/>
                <a:uFillTx/>
                <a:latin typeface="DM Sans"/>
              </a:rPr>
              <a:t>-in.</a:t>
            </a:r>
            <a:endParaRPr lang="en-US" sz="1200" b="0" u="none" strike="noStrike" dirty="0">
              <a:solidFill>
                <a:schemeClr val="dk1"/>
              </a:solidFill>
              <a:effectLst/>
              <a:uFillTx/>
              <a:latin typeface="DM Sans"/>
            </a:endParaRPr>
          </a:p>
          <a:p>
            <a:pPr marL="171450" indent="-171450" algn="just">
              <a:lnSpc>
                <a:spcPct val="150000"/>
              </a:lnSpc>
              <a:buFont typeface="Arial" panose="020B0604020202020204" pitchFamily="34" charset="0"/>
              <a:buChar char="•"/>
              <a:tabLst>
                <a:tab pos="0" algn="l"/>
              </a:tabLst>
            </a:pPr>
            <a:r>
              <a:rPr lang="el-GR" sz="1200" b="0" u="none" strike="noStrike" dirty="0">
                <a:solidFill>
                  <a:schemeClr val="dk1"/>
                </a:solidFill>
                <a:effectLst/>
                <a:uFillTx/>
                <a:latin typeface="DM Sans"/>
              </a:rPr>
              <a:t>Περιορισμένη ελευθερία </a:t>
            </a:r>
            <a:r>
              <a:rPr lang="el-GR" sz="1200" b="0" u="none" strike="noStrike" dirty="0" err="1">
                <a:solidFill>
                  <a:schemeClr val="dk1"/>
                </a:solidFill>
                <a:effectLst/>
                <a:uFillTx/>
                <a:latin typeface="DM Sans"/>
              </a:rPr>
              <a:t>custom</a:t>
            </a:r>
            <a:r>
              <a:rPr lang="el-GR" sz="1200" b="0" u="none" strike="noStrike" dirty="0">
                <a:solidFill>
                  <a:schemeClr val="dk1"/>
                </a:solidFill>
                <a:effectLst/>
                <a:uFillTx/>
                <a:latin typeface="DM Sans"/>
              </a:rPr>
              <a:t> ML </a:t>
            </a:r>
            <a:r>
              <a:rPr lang="el-GR" sz="1200" b="0" u="none" strike="noStrike" dirty="0" err="1">
                <a:solidFill>
                  <a:schemeClr val="dk1"/>
                </a:solidFill>
                <a:effectLst/>
                <a:uFillTx/>
                <a:latin typeface="DM Sans"/>
              </a:rPr>
              <a:t>code</a:t>
            </a:r>
            <a:r>
              <a:rPr lang="el-GR" sz="1200" b="0" u="none" strike="noStrike" dirty="0">
                <a:solidFill>
                  <a:schemeClr val="dk1"/>
                </a:solidFill>
                <a:effectLst/>
                <a:uFillTx/>
                <a:latin typeface="DM Sans"/>
              </a:rPr>
              <a:t> </a:t>
            </a:r>
            <a:endParaRPr lang="en-US" sz="1200" b="0" u="none" strike="noStrike" dirty="0">
              <a:solidFill>
                <a:schemeClr val="dk1"/>
              </a:solidFill>
              <a:effectLst/>
              <a:uFillTx/>
              <a:latin typeface="DM Sans"/>
            </a:endParaRPr>
          </a:p>
          <a:p>
            <a:pPr marL="171450" indent="-171450" algn="just">
              <a:lnSpc>
                <a:spcPct val="150000"/>
              </a:lnSpc>
              <a:buFont typeface="Arial" panose="020B0604020202020204" pitchFamily="34" charset="0"/>
              <a:buChar char="•"/>
              <a:tabLst>
                <a:tab pos="0" algn="l"/>
              </a:tabLst>
            </a:pPr>
            <a:r>
              <a:rPr lang="el-GR" sz="1200" b="0" u="none" strike="noStrike" dirty="0">
                <a:solidFill>
                  <a:schemeClr val="dk1"/>
                </a:solidFill>
                <a:effectLst/>
                <a:uFillTx/>
                <a:latin typeface="DM Sans"/>
              </a:rPr>
              <a:t>Έλλειψη πλήρους ιχνηλασιμότητας</a:t>
            </a:r>
            <a:r>
              <a:rPr lang="en-US" sz="1200" b="0" u="none" strike="noStrike" dirty="0">
                <a:solidFill>
                  <a:schemeClr val="dk1"/>
                </a:solidFill>
                <a:effectLst/>
                <a:uFillTx/>
                <a:latin typeface="DM Sans"/>
              </a:rPr>
              <a:t>(live observing)</a:t>
            </a:r>
          </a:p>
          <a:p>
            <a:pPr marL="171450" indent="-171450" algn="just">
              <a:lnSpc>
                <a:spcPct val="150000"/>
              </a:lnSpc>
              <a:buFont typeface="Arial" panose="020B0604020202020204" pitchFamily="34" charset="0"/>
              <a:buChar char="•"/>
              <a:tabLst>
                <a:tab pos="0" algn="l"/>
              </a:tabLst>
            </a:pPr>
            <a:r>
              <a:rPr lang="el-GR" sz="1200" b="0" u="none" strike="noStrike" dirty="0">
                <a:solidFill>
                  <a:schemeClr val="dk1"/>
                </a:solidFill>
                <a:effectLst/>
                <a:uFillTx/>
                <a:latin typeface="DM Sans"/>
              </a:rPr>
              <a:t>Πολυπλοκότητα υποδομών για τον χρήστη</a:t>
            </a:r>
            <a:endParaRPr lang="en-US" sz="1200" b="0" u="none" strike="noStrike" dirty="0">
              <a:solidFill>
                <a:schemeClr val="dk1"/>
              </a:solidFill>
              <a:effectLst/>
              <a:uFillTx/>
              <a:latin typeface="DM Sans"/>
            </a:endParaRPr>
          </a:p>
          <a:p>
            <a:pPr marL="171450" indent="-171450" algn="just">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Ανάγκη για μια "</a:t>
            </a:r>
            <a:r>
              <a:rPr lang="el-GR" sz="1200" b="0" u="none" strike="noStrike" dirty="0" err="1">
                <a:solidFill>
                  <a:srgbClr val="000000"/>
                </a:solidFill>
                <a:effectLst/>
                <a:uFillTx/>
                <a:latin typeface="OpenSymbol"/>
              </a:rPr>
              <a:t>Cloud-Agnostic</a:t>
            </a:r>
            <a:r>
              <a:rPr lang="el-GR" sz="1200" b="0" u="none" strike="noStrike" dirty="0">
                <a:solidFill>
                  <a:srgbClr val="000000"/>
                </a:solidFill>
                <a:effectLst/>
                <a:uFillTx/>
                <a:latin typeface="OpenSymbol"/>
              </a:rPr>
              <a:t>" λύση που συνδυάζει ευελιξία και έλεγχο.</a:t>
            </a:r>
            <a:endParaRPr lang="en-US" sz="1200" b="0" u="none" strike="noStrike" dirty="0">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Google Shape;664;p50"/>
          <p:cNvSpPr/>
          <p:nvPr/>
        </p:nvSpPr>
        <p:spPr>
          <a:xfrm>
            <a:off x="5122080" y="1060200"/>
            <a:ext cx="3108960" cy="3108960"/>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89" name="PlaceHolder 1"/>
          <p:cNvSpPr>
            <a:spLocks noGrp="1"/>
          </p:cNvSpPr>
          <p:nvPr>
            <p:ph type="title"/>
          </p:nvPr>
        </p:nvSpPr>
        <p:spPr>
          <a:xfrm>
            <a:off x="1039724" y="1060200"/>
            <a:ext cx="2696817" cy="667215"/>
          </a:xfrm>
          <a:prstGeom prst="rect">
            <a:avLst/>
          </a:prstGeom>
          <a:noFill/>
          <a:ln w="0">
            <a:noFill/>
          </a:ln>
        </p:spPr>
        <p:txBody>
          <a:bodyPr lIns="91440" tIns="91440" rIns="91440" bIns="91440" anchor="b">
            <a:normAutofit/>
          </a:bodyPr>
          <a:lstStyle/>
          <a:p>
            <a:pPr>
              <a:lnSpc>
                <a:spcPct val="100000"/>
              </a:lnSpc>
              <a:tabLst>
                <a:tab pos="0" algn="l"/>
              </a:tabLst>
            </a:pPr>
            <a:r>
              <a:rPr lang="el-GR" sz="2200" dirty="0"/>
              <a:t>Στόχοι της Διατριβής</a:t>
            </a:r>
            <a:endParaRPr lang="fr-FR" sz="2200" b="0" u="none" strike="noStrike" dirty="0">
              <a:solidFill>
                <a:schemeClr val="dk1"/>
              </a:solidFill>
              <a:effectLst/>
              <a:uFillTx/>
              <a:latin typeface="Arial"/>
            </a:endParaRPr>
          </a:p>
        </p:txBody>
      </p:sp>
      <p:sp>
        <p:nvSpPr>
          <p:cNvPr id="290" name="PlaceHolder 2"/>
          <p:cNvSpPr>
            <a:spLocks noGrp="1"/>
          </p:cNvSpPr>
          <p:nvPr>
            <p:ph type="subTitle"/>
          </p:nvPr>
        </p:nvSpPr>
        <p:spPr>
          <a:xfrm>
            <a:off x="790920" y="2033868"/>
            <a:ext cx="3781080" cy="1005362"/>
          </a:xfrm>
          <a:prstGeom prst="rect">
            <a:avLst/>
          </a:prstGeom>
          <a:noFill/>
          <a:ln w="0">
            <a:noFill/>
          </a:ln>
        </p:spPr>
        <p:txBody>
          <a:bodyPr lIns="91440" tIns="91440" rIns="91440" bIns="91440" anchor="t">
            <a:normAutofit fontScale="55000" lnSpcReduction="20000"/>
          </a:bodyPr>
          <a:lstStyle/>
          <a:p>
            <a:pPr marL="171450" indent="-171450">
              <a:lnSpc>
                <a:spcPct val="150000"/>
              </a:lnSpc>
              <a:buFont typeface="Arial" panose="020B0604020202020204" pitchFamily="34" charset="0"/>
              <a:buChar char="•"/>
              <a:tabLst>
                <a:tab pos="0" algn="l"/>
              </a:tabLst>
            </a:pPr>
            <a:r>
              <a:rPr lang="el-GR" sz="1200" b="0" u="none" strike="noStrike" dirty="0">
                <a:solidFill>
                  <a:schemeClr val="dk1"/>
                </a:solidFill>
                <a:effectLst/>
                <a:uFillTx/>
                <a:latin typeface="DM Sans"/>
                <a:ea typeface="DM Sans"/>
              </a:rPr>
              <a:t>Πλήρες </a:t>
            </a:r>
            <a:r>
              <a:rPr lang="en-US" sz="1200" b="0" u="none" strike="noStrike" dirty="0">
                <a:solidFill>
                  <a:schemeClr val="dk1"/>
                </a:solidFill>
                <a:effectLst/>
                <a:uFillTx/>
                <a:latin typeface="DM Sans"/>
                <a:ea typeface="DM Sans"/>
              </a:rPr>
              <a:t>ML lifecycle </a:t>
            </a:r>
            <a:r>
              <a:rPr lang="el-GR" sz="1200" b="0" u="none" strike="noStrike" dirty="0">
                <a:solidFill>
                  <a:schemeClr val="dk1"/>
                </a:solidFill>
                <a:effectLst/>
                <a:uFillTx/>
                <a:latin typeface="DM Sans"/>
                <a:ea typeface="DM Sans"/>
              </a:rPr>
              <a:t>σε μία πλατφόρμα </a:t>
            </a:r>
            <a:endParaRPr lang="en-US" sz="1200" b="0" u="none" strike="noStrike" dirty="0">
              <a:solidFill>
                <a:schemeClr val="dk1"/>
              </a:solidFill>
              <a:effectLst/>
              <a:uFillTx/>
              <a:latin typeface="DM Sans"/>
              <a:ea typeface="DM Sans"/>
            </a:endParaRPr>
          </a:p>
          <a:p>
            <a:pPr marL="171450" indent="-171450">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ea typeface="DM Sans"/>
              </a:rPr>
              <a:t>Cloud-agnostic </a:t>
            </a:r>
            <a:r>
              <a:rPr lang="el-GR" sz="1200" b="0" u="none" strike="noStrike" dirty="0">
                <a:solidFill>
                  <a:schemeClr val="dk1"/>
                </a:solidFill>
                <a:effectLst/>
                <a:uFillTx/>
                <a:latin typeface="DM Sans"/>
                <a:ea typeface="DM Sans"/>
              </a:rPr>
              <a:t>αρχιτεκτονική </a:t>
            </a:r>
            <a:endParaRPr lang="en-US" sz="1200" b="0" u="none" strike="noStrike" dirty="0">
              <a:solidFill>
                <a:schemeClr val="dk1"/>
              </a:solidFill>
              <a:effectLst/>
              <a:uFillTx/>
              <a:latin typeface="DM Sans"/>
              <a:ea typeface="DM Sans"/>
            </a:endParaRPr>
          </a:p>
          <a:p>
            <a:pPr marL="171450" indent="-171450">
              <a:lnSpc>
                <a:spcPct val="150000"/>
              </a:lnSpc>
              <a:buFont typeface="Arial" panose="020B0604020202020204" pitchFamily="34" charset="0"/>
              <a:buChar char="•"/>
              <a:tabLst>
                <a:tab pos="0" algn="l"/>
              </a:tabLst>
            </a:pPr>
            <a:r>
              <a:rPr lang="el-GR" sz="1200" b="0" u="none" strike="noStrike" dirty="0">
                <a:solidFill>
                  <a:schemeClr val="dk1"/>
                </a:solidFill>
                <a:effectLst/>
                <a:uFillTx/>
                <a:latin typeface="DM Sans"/>
                <a:ea typeface="DM Sans"/>
              </a:rPr>
              <a:t>Υβριδική Υποστήριξη Αλγορίθμων</a:t>
            </a:r>
            <a:r>
              <a:rPr lang="en-US" sz="1200" dirty="0">
                <a:solidFill>
                  <a:schemeClr val="dk1"/>
                </a:solidFill>
                <a:latin typeface="DM Sans"/>
                <a:ea typeface="DM Sans"/>
              </a:rPr>
              <a:t>: </a:t>
            </a:r>
            <a:r>
              <a:rPr lang="el-GR" sz="1200" dirty="0">
                <a:solidFill>
                  <a:schemeClr val="dk1"/>
                </a:solidFill>
                <a:latin typeface="DM Sans"/>
                <a:ea typeface="DM Sans"/>
              </a:rPr>
              <a:t>προκαθορισμένοι </a:t>
            </a:r>
            <a:r>
              <a:rPr lang="en-US" sz="1200" b="0" u="none" strike="noStrike" dirty="0">
                <a:solidFill>
                  <a:schemeClr val="dk1"/>
                </a:solidFill>
                <a:effectLst/>
                <a:uFillTx/>
                <a:latin typeface="DM Sans"/>
                <a:ea typeface="DM Sans"/>
              </a:rPr>
              <a:t>&amp; </a:t>
            </a:r>
            <a:r>
              <a:rPr lang="el-GR" sz="1200" b="0" u="none" strike="noStrike" dirty="0">
                <a:solidFill>
                  <a:schemeClr val="dk1"/>
                </a:solidFill>
                <a:effectLst/>
                <a:uFillTx/>
                <a:latin typeface="DM Sans"/>
                <a:ea typeface="DM Sans"/>
              </a:rPr>
              <a:t>προσαρμοσμένοι αλγόριθμοι </a:t>
            </a:r>
            <a:endParaRPr lang="en-US" sz="1200" b="0" u="none" strike="noStrike" dirty="0">
              <a:solidFill>
                <a:schemeClr val="dk1"/>
              </a:solidFill>
              <a:effectLst/>
              <a:uFillTx/>
              <a:latin typeface="DM Sans"/>
              <a:ea typeface="DM Sans"/>
            </a:endParaRPr>
          </a:p>
          <a:p>
            <a:pPr marL="171450" indent="-171450">
              <a:lnSpc>
                <a:spcPct val="150000"/>
              </a:lnSpc>
              <a:buFont typeface="Arial" panose="020B0604020202020204" pitchFamily="34" charset="0"/>
              <a:buChar char="•"/>
              <a:tabLst>
                <a:tab pos="0" algn="l"/>
              </a:tabLst>
            </a:pPr>
            <a:r>
              <a:rPr lang="el-GR" sz="1200" b="0" u="none" strike="noStrike" dirty="0">
                <a:solidFill>
                  <a:schemeClr val="dk1"/>
                </a:solidFill>
                <a:effectLst/>
                <a:uFillTx/>
                <a:latin typeface="DM Sans"/>
                <a:ea typeface="DM Sans"/>
              </a:rPr>
              <a:t>Ασύγχρονη Ενορχήστρωση: Μηχανισμός διαχείρισης μακροχρόνιων εργασιών.</a:t>
            </a:r>
          </a:p>
          <a:p>
            <a:pPr marL="171450" indent="-171450">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Ασφάλεια &amp; Ιχνηλασιμότητα: Πλήρης έλεγχος πρόσβασης και ιστορικότητα δεδομένων.</a:t>
            </a:r>
            <a:endParaRPr lang="en-US" sz="1200" b="0" u="none" strike="noStrike" dirty="0">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Rectangle 293"/>
          <p:cNvSpPr/>
          <p:nvPr/>
        </p:nvSpPr>
        <p:spPr>
          <a:xfrm>
            <a:off x="331555" y="670266"/>
            <a:ext cx="3885210" cy="448065"/>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algn="ctr">
              <a:tabLst>
                <a:tab pos="0" algn="l"/>
              </a:tabLst>
            </a:pPr>
            <a:r>
              <a:rPr lang="el-GR" sz="2200" dirty="0"/>
              <a:t>Αρχιτεκτονική Υψηλού Επιπέδου</a:t>
            </a:r>
            <a:endParaRPr lang="en-US" sz="2200" b="0" u="none" strike="noStrike" dirty="0">
              <a:solidFill>
                <a:srgbClr val="000000"/>
              </a:solidFill>
              <a:effectLst/>
              <a:uFillTx/>
              <a:latin typeface="OpenSymbol"/>
            </a:endParaRPr>
          </a:p>
        </p:txBody>
      </p:sp>
      <p:pic>
        <p:nvPicPr>
          <p:cNvPr id="295" name="image6988c66596ed7" descr="image6988c66596edb"/>
          <p:cNvPicPr/>
          <p:nvPr/>
        </p:nvPicPr>
        <p:blipFill>
          <a:blip r:embed="rId3"/>
          <a:stretch/>
        </p:blipFill>
        <p:spPr>
          <a:xfrm>
            <a:off x="4572000" y="0"/>
            <a:ext cx="4571640" cy="5143320"/>
          </a:xfrm>
          <a:prstGeom prst="rect">
            <a:avLst/>
          </a:prstGeom>
          <a:noFill/>
          <a:ln w="0">
            <a:noFill/>
          </a:ln>
        </p:spPr>
      </p:pic>
      <p:sp>
        <p:nvSpPr>
          <p:cNvPr id="2" name="TextBox 1">
            <a:extLst>
              <a:ext uri="{FF2B5EF4-FFF2-40B4-BE49-F238E27FC236}">
                <a16:creationId xmlns:a16="http://schemas.microsoft.com/office/drawing/2014/main" id="{0ED3E358-0643-41D4-A8BD-F1EE3803BA23}"/>
              </a:ext>
            </a:extLst>
          </p:cNvPr>
          <p:cNvSpPr txBox="1"/>
          <p:nvPr/>
        </p:nvSpPr>
        <p:spPr>
          <a:xfrm>
            <a:off x="259193" y="1477174"/>
            <a:ext cx="4240445" cy="1754326"/>
          </a:xfrm>
          <a:prstGeom prst="rect">
            <a:avLst/>
          </a:prstGeom>
          <a:noFill/>
        </p:spPr>
        <p:txBody>
          <a:bodyPr wrap="square" rtlCol="0">
            <a:spAutoFit/>
          </a:bodyPr>
          <a:lstStyle/>
          <a:p>
            <a:pPr marL="285750" indent="-285750">
              <a:buFont typeface="Arial" panose="020B0604020202020204" pitchFamily="34" charset="0"/>
              <a:buChar char="•"/>
            </a:pPr>
            <a:r>
              <a:rPr lang="en-US" sz="1200" dirty="0"/>
              <a:t>Frontend: Web Components (Custom Elements) – SPA </a:t>
            </a:r>
            <a:r>
              <a:rPr lang="en-US" sz="1200" dirty="0" err="1"/>
              <a:t>εμ</a:t>
            </a:r>
            <a:r>
              <a:rPr lang="en-US" sz="1200" dirty="0"/>
              <a:t>πειρία.</a:t>
            </a:r>
            <a:endParaRPr lang="el-GR" sz="1200" dirty="0"/>
          </a:p>
          <a:p>
            <a:pPr marL="285750" indent="-285750">
              <a:buFont typeface="Arial" panose="020B0604020202020204" pitchFamily="34" charset="0"/>
              <a:buChar char="•"/>
            </a:pPr>
            <a:r>
              <a:rPr lang="en-US" sz="1200" dirty="0"/>
              <a:t>Backend: Spring Boot (Java 21) – REST API &amp; Orchestrator.</a:t>
            </a:r>
          </a:p>
          <a:p>
            <a:pPr marL="285750" indent="-285750">
              <a:buFont typeface="Arial" panose="020B0604020202020204" pitchFamily="34" charset="0"/>
              <a:buChar char="•"/>
            </a:pPr>
            <a:r>
              <a:rPr lang="en-US" sz="1200" dirty="0"/>
              <a:t>Weka Runner: Executable .jar</a:t>
            </a:r>
          </a:p>
          <a:p>
            <a:pPr marL="285750" indent="-285750">
              <a:buFont typeface="Arial" panose="020B0604020202020204" pitchFamily="34" charset="0"/>
              <a:buChar char="•"/>
            </a:pPr>
            <a:r>
              <a:rPr lang="en-US" sz="1200" dirty="0"/>
              <a:t>PostgreSQL: </a:t>
            </a:r>
            <a:r>
              <a:rPr lang="en-US" sz="1200" dirty="0" err="1"/>
              <a:t>Μετ</a:t>
            </a:r>
            <a:r>
              <a:rPr lang="en-US" sz="1200" dirty="0"/>
              <a:t>αδεδομένα (Users</a:t>
            </a:r>
            <a:r>
              <a:rPr lang="el-GR" sz="1200" dirty="0"/>
              <a:t>, </a:t>
            </a:r>
            <a:r>
              <a:rPr lang="en-US" sz="1200" dirty="0"/>
              <a:t>Trainings, Models, Metrics, …).</a:t>
            </a:r>
          </a:p>
          <a:p>
            <a:pPr marL="285750" indent="-285750">
              <a:buFont typeface="Arial" panose="020B0604020202020204" pitchFamily="34" charset="0"/>
              <a:buChar char="•"/>
            </a:pPr>
            <a:r>
              <a:rPr lang="en-US" sz="1200" dirty="0"/>
              <a:t>Execution Layer: </a:t>
            </a:r>
            <a:r>
              <a:rPr lang="en-US" sz="1200" dirty="0" err="1"/>
              <a:t>Αφ</a:t>
            </a:r>
            <a:r>
              <a:rPr lang="en-US" sz="1200" dirty="0"/>
              <a:t>αιρετικό επίπεδο για Docker &amp; Kubernetes.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Rectangle 295"/>
          <p:cNvSpPr/>
          <p:nvPr/>
        </p:nvSpPr>
        <p:spPr>
          <a:xfrm>
            <a:off x="476280" y="476280"/>
            <a:ext cx="8191080" cy="530218"/>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tabLst>
                <a:tab pos="0" algn="l"/>
              </a:tabLst>
            </a:pPr>
            <a:r>
              <a:rPr lang="el-GR" dirty="0"/>
              <a:t>Τεχνολογικό Υπόβαθρο (</a:t>
            </a:r>
            <a:r>
              <a:rPr lang="en-US" dirty="0"/>
              <a:t>Tech Stack</a:t>
            </a:r>
            <a:r>
              <a:rPr lang="el-GR" dirty="0"/>
              <a:t>)</a:t>
            </a:r>
            <a:endParaRPr lang="en-US" sz="3500" b="0" u="none" strike="noStrike" dirty="0">
              <a:solidFill>
                <a:srgbClr val="000000"/>
              </a:solidFill>
              <a:effectLst/>
              <a:uFillTx/>
              <a:latin typeface="OpenSymbol"/>
            </a:endParaRPr>
          </a:p>
        </p:txBody>
      </p:sp>
      <p:sp>
        <p:nvSpPr>
          <p:cNvPr id="297" name="Rectangle 296"/>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Core: Java 21 LTS, Spring Boot 3.4.2.PostgreSQL (JPA, Flyway) </a:t>
            </a:r>
          </a:p>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Database: PostgreSQL 15, Flyway (Schema Migration).</a:t>
            </a:r>
            <a:endParaRPr lang="el-GR" sz="1200" b="0" u="none" strike="noStrike" dirty="0">
              <a:solidFill>
                <a:schemeClr val="dk1"/>
              </a:solidFill>
              <a:effectLst/>
              <a:uFillTx/>
              <a:latin typeface="DM Sans"/>
            </a:endParaRPr>
          </a:p>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Storage: </a:t>
            </a:r>
            <a:r>
              <a:rPr lang="en-US" sz="1200" b="0" u="none" strike="noStrike" dirty="0" err="1">
                <a:solidFill>
                  <a:schemeClr val="dk1"/>
                </a:solidFill>
                <a:effectLst/>
                <a:uFillTx/>
                <a:latin typeface="DM Sans"/>
              </a:rPr>
              <a:t>MinIO</a:t>
            </a:r>
            <a:r>
              <a:rPr lang="en-US" sz="1200" b="0" u="none" strike="noStrike" dirty="0">
                <a:solidFill>
                  <a:schemeClr val="dk1"/>
                </a:solidFill>
                <a:effectLst/>
                <a:uFillTx/>
                <a:latin typeface="DM Sans"/>
              </a:rPr>
              <a:t> (S3 compatible API).</a:t>
            </a:r>
            <a:endParaRPr lang="el-GR" sz="1200" b="0" u="none" strike="noStrike" dirty="0">
              <a:solidFill>
                <a:schemeClr val="dk1"/>
              </a:solidFill>
              <a:effectLst/>
              <a:uFillTx/>
              <a:latin typeface="DM Sans"/>
            </a:endParaRP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Infrastructure: Docker, Kubernetes, Fabric8 Client.</a:t>
            </a:r>
            <a:endParaRPr lang="el-GR" sz="1200" b="0" u="none" strike="noStrike" dirty="0">
              <a:solidFill>
                <a:srgbClr val="000000"/>
              </a:solidFill>
              <a:effectLst/>
              <a:uFillTx/>
              <a:latin typeface="OpenSymbol"/>
            </a:endParaRP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Security: JWT (RSA Asymmetric signing), Argon2id hashing.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Rectangle 297"/>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lgn="ctr">
              <a:tabLst>
                <a:tab pos="0" algn="l"/>
              </a:tabLst>
            </a:pPr>
            <a:r>
              <a:rPr lang="el-GR" sz="2200" dirty="0"/>
              <a:t>Μοντέλο Δεδομένων (</a:t>
            </a:r>
            <a:r>
              <a:rPr lang="en-US" sz="2200" dirty="0"/>
              <a:t>Data Model</a:t>
            </a:r>
            <a:r>
              <a:rPr lang="el-GR" sz="2200" dirty="0"/>
              <a:t>)</a:t>
            </a:r>
            <a:endParaRPr lang="en-US" sz="2200" b="0" u="none" strike="noStrike" dirty="0">
              <a:solidFill>
                <a:srgbClr val="000000"/>
              </a:solidFill>
              <a:effectLst/>
              <a:uFillTx/>
              <a:latin typeface="OpenSymbol"/>
            </a:endParaRPr>
          </a:p>
        </p:txBody>
      </p:sp>
      <p:sp>
        <p:nvSpPr>
          <p:cNvPr id="299" name="Rectangle 298"/>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Βασικές Οντότητες: </a:t>
            </a:r>
            <a:r>
              <a:rPr lang="en-US" sz="1200" b="0" u="none" strike="noStrike" dirty="0">
                <a:solidFill>
                  <a:srgbClr val="000000"/>
                </a:solidFill>
                <a:effectLst/>
                <a:uFillTx/>
                <a:latin typeface="OpenSymbol"/>
              </a:rPr>
              <a:t>User, Dataset, Training, Model, Execution.</a:t>
            </a:r>
          </a:p>
          <a:p>
            <a:pPr marL="171450" indent="-171450" algn="just">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Συσχετίσεις:</a:t>
            </a:r>
          </a:p>
          <a:p>
            <a:pPr marL="628650" lvl="1" indent="-171450" algn="just">
              <a:lnSpc>
                <a:spcPct val="150000"/>
              </a:lnSpc>
              <a:buFont typeface="Courier New" panose="02070309020205020404" pitchFamily="49" charset="0"/>
              <a:buChar char="o"/>
              <a:tabLst>
                <a:tab pos="0" algn="l"/>
              </a:tabLst>
            </a:pPr>
            <a:r>
              <a:rPr lang="en-US" sz="1200" b="0" u="none" strike="noStrike" dirty="0">
                <a:solidFill>
                  <a:srgbClr val="000000"/>
                </a:solidFill>
                <a:effectLst/>
                <a:uFillTx/>
                <a:latin typeface="OpenSymbol"/>
              </a:rPr>
              <a:t>Training </a:t>
            </a:r>
            <a:r>
              <a:rPr lang="el-GR" sz="1200" b="0" u="none" strike="noStrike" dirty="0">
                <a:solidFill>
                  <a:srgbClr val="000000"/>
                </a:solidFill>
                <a:effectLst/>
                <a:uFillTx/>
                <a:latin typeface="OpenSymbol"/>
              </a:rPr>
              <a:t>συνδέει </a:t>
            </a:r>
            <a:r>
              <a:rPr lang="en-US" sz="1200" b="0" u="none" strike="noStrike" dirty="0">
                <a:solidFill>
                  <a:srgbClr val="000000"/>
                </a:solidFill>
                <a:effectLst/>
                <a:uFillTx/>
                <a:latin typeface="OpenSymbol"/>
              </a:rPr>
              <a:t>Dataset + Algorithm -&gt; </a:t>
            </a:r>
            <a:r>
              <a:rPr lang="el-GR" sz="1200" b="0" u="none" strike="noStrike" dirty="0">
                <a:solidFill>
                  <a:srgbClr val="000000"/>
                </a:solidFill>
                <a:effectLst/>
                <a:uFillTx/>
                <a:latin typeface="OpenSymbol"/>
              </a:rPr>
              <a:t>Παράγει </a:t>
            </a:r>
            <a:r>
              <a:rPr lang="en-US" sz="1200" b="0" u="none" strike="noStrike" dirty="0">
                <a:solidFill>
                  <a:srgbClr val="000000"/>
                </a:solidFill>
                <a:effectLst/>
                <a:uFillTx/>
                <a:latin typeface="OpenSymbol"/>
              </a:rPr>
              <a:t>Model.</a:t>
            </a:r>
          </a:p>
          <a:p>
            <a:pPr marL="628650" lvl="1" indent="-171450" algn="just">
              <a:lnSpc>
                <a:spcPct val="150000"/>
              </a:lnSpc>
              <a:buFont typeface="Courier New" panose="02070309020205020404" pitchFamily="49" charset="0"/>
              <a:buChar char="o"/>
              <a:tabLst>
                <a:tab pos="0" algn="l"/>
              </a:tabLst>
            </a:pPr>
            <a:r>
              <a:rPr lang="en-US" sz="1200" b="0" u="none" strike="noStrike" dirty="0" err="1">
                <a:solidFill>
                  <a:srgbClr val="000000"/>
                </a:solidFill>
                <a:effectLst/>
                <a:uFillTx/>
                <a:latin typeface="OpenSymbol"/>
              </a:rPr>
              <a:t>Asy</a:t>
            </a:r>
            <a:endParaRPr lang="en-US" sz="1200" b="0" u="none" strike="noStrike" dirty="0">
              <a:solidFill>
                <a:srgbClr val="000000"/>
              </a:solidFill>
              <a:effectLst/>
              <a:uFillTx/>
              <a:latin typeface="OpenSymbol"/>
            </a:endParaRPr>
          </a:p>
          <a:p>
            <a:pPr marL="628650" lvl="1" indent="-171450" algn="just">
              <a:lnSpc>
                <a:spcPct val="150000"/>
              </a:lnSpc>
              <a:buFont typeface="Courier New" panose="02070309020205020404" pitchFamily="49" charset="0"/>
              <a:buChar char="o"/>
              <a:tabLst>
                <a:tab pos="0" algn="l"/>
              </a:tabLst>
            </a:pPr>
            <a:r>
              <a:rPr lang="en-US" sz="1200" b="0" u="none" strike="noStrike" dirty="0">
                <a:solidFill>
                  <a:srgbClr val="000000"/>
                </a:solidFill>
                <a:effectLst/>
                <a:uFillTx/>
                <a:latin typeface="OpenSymbol"/>
              </a:rPr>
              <a:t>Execution </a:t>
            </a:r>
            <a:r>
              <a:rPr lang="el-GR" sz="1200" b="0" u="none" strike="noStrike" dirty="0">
                <a:solidFill>
                  <a:srgbClr val="000000"/>
                </a:solidFill>
                <a:effectLst/>
                <a:uFillTx/>
                <a:latin typeface="OpenSymbol"/>
              </a:rPr>
              <a:t>χρησιμοποιεί </a:t>
            </a:r>
            <a:r>
              <a:rPr lang="en-US" sz="1200" b="0" u="none" strike="noStrike" dirty="0">
                <a:solidFill>
                  <a:srgbClr val="000000"/>
                </a:solidFill>
                <a:effectLst/>
                <a:uFillTx/>
                <a:latin typeface="OpenSymbol"/>
              </a:rPr>
              <a:t>Model + New Dataset -&gt; </a:t>
            </a:r>
            <a:r>
              <a:rPr lang="el-GR" sz="1200" b="0" u="none" strike="noStrike" dirty="0">
                <a:solidFill>
                  <a:srgbClr val="000000"/>
                </a:solidFill>
                <a:effectLst/>
                <a:uFillTx/>
                <a:latin typeface="OpenSymbol"/>
              </a:rPr>
              <a:t>Παράγει </a:t>
            </a:r>
            <a:r>
              <a:rPr lang="en-US" sz="1200" b="0" u="none" strike="noStrike" dirty="0">
                <a:solidFill>
                  <a:srgbClr val="000000"/>
                </a:solidFill>
                <a:effectLst/>
                <a:uFillTx/>
                <a:latin typeface="OpenSymbol"/>
              </a:rPr>
              <a:t>Results.</a:t>
            </a:r>
          </a:p>
          <a:p>
            <a:pPr marL="628650" lvl="1" indent="-171450" algn="just">
              <a:lnSpc>
                <a:spcPct val="150000"/>
              </a:lnSpc>
              <a:buFont typeface="Courier New" panose="02070309020205020404" pitchFamily="49" charset="0"/>
              <a:buChar char="o"/>
              <a:tabLst>
                <a:tab pos="0" algn="l"/>
              </a:tabLst>
            </a:pPr>
            <a:r>
              <a:rPr lang="el-GR" sz="1200" b="0" u="none" strike="noStrike" dirty="0">
                <a:solidFill>
                  <a:srgbClr val="000000"/>
                </a:solidFill>
                <a:effectLst/>
                <a:uFillTx/>
                <a:latin typeface="OpenSymbol"/>
              </a:rPr>
              <a:t>Διαχωρισμός: </a:t>
            </a:r>
            <a:r>
              <a:rPr lang="en-US" sz="1200" b="0" u="none" strike="noStrike" dirty="0">
                <a:solidFill>
                  <a:srgbClr val="000000"/>
                </a:solidFill>
                <a:effectLst/>
                <a:uFillTx/>
                <a:latin typeface="OpenSymbol"/>
              </a:rPr>
              <a:t>Metadata </a:t>
            </a:r>
            <a:r>
              <a:rPr lang="el-GR" sz="1200" b="0" u="none" strike="noStrike" dirty="0">
                <a:solidFill>
                  <a:srgbClr val="000000"/>
                </a:solidFill>
                <a:effectLst/>
                <a:uFillTx/>
                <a:latin typeface="OpenSymbol"/>
              </a:rPr>
              <a:t>στη </a:t>
            </a:r>
            <a:r>
              <a:rPr lang="en-US" sz="1200" b="0" u="none" strike="noStrike" dirty="0">
                <a:solidFill>
                  <a:srgbClr val="000000"/>
                </a:solidFill>
                <a:effectLst/>
                <a:uFillTx/>
                <a:latin typeface="OpenSymbol"/>
              </a:rPr>
              <a:t>DB vs Binary Data </a:t>
            </a:r>
            <a:r>
              <a:rPr lang="el-GR" sz="1200" b="0" u="none" strike="noStrike" dirty="0">
                <a:solidFill>
                  <a:srgbClr val="000000"/>
                </a:solidFill>
                <a:effectLst/>
                <a:uFillTx/>
                <a:latin typeface="OpenSymbol"/>
              </a:rPr>
              <a:t>στο </a:t>
            </a:r>
            <a:r>
              <a:rPr lang="en-US" sz="1200" b="0" u="none" strike="noStrike" dirty="0">
                <a:solidFill>
                  <a:srgbClr val="000000"/>
                </a:solidFill>
                <a:effectLst/>
                <a:uFillTx/>
                <a:latin typeface="OpenSymbol"/>
              </a:rPr>
              <a:t>Object Storage.</a:t>
            </a:r>
          </a:p>
          <a:p>
            <a:pPr marL="171450" indent="-171450" algn="just">
              <a:lnSpc>
                <a:spcPct val="150000"/>
              </a:lnSpc>
              <a:buFont typeface="Arial" panose="020B0604020202020204" pitchFamily="34" charset="0"/>
              <a:buChar char="•"/>
              <a:tabLst>
                <a:tab pos="0" algn="l"/>
              </a:tabLst>
            </a:pPr>
            <a:endParaRPr lang="en-US" sz="1200" b="0" u="none" strike="noStrike" dirty="0">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Rectangle 299"/>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tabLst>
                <a:tab pos="0" algn="l"/>
              </a:tabLst>
            </a:pPr>
            <a:r>
              <a:rPr lang="el-GR" sz="3600" dirty="0">
                <a:highlight>
                  <a:srgbClr val="FFFF00"/>
                </a:highlight>
              </a:rPr>
              <a:t>Ασύγχρονη Εκτέλεση</a:t>
            </a:r>
            <a:endParaRPr lang="en-US" sz="3500" b="0" u="none" strike="noStrike" dirty="0">
              <a:solidFill>
                <a:srgbClr val="000000"/>
              </a:solidFill>
              <a:effectLst/>
              <a:highlight>
                <a:srgbClr val="FFFF00"/>
              </a:highlight>
              <a:uFillTx/>
              <a:latin typeface="OpenSymbol"/>
            </a:endParaRPr>
          </a:p>
        </p:txBody>
      </p:sp>
      <p:sp>
        <p:nvSpPr>
          <p:cNvPr id="301" name="Rectangle 300"/>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HTTP 202 + </a:t>
            </a:r>
            <a:r>
              <a:rPr lang="en-US" sz="1200" b="0" u="none" strike="noStrike" dirty="0" err="1">
                <a:solidFill>
                  <a:schemeClr val="dk1"/>
                </a:solidFill>
                <a:effectLst/>
                <a:uFillTx/>
                <a:latin typeface="DM Sans"/>
              </a:rPr>
              <a:t>taskId</a:t>
            </a:r>
            <a:r>
              <a:rPr lang="en-US" sz="1200" b="0" u="none" strike="noStrike" dirty="0">
                <a:solidFill>
                  <a:schemeClr val="dk1"/>
                </a:solidFill>
                <a:effectLst/>
                <a:uFillTx/>
                <a:latin typeface="DM Sans"/>
              </a:rPr>
              <a:t> </a:t>
            </a:r>
          </a:p>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Background execution </a:t>
            </a:r>
          </a:p>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Polling κα</a:t>
            </a:r>
            <a:r>
              <a:rPr lang="en-US" sz="1200" b="0" u="none" strike="noStrike" dirty="0" err="1">
                <a:solidFill>
                  <a:schemeClr val="dk1"/>
                </a:solidFill>
                <a:effectLst/>
                <a:uFillTx/>
                <a:latin typeface="DM Sans"/>
              </a:rPr>
              <a:t>τάστ</a:t>
            </a:r>
            <a:r>
              <a:rPr lang="en-US" sz="1200" b="0" u="none" strike="noStrike" dirty="0">
                <a:solidFill>
                  <a:schemeClr val="dk1"/>
                </a:solidFill>
                <a:effectLst/>
                <a:uFillTx/>
                <a:latin typeface="DM Sans"/>
              </a:rPr>
              <a:t>ασης</a:t>
            </a:r>
          </a:p>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Stop / cancel</a:t>
            </a:r>
            <a:endParaRPr lang="en-US" sz="1200" b="0" u="none" strike="noStrike" dirty="0">
              <a:solidFill>
                <a:srgbClr val="000000"/>
              </a:solidFill>
              <a:effectLst/>
              <a:uFillTx/>
              <a:latin typeface="OpenSymbol"/>
            </a:endParaRPr>
          </a:p>
        </p:txBody>
      </p:sp>
      <p:pic>
        <p:nvPicPr>
          <p:cNvPr id="302" name="image6988c665a7611" descr="image6988c665a7616"/>
          <p:cNvPicPr/>
          <p:nvPr/>
        </p:nvPicPr>
        <p:blipFill>
          <a:blip r:embed="rId3"/>
          <a:stretch/>
        </p:blipFill>
        <p:spPr>
          <a:xfrm>
            <a:off x="457200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714240" y="2381400"/>
            <a:ext cx="4343040"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5000" b="1" u="none" strike="noStrike">
                <a:solidFill>
                  <a:schemeClr val="dk1"/>
                </a:solidFill>
                <a:effectLst/>
                <a:uFillTx/>
                <a:latin typeface="Outfit"/>
                <a:ea typeface="Outfit"/>
              </a:rPr>
              <a:t>Τεχνικές Λεπτομέρειες Συστήματος</a:t>
            </a:r>
            <a:endParaRPr lang="fr-FR" sz="5000" b="0" u="none" strike="noStrike">
              <a:solidFill>
                <a:schemeClr val="dk1"/>
              </a:solidFill>
              <a:effectLst/>
              <a:uFillTx/>
              <a:latin typeface="Arial"/>
            </a:endParaRPr>
          </a:p>
        </p:txBody>
      </p:sp>
      <p:sp>
        <p:nvSpPr>
          <p:cNvPr id="304" name="PlaceHolder 2"/>
          <p:cNvSpPr>
            <a:spLocks noGrp="1"/>
          </p:cNvSpPr>
          <p:nvPr>
            <p:ph type="title"/>
          </p:nvPr>
        </p:nvSpPr>
        <p:spPr>
          <a:xfrm>
            <a:off x="714240" y="-910800"/>
            <a:ext cx="1266480" cy="5669640"/>
          </a:xfrm>
          <a:prstGeom prst="rect">
            <a:avLst/>
          </a:prstGeom>
          <a:noFill/>
          <a:ln w="0">
            <a:noFill/>
          </a:ln>
        </p:spPr>
        <p:txBody>
          <a:bodyPr lIns="91440" tIns="91440" rIns="91440" bIns="91440" anchor="ctr">
            <a:spAutoFit/>
          </a:bodyPr>
          <a:lstStyle/>
          <a:p>
            <a:pPr indent="0">
              <a:lnSpc>
                <a:spcPct val="100000"/>
              </a:lnSpc>
              <a:buNone/>
              <a:tabLst>
                <a:tab pos="0" algn="l"/>
              </a:tabLst>
            </a:pPr>
            <a:r>
              <a:rPr lang="en-US" sz="6000" b="0" u="none" strike="noStrike">
                <a:solidFill>
                  <a:schemeClr val="lt1"/>
                </a:solidFill>
                <a:effectLst/>
                <a:uFillTx/>
                <a:latin typeface="Calibri"/>
                <a:ea typeface="Outfit"/>
              </a:rPr>
              <a:t>02</a:t>
            </a:r>
            <a:endParaRPr lang="fr-FR" sz="6000" b="0" u="none" strike="noStrike">
              <a:solidFill>
                <a:schemeClr val="dk1"/>
              </a:solidFill>
              <a:effectLst/>
              <a:uFillTx/>
              <a:latin typeface="Arial"/>
            </a:endParaRPr>
          </a:p>
        </p:txBody>
      </p:sp>
      <p:sp>
        <p:nvSpPr>
          <p:cNvPr id="305" name="PlaceHolder 3"/>
          <p:cNvSpPr>
            <a:spLocks noGrp="1"/>
          </p:cNvSpPr>
          <p:nvPr>
            <p:ph type="subTitle"/>
          </p:nvPr>
        </p:nvSpPr>
        <p:spPr>
          <a:xfrm>
            <a:off x="714240" y="3295800"/>
            <a:ext cx="4343040" cy="371160"/>
          </a:xfrm>
          <a:prstGeom prst="rect">
            <a:avLst/>
          </a:prstGeom>
          <a:noFill/>
          <a:ln w="0">
            <a:noFill/>
          </a:ln>
        </p:spPr>
        <p:txBody>
          <a:bodyPr lIns="91440" tIns="91440" rIns="91440" bIns="91440" anchor="t">
            <a:normAutofit fontScale="92500" lnSpcReduction="19999"/>
          </a:bodyPr>
          <a:lstStyle/>
          <a:p>
            <a:pPr indent="0" algn="ctr">
              <a:buNone/>
            </a:pPr>
            <a:endParaRPr lang="en-US" sz="1600" b="0" u="none" strike="noStrike">
              <a:solidFill>
                <a:schemeClr val="dk1"/>
              </a:solidFill>
              <a:effectLst/>
              <a:uFillTx/>
              <a:latin typeface="DM Sans"/>
              <a:ea typeface="DM Sans"/>
            </a:endParaRPr>
          </a:p>
        </p:txBody>
      </p:sp>
      <p:grpSp>
        <p:nvGrpSpPr>
          <p:cNvPr id="306" name="Google Shape;432;p40"/>
          <p:cNvGrpSpPr/>
          <p:nvPr/>
        </p:nvGrpSpPr>
        <p:grpSpPr>
          <a:xfrm>
            <a:off x="5104800" y="-153360"/>
            <a:ext cx="4218480" cy="6000480"/>
            <a:chOff x="5104800" y="-153360"/>
            <a:chExt cx="4218480" cy="6000480"/>
          </a:xfrm>
        </p:grpSpPr>
        <p:sp>
          <p:nvSpPr>
            <p:cNvPr id="307" name="Google Shape;433;p40"/>
            <p:cNvSpPr/>
            <p:nvPr/>
          </p:nvSpPr>
          <p:spPr>
            <a:xfrm>
              <a:off x="707508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8" name="Google Shape;434;p40"/>
            <p:cNvSpPr/>
            <p:nvPr/>
          </p:nvSpPr>
          <p:spPr>
            <a:xfrm>
              <a:off x="70261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9" name="Google Shape;435;p40"/>
            <p:cNvSpPr/>
            <p:nvPr/>
          </p:nvSpPr>
          <p:spPr>
            <a:xfrm>
              <a:off x="66067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436;p40"/>
            <p:cNvSpPr/>
            <p:nvPr/>
          </p:nvSpPr>
          <p:spPr>
            <a:xfrm>
              <a:off x="6139080" y="13708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1" name="Google Shape;437;p40"/>
            <p:cNvSpPr/>
            <p:nvPr/>
          </p:nvSpPr>
          <p:spPr>
            <a:xfrm>
              <a:off x="5732280" y="874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2" name="Google Shape;438;p40"/>
            <p:cNvSpPr/>
            <p:nvPr/>
          </p:nvSpPr>
          <p:spPr>
            <a:xfrm>
              <a:off x="7480800" y="990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3" name="Google Shape;439;p40"/>
            <p:cNvSpPr/>
            <p:nvPr/>
          </p:nvSpPr>
          <p:spPr>
            <a:xfrm>
              <a:off x="707508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440;p40"/>
            <p:cNvSpPr/>
            <p:nvPr/>
          </p:nvSpPr>
          <p:spPr>
            <a:xfrm>
              <a:off x="7962480" y="1404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5" name="Google Shape;441;p40"/>
            <p:cNvSpPr/>
            <p:nvPr/>
          </p:nvSpPr>
          <p:spPr>
            <a:xfrm rot="10800000" flipH="1">
              <a:off x="6035760" y="3125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442;p40"/>
            <p:cNvSpPr/>
            <p:nvPr/>
          </p:nvSpPr>
          <p:spPr>
            <a:xfrm rot="10800000" flipH="1">
              <a:off x="6354720" y="41025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7" name="Google Shape;443;p40"/>
            <p:cNvSpPr/>
            <p:nvPr/>
          </p:nvSpPr>
          <p:spPr>
            <a:xfrm rot="10800000" flipH="1">
              <a:off x="5731920" y="4879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8" name="Google Shape;444;p40"/>
            <p:cNvSpPr/>
            <p:nvPr/>
          </p:nvSpPr>
          <p:spPr>
            <a:xfrm rot="10800000" flipH="1">
              <a:off x="6682680" y="3515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9" name="Google Shape;445;p40"/>
            <p:cNvSpPr/>
            <p:nvPr/>
          </p:nvSpPr>
          <p:spPr>
            <a:xfrm rot="10800000" flipH="1">
              <a:off x="5104440" y="4434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0" name="Google Shape;446;p40"/>
            <p:cNvSpPr/>
            <p:nvPr/>
          </p:nvSpPr>
          <p:spPr>
            <a:xfrm>
              <a:off x="8484840" y="2438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1" name="Google Shape;447;p40"/>
            <p:cNvSpPr/>
            <p:nvPr/>
          </p:nvSpPr>
          <p:spPr>
            <a:xfrm>
              <a:off x="8038440" y="2921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2" name="Google Shape;448;p40"/>
            <p:cNvSpPr/>
            <p:nvPr/>
          </p:nvSpPr>
          <p:spPr>
            <a:xfrm rot="10800000" flipH="1">
              <a:off x="7853040" y="3962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3" name="Google Shape;449;p40"/>
            <p:cNvSpPr/>
            <p:nvPr/>
          </p:nvSpPr>
          <p:spPr>
            <a:xfrm rot="10800000" flipH="1">
              <a:off x="8260920" y="4434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324" name="Google Shape;450;p40"/>
          <p:cNvCxnSpPr/>
          <p:nvPr/>
        </p:nvCxnSpPr>
        <p:spPr>
          <a:xfrm>
            <a:off x="840960" y="1385640"/>
            <a:ext cx="374040" cy="360"/>
          </a:xfrm>
          <a:prstGeom prst="straightConnector1">
            <a:avLst/>
          </a:prstGeom>
          <a:ln w="19050">
            <a:solidFill>
              <a:srgbClr val="384655"/>
            </a:solidFill>
            <a:roun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Rectangle 324"/>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62500" lnSpcReduction="20000"/>
          </a:bodyPr>
          <a:lstStyle/>
          <a:p>
            <a:pPr defTabSz="914400">
              <a:lnSpc>
                <a:spcPct val="100000"/>
              </a:lnSpc>
              <a:tabLst>
                <a:tab pos="0" algn="l"/>
              </a:tabLst>
            </a:pPr>
            <a:r>
              <a:rPr lang="en-US" sz="3500" b="1" u="none" strike="noStrike" dirty="0" err="1">
                <a:solidFill>
                  <a:schemeClr val="dk1"/>
                </a:solidFill>
                <a:effectLst/>
                <a:uFillTx/>
                <a:latin typeface="Outfit"/>
              </a:rPr>
              <a:t>Δοχειο</a:t>
            </a:r>
            <a:r>
              <a:rPr lang="en-US" sz="3500" b="1" u="none" strike="noStrike" dirty="0">
                <a:solidFill>
                  <a:schemeClr val="dk1"/>
                </a:solidFill>
                <a:effectLst/>
                <a:uFillTx/>
                <a:latin typeface="Outfit"/>
              </a:rPr>
              <a:t>ποίηση &amp; ενορχήστρωση (Docker &amp; Kubernetes)</a:t>
            </a:r>
            <a:endParaRPr lang="en-US" sz="3500" b="0" u="none" strike="noStrike" dirty="0">
              <a:solidFill>
                <a:srgbClr val="000000"/>
              </a:solidFill>
              <a:effectLst/>
              <a:uFillTx/>
              <a:latin typeface="OpenSymbol"/>
            </a:endParaRPr>
          </a:p>
        </p:txBody>
      </p:sp>
      <p:sp>
        <p:nvSpPr>
          <p:cNvPr id="326" name="Rectangle 325"/>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u="none" strike="noStrike" dirty="0">
                <a:solidFill>
                  <a:schemeClr val="dk1"/>
                </a:solidFill>
                <a:effectLst/>
                <a:uFillTx/>
                <a:latin typeface="DM Sans"/>
              </a:rPr>
              <a:t>Η </a:t>
            </a:r>
            <a:r>
              <a:rPr lang="en-US" sz="1200" b="0" u="none" strike="noStrike" dirty="0" err="1">
                <a:solidFill>
                  <a:schemeClr val="dk1"/>
                </a:solidFill>
                <a:effectLst/>
                <a:uFillTx/>
                <a:latin typeface="DM Sans"/>
              </a:rPr>
              <a:t>χρήση</a:t>
            </a:r>
            <a:r>
              <a:rPr lang="en-US" sz="1200" b="0" u="none" strike="noStrike" dirty="0">
                <a:solidFill>
                  <a:schemeClr val="dk1"/>
                </a:solidFill>
                <a:effectLst/>
                <a:uFillTx/>
                <a:latin typeface="DM Sans"/>
              </a:rPr>
              <a:t> </a:t>
            </a:r>
            <a:r>
              <a:rPr lang="en-US" sz="1200" b="0" u="none" strike="noStrike" dirty="0" err="1">
                <a:solidFill>
                  <a:schemeClr val="dk1"/>
                </a:solidFill>
                <a:effectLst/>
                <a:uFillTx/>
                <a:latin typeface="DM Sans"/>
              </a:rPr>
              <a:t>της</a:t>
            </a:r>
            <a:r>
              <a:rPr lang="en-US" sz="1200" b="0" u="none" strike="noStrike" dirty="0">
                <a:solidFill>
                  <a:schemeClr val="dk1"/>
                </a:solidFill>
                <a:effectLst/>
                <a:uFillTx/>
                <a:latin typeface="DM Sans"/>
              </a:rPr>
              <a:t> </a:t>
            </a:r>
            <a:r>
              <a:rPr lang="en-US" sz="1200" b="0" u="none" strike="noStrike" dirty="0" err="1">
                <a:solidFill>
                  <a:schemeClr val="dk1"/>
                </a:solidFill>
                <a:effectLst/>
                <a:uFillTx/>
                <a:latin typeface="DM Sans"/>
              </a:rPr>
              <a:t>δοχειο</a:t>
            </a:r>
            <a:r>
              <a:rPr lang="en-US" sz="1200" b="0" u="none" strike="noStrike" dirty="0">
                <a:solidFill>
                  <a:schemeClr val="dk1"/>
                </a:solidFill>
                <a:effectLst/>
                <a:uFillTx/>
                <a:latin typeface="DM Sans"/>
              </a:rPr>
              <a:t>ποίησης με Docker εξασφαλίζει φορητότητα και συνεπή περιβάλλοντα ανάπτυξης. Η </a:t>
            </a:r>
            <a:r>
              <a:rPr lang="en-US" sz="1200" b="0" u="none" strike="noStrike" dirty="0" err="1">
                <a:solidFill>
                  <a:schemeClr val="dk1"/>
                </a:solidFill>
                <a:effectLst/>
                <a:uFillTx/>
                <a:latin typeface="DM Sans"/>
              </a:rPr>
              <a:t>ενορχήστρωση</a:t>
            </a:r>
            <a:r>
              <a:rPr lang="en-US" sz="1200" b="0" u="none" strike="noStrike" dirty="0">
                <a:solidFill>
                  <a:schemeClr val="dk1"/>
                </a:solidFill>
                <a:effectLst/>
                <a:uFillTx/>
                <a:latin typeface="DM Sans"/>
              </a:rPr>
              <a:t> </a:t>
            </a:r>
            <a:r>
              <a:rPr lang="en-US" sz="1200" b="0" u="none" strike="noStrike" dirty="0" err="1">
                <a:solidFill>
                  <a:schemeClr val="dk1"/>
                </a:solidFill>
                <a:effectLst/>
                <a:uFillTx/>
                <a:latin typeface="DM Sans"/>
              </a:rPr>
              <a:t>με</a:t>
            </a:r>
            <a:r>
              <a:rPr lang="en-US" sz="1200" b="0" u="none" strike="noStrike" dirty="0">
                <a:solidFill>
                  <a:schemeClr val="dk1"/>
                </a:solidFill>
                <a:effectLst/>
                <a:uFillTx/>
                <a:latin typeface="DM Sans"/>
              </a:rPr>
              <a:t> Kubernetes </a:t>
            </a:r>
            <a:r>
              <a:rPr lang="en-US" sz="1200" b="0" u="none" strike="noStrike" dirty="0" err="1">
                <a:solidFill>
                  <a:schemeClr val="dk1"/>
                </a:solidFill>
                <a:effectLst/>
                <a:uFillTx/>
                <a:latin typeface="DM Sans"/>
              </a:rPr>
              <a:t>δι</a:t>
            </a:r>
            <a:r>
              <a:rPr lang="en-US" sz="1200" b="0" u="none" strike="noStrike" dirty="0">
                <a:solidFill>
                  <a:schemeClr val="dk1"/>
                </a:solidFill>
                <a:effectLst/>
                <a:uFillTx/>
                <a:latin typeface="DM Sans"/>
              </a:rPr>
              <a:t>αχειρίζεται την κλιμάκωση και την αυτοΐαση των κοντέινερ, προσφέροντας αξιοπιστία και ευελιξία στη διαχείριση της εφαρμογής cloud-based μηχανικής μάθησης.</a:t>
            </a:r>
            <a:endParaRPr lang="en-US" sz="1200" b="0" u="none" strike="noStrike" dirty="0">
              <a:solidFill>
                <a:srgbClr val="000000"/>
              </a:solidFill>
              <a:effectLst/>
              <a:uFillTx/>
              <a:latin typeface="OpenSymbol"/>
            </a:endParaRPr>
          </a:p>
        </p:txBody>
      </p:sp>
      <p:pic>
        <p:nvPicPr>
          <p:cNvPr id="327" name="image6988c665b7d32" descr="image6988c665b7d36"/>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Rectangle 327"/>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a:tabLst>
                <a:tab pos="0" algn="l"/>
              </a:tabLst>
            </a:pPr>
            <a:r>
              <a:rPr lang="en-US" sz="3600" dirty="0"/>
              <a:t>Container Runtime Abstraction</a:t>
            </a:r>
            <a:endParaRPr lang="en-US" sz="3500" b="0" u="none" strike="noStrike" dirty="0">
              <a:solidFill>
                <a:srgbClr val="000000"/>
              </a:solidFill>
              <a:effectLst/>
              <a:uFillTx/>
              <a:latin typeface="OpenSymbol"/>
            </a:endParaRPr>
          </a:p>
        </p:txBody>
      </p:sp>
      <p:sp>
        <p:nvSpPr>
          <p:cNvPr id="329" name="Rectangle 328"/>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err="1">
                <a:solidFill>
                  <a:srgbClr val="000000"/>
                </a:solidFill>
                <a:effectLst/>
                <a:uFillTx/>
                <a:latin typeface="OpenSymbol"/>
              </a:rPr>
              <a:t>ContainerRunner</a:t>
            </a:r>
            <a:r>
              <a:rPr lang="en-US" sz="1200" b="0" u="none" strike="noStrike" dirty="0">
                <a:solidFill>
                  <a:srgbClr val="000000"/>
                </a:solidFill>
                <a:effectLst/>
                <a:uFillTx/>
                <a:latin typeface="OpenSymbol"/>
              </a:rPr>
              <a:t> interface </a:t>
            </a:r>
          </a:p>
          <a:p>
            <a:pPr marL="171450" indent="-171450" algn="just">
              <a:lnSpc>
                <a:spcPct val="150000"/>
              </a:lnSpc>
              <a:buFont typeface="Arial" panose="020B0604020202020204" pitchFamily="34" charset="0"/>
              <a:buChar char="•"/>
              <a:tabLst>
                <a:tab pos="0" algn="l"/>
              </a:tabLst>
            </a:pPr>
            <a:r>
              <a:rPr lang="en-US" sz="1200" b="0" u="none" strike="noStrike" dirty="0" err="1">
                <a:solidFill>
                  <a:srgbClr val="000000"/>
                </a:solidFill>
                <a:effectLst/>
                <a:uFillTx/>
                <a:latin typeface="OpenSymbol"/>
              </a:rPr>
              <a:t>DockerContainerRunner</a:t>
            </a:r>
            <a:r>
              <a:rPr lang="en-US" sz="1200" b="0" u="none" strike="noStrike" dirty="0">
                <a:solidFill>
                  <a:srgbClr val="000000"/>
                </a:solidFill>
                <a:effectLst/>
                <a:uFillTx/>
                <a:latin typeface="OpenSymbol"/>
              </a:rPr>
              <a:t> </a:t>
            </a:r>
          </a:p>
          <a:p>
            <a:pPr marL="171450" indent="-171450" algn="just">
              <a:lnSpc>
                <a:spcPct val="150000"/>
              </a:lnSpc>
              <a:buFont typeface="Arial" panose="020B0604020202020204" pitchFamily="34" charset="0"/>
              <a:buChar char="•"/>
              <a:tabLst>
                <a:tab pos="0" algn="l"/>
              </a:tabLst>
            </a:pPr>
            <a:r>
              <a:rPr lang="en-US" sz="1200" b="0" u="none" strike="noStrike" dirty="0" err="1">
                <a:solidFill>
                  <a:srgbClr val="000000"/>
                </a:solidFill>
                <a:effectLst/>
                <a:uFillTx/>
                <a:latin typeface="OpenSymbol"/>
              </a:rPr>
              <a:t>KubernetesJobRunner</a:t>
            </a:r>
            <a:r>
              <a:rPr lang="en-US" sz="1200" b="0" u="none" strike="noStrike" dirty="0">
                <a:solidFill>
                  <a:srgbClr val="000000"/>
                </a:solidFill>
                <a:effectLst/>
                <a:uFillTx/>
                <a:latin typeface="OpenSymbol"/>
              </a:rPr>
              <a:t> </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Strategy Pattern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5960-C3D8-E526-49E0-4998F31C8A82}"/>
            </a:ext>
          </a:extLst>
        </p:cNvPr>
        <p:cNvGrpSpPr/>
        <p:nvPr/>
      </p:nvGrpSpPr>
      <p:grpSpPr>
        <a:xfrm>
          <a:off x="0" y="0"/>
          <a:ext cx="0" cy="0"/>
          <a:chOff x="0" y="0"/>
          <a:chExt cx="0" cy="0"/>
        </a:xfrm>
      </p:grpSpPr>
      <p:sp>
        <p:nvSpPr>
          <p:cNvPr id="328" name="Rectangle 327">
            <a:extLst>
              <a:ext uri="{FF2B5EF4-FFF2-40B4-BE49-F238E27FC236}">
                <a16:creationId xmlns:a16="http://schemas.microsoft.com/office/drawing/2014/main" id="{6D55F91C-3B0A-5E3A-F6F4-0D907A3C7A9F}"/>
              </a:ext>
            </a:extLst>
          </p:cNvPr>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tabLst>
                <a:tab pos="0" algn="l"/>
              </a:tabLst>
            </a:pPr>
            <a:r>
              <a:rPr lang="el-GR" sz="3600" dirty="0"/>
              <a:t>Υποσύστημα Προκαθορισμένων Αλγορίθμων (</a:t>
            </a:r>
            <a:r>
              <a:rPr lang="en-US" sz="3600" dirty="0"/>
              <a:t>Weka)</a:t>
            </a:r>
            <a:endParaRPr lang="en-US" sz="3500" b="0" u="none" strike="noStrike" dirty="0">
              <a:solidFill>
                <a:srgbClr val="000000"/>
              </a:solidFill>
              <a:effectLst/>
              <a:uFillTx/>
              <a:latin typeface="OpenSymbol"/>
            </a:endParaRPr>
          </a:p>
        </p:txBody>
      </p:sp>
      <p:sp>
        <p:nvSpPr>
          <p:cNvPr id="329" name="Rectangle 328">
            <a:extLst>
              <a:ext uri="{FF2B5EF4-FFF2-40B4-BE49-F238E27FC236}">
                <a16:creationId xmlns:a16="http://schemas.microsoft.com/office/drawing/2014/main" id="{AB78DAEE-DD8F-5162-FEEA-B419D5288A5E}"/>
              </a:ext>
            </a:extLst>
          </p:cNvPr>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endParaRPr lang="en-US" sz="1200" b="0" u="none" strike="noStrike" dirty="0">
              <a:solidFill>
                <a:srgbClr val="000000"/>
              </a:solidFill>
              <a:effectLst/>
              <a:uFillTx/>
              <a:latin typeface="OpenSymbol"/>
            </a:endParaRPr>
          </a:p>
        </p:txBody>
      </p:sp>
      <p:sp>
        <p:nvSpPr>
          <p:cNvPr id="3" name="TextBox 2">
            <a:extLst>
              <a:ext uri="{FF2B5EF4-FFF2-40B4-BE49-F238E27FC236}">
                <a16:creationId xmlns:a16="http://schemas.microsoft.com/office/drawing/2014/main" id="{8D20A266-D137-E629-A1A1-052F307452BC}"/>
              </a:ext>
            </a:extLst>
          </p:cNvPr>
          <p:cNvSpPr txBox="1"/>
          <p:nvPr/>
        </p:nvSpPr>
        <p:spPr>
          <a:xfrm>
            <a:off x="476280" y="1428480"/>
            <a:ext cx="8086695" cy="2308324"/>
          </a:xfrm>
          <a:prstGeom prst="rect">
            <a:avLst/>
          </a:prstGeom>
          <a:noFill/>
        </p:spPr>
        <p:txBody>
          <a:bodyPr wrap="square">
            <a:spAutoFit/>
          </a:bodyPr>
          <a:lstStyle/>
          <a:p>
            <a:pPr marL="285750" indent="-285750">
              <a:buFont typeface="Arial" panose="020B0604020202020204" pitchFamily="34" charset="0"/>
              <a:buChar char="•"/>
            </a:pPr>
            <a:r>
              <a:rPr lang="en-US" dirty="0"/>
              <a:t>Weka Integration: </a:t>
            </a:r>
            <a:r>
              <a:rPr lang="el-GR" dirty="0"/>
              <a:t>Χρήση της βιβλιοθήκης </a:t>
            </a:r>
            <a:r>
              <a:rPr lang="en-US" dirty="0"/>
              <a:t>Weka 3.8.</a:t>
            </a:r>
          </a:p>
          <a:p>
            <a:pPr marL="285750" indent="-285750">
              <a:buFont typeface="Arial" panose="020B0604020202020204" pitchFamily="34" charset="0"/>
              <a:buChar char="•"/>
            </a:pPr>
            <a:r>
              <a:rPr lang="en-US" dirty="0"/>
              <a:t>Containerized Service: </a:t>
            </a:r>
            <a:r>
              <a:rPr lang="el-GR" dirty="0"/>
              <a:t>Η </a:t>
            </a:r>
            <a:r>
              <a:rPr lang="en-US" dirty="0"/>
              <a:t>Weka </a:t>
            </a:r>
            <a:r>
              <a:rPr lang="el-GR" dirty="0"/>
              <a:t>τρέχει σε ξεχωριστό </a:t>
            </a:r>
            <a:r>
              <a:rPr lang="en-US" dirty="0"/>
              <a:t>container, </a:t>
            </a:r>
            <a:r>
              <a:rPr lang="el-GR" dirty="0"/>
              <a:t>όχι μέσα στο </a:t>
            </a:r>
            <a:r>
              <a:rPr lang="en-US" dirty="0"/>
              <a:t>Backend.</a:t>
            </a:r>
          </a:p>
          <a:p>
            <a:pPr marL="285750" indent="-285750">
              <a:buFont typeface="Arial" panose="020B0604020202020204" pitchFamily="34" charset="0"/>
              <a:buChar char="•"/>
            </a:pPr>
            <a:r>
              <a:rPr lang="el-GR" dirty="0"/>
              <a:t>Λειτουργία:</a:t>
            </a:r>
          </a:p>
          <a:p>
            <a:pPr marL="742950" lvl="1" indent="-285750">
              <a:buFont typeface="Courier New" panose="02070309020205020404" pitchFamily="49" charset="0"/>
              <a:buChar char="o"/>
            </a:pPr>
            <a:r>
              <a:rPr lang="el-GR" dirty="0"/>
              <a:t>Υποστήριξη </a:t>
            </a:r>
            <a:r>
              <a:rPr lang="en-US" dirty="0"/>
              <a:t>Classification, Regression, Clustering.</a:t>
            </a:r>
          </a:p>
          <a:p>
            <a:pPr marL="742950" lvl="1" indent="-285750">
              <a:buFont typeface="Courier New" panose="02070309020205020404" pitchFamily="49" charset="0"/>
              <a:buChar char="o"/>
            </a:pPr>
            <a:r>
              <a:rPr lang="el-GR" dirty="0"/>
              <a:t>Αυτόματη μετατροπή </a:t>
            </a:r>
            <a:r>
              <a:rPr lang="en-US" dirty="0"/>
              <a:t>CSV -&gt; ARFF.</a:t>
            </a:r>
          </a:p>
          <a:p>
            <a:pPr marL="285750" indent="-285750">
              <a:buFont typeface="Arial" panose="020B0604020202020204" pitchFamily="34" charset="0"/>
              <a:buChar char="•"/>
            </a:pPr>
            <a:r>
              <a:rPr lang="el-GR" dirty="0"/>
              <a:t>Σκοπός: Ασφάλεια μνήμης (</a:t>
            </a:r>
            <a:r>
              <a:rPr lang="en-US" dirty="0"/>
              <a:t>Memory Safety) </a:t>
            </a:r>
            <a:r>
              <a:rPr lang="el-GR" dirty="0"/>
              <a:t>για το κύριο </a:t>
            </a:r>
            <a:r>
              <a:rPr lang="en-US" dirty="0"/>
              <a:t>API.</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801026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Rectangle 329"/>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lgn="ctr">
              <a:tabLst>
                <a:tab pos="0" algn="l"/>
              </a:tabLst>
            </a:pPr>
            <a:r>
              <a:rPr lang="el-GR" sz="3600" dirty="0"/>
              <a:t>Υποσύστημα Προσαρμοσμένων Αλγορίθμων (</a:t>
            </a:r>
            <a:r>
              <a:rPr lang="el-GR" sz="3600" dirty="0" err="1"/>
              <a:t>Custom</a:t>
            </a:r>
            <a:r>
              <a:rPr lang="el-GR" sz="3600" dirty="0"/>
              <a:t> </a:t>
            </a:r>
            <a:r>
              <a:rPr lang="el-GR" sz="3600" dirty="0" err="1"/>
              <a:t>Algos</a:t>
            </a:r>
            <a:r>
              <a:rPr lang="el-GR" sz="3600" dirty="0"/>
              <a:t>)</a:t>
            </a:r>
            <a:endParaRPr lang="en-US" sz="3500" b="0" u="none" strike="noStrike" dirty="0">
              <a:solidFill>
                <a:srgbClr val="000000"/>
              </a:solidFill>
              <a:effectLst/>
              <a:uFillTx/>
              <a:latin typeface="OpenSymbol"/>
            </a:endParaRPr>
          </a:p>
        </p:txBody>
      </p:sp>
      <p:sp>
        <p:nvSpPr>
          <p:cNvPr id="331" name="Rectangle 330"/>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Bring Your Own Container (BYOC): </a:t>
            </a:r>
            <a:r>
              <a:rPr lang="el-GR" sz="1200" b="0" u="none" strike="noStrike" dirty="0">
                <a:solidFill>
                  <a:srgbClr val="000000"/>
                </a:solidFill>
                <a:effectLst/>
                <a:uFillTx/>
                <a:latin typeface="OpenSymbol"/>
              </a:rPr>
              <a:t>Ο χρήστης παρέχει </a:t>
            </a:r>
            <a:r>
              <a:rPr lang="en-US" sz="1200" b="0" u="none" strike="noStrike" dirty="0">
                <a:solidFill>
                  <a:srgbClr val="000000"/>
                </a:solidFill>
                <a:effectLst/>
                <a:uFillTx/>
                <a:latin typeface="OpenSymbol"/>
              </a:rPr>
              <a:t>Docker Image.</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Template Injection: </a:t>
            </a:r>
            <a:r>
              <a:rPr lang="el-GR" sz="1200" b="0" u="none" strike="noStrike" dirty="0">
                <a:solidFill>
                  <a:srgbClr val="000000"/>
                </a:solidFill>
                <a:effectLst/>
                <a:uFillTx/>
                <a:latin typeface="OpenSymbol"/>
              </a:rPr>
              <a:t>Το σύστημα εισάγει δυναμικά τα </a:t>
            </a:r>
            <a:r>
              <a:rPr lang="en-US" sz="1200" b="0" u="none" strike="noStrike" dirty="0">
                <a:solidFill>
                  <a:srgbClr val="000000"/>
                </a:solidFill>
                <a:effectLst/>
                <a:uFillTx/>
                <a:latin typeface="OpenSymbol"/>
              </a:rPr>
              <a:t>scripts train.py / predict.py.</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Standardized I/O: </a:t>
            </a:r>
            <a:r>
              <a:rPr lang="el-GR" sz="1200" b="0" u="none" strike="noStrike" dirty="0">
                <a:solidFill>
                  <a:srgbClr val="000000"/>
                </a:solidFill>
                <a:effectLst/>
                <a:uFillTx/>
                <a:latin typeface="OpenSymbol"/>
              </a:rPr>
              <a:t>Επικοινωνία μέσω </a:t>
            </a:r>
            <a:r>
              <a:rPr lang="en-US" sz="1200" b="0" u="none" strike="noStrike" dirty="0">
                <a:solidFill>
                  <a:srgbClr val="000000"/>
                </a:solidFill>
                <a:effectLst/>
                <a:uFillTx/>
                <a:latin typeface="OpenSymbol"/>
              </a:rPr>
              <a:t>JSON </a:t>
            </a:r>
            <a:r>
              <a:rPr lang="el-GR" sz="1200" b="0" u="none" strike="noStrike" dirty="0">
                <a:solidFill>
                  <a:srgbClr val="000000"/>
                </a:solidFill>
                <a:effectLst/>
                <a:uFillTx/>
                <a:latin typeface="OpenSymbol"/>
              </a:rPr>
              <a:t>αρχείων (</a:t>
            </a:r>
            <a:r>
              <a:rPr lang="en-US" sz="1200" b="0" u="none" strike="noStrike" dirty="0" err="1">
                <a:solidFill>
                  <a:srgbClr val="000000"/>
                </a:solidFill>
                <a:effectLst/>
                <a:uFillTx/>
                <a:latin typeface="OpenSymbol"/>
              </a:rPr>
              <a:t>params.json</a:t>
            </a:r>
            <a:r>
              <a:rPr lang="en-US" sz="1200" b="0" u="none" strike="noStrike" dirty="0">
                <a:solidFill>
                  <a:srgbClr val="000000"/>
                </a:solidFill>
                <a:effectLst/>
                <a:uFillTx/>
                <a:latin typeface="OpenSymbol"/>
              </a:rPr>
              <a:t>, </a:t>
            </a:r>
            <a:r>
              <a:rPr lang="en-US" sz="1200" b="0" u="none" strike="noStrike" dirty="0" err="1">
                <a:solidFill>
                  <a:srgbClr val="000000"/>
                </a:solidFill>
                <a:effectLst/>
                <a:uFillTx/>
                <a:latin typeface="OpenSymbol"/>
              </a:rPr>
              <a:t>metrics.json</a:t>
            </a:r>
            <a:r>
              <a:rPr lang="en-US" sz="1200" b="0" u="none" strike="noStrike" dirty="0">
                <a:solidFill>
                  <a:srgbClr val="000000"/>
                </a:solidFill>
                <a:effectLst/>
                <a:uFillTx/>
                <a:latin typeface="OpenSymbol"/>
              </a:rPr>
              <a:t>).</a:t>
            </a:r>
          </a:p>
          <a:p>
            <a:pPr marL="171450" indent="-171450" algn="just">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Ευελιξία: Υποστήριξη </a:t>
            </a:r>
            <a:r>
              <a:rPr lang="en-US" sz="1200" b="0" u="none" strike="noStrike" dirty="0">
                <a:solidFill>
                  <a:srgbClr val="000000"/>
                </a:solidFill>
                <a:effectLst/>
                <a:uFillTx/>
                <a:latin typeface="OpenSymbol"/>
              </a:rPr>
              <a:t>TensorFlow, </a:t>
            </a:r>
            <a:r>
              <a:rPr lang="en-US" sz="1200" b="0" u="none" strike="noStrike" dirty="0" err="1">
                <a:solidFill>
                  <a:srgbClr val="000000"/>
                </a:solidFill>
                <a:effectLst/>
                <a:uFillTx/>
                <a:latin typeface="OpenSymbol"/>
              </a:rPr>
              <a:t>PyTorch</a:t>
            </a:r>
            <a:r>
              <a:rPr lang="en-US" sz="1200" b="0" u="none" strike="noStrike" dirty="0">
                <a:solidFill>
                  <a:srgbClr val="000000"/>
                </a:solidFill>
                <a:effectLst/>
                <a:uFillTx/>
                <a:latin typeface="OpenSymbol"/>
              </a:rPr>
              <a:t>, Scikit-learn, </a:t>
            </a:r>
            <a:r>
              <a:rPr lang="el-GR" sz="1200" b="0" u="none" strike="noStrike" dirty="0">
                <a:solidFill>
                  <a:srgbClr val="000000"/>
                </a:solidFill>
                <a:effectLst/>
                <a:uFillTx/>
                <a:latin typeface="OpenSymbol"/>
              </a:rPr>
              <a:t>κ.α.</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7826D-3506-842F-D6D0-73156296CC97}"/>
            </a:ext>
          </a:extLst>
        </p:cNvPr>
        <p:cNvGrpSpPr/>
        <p:nvPr/>
      </p:nvGrpSpPr>
      <p:grpSpPr>
        <a:xfrm>
          <a:off x="0" y="0"/>
          <a:ext cx="0" cy="0"/>
          <a:chOff x="0" y="0"/>
          <a:chExt cx="0" cy="0"/>
        </a:xfrm>
      </p:grpSpPr>
      <p:sp>
        <p:nvSpPr>
          <p:cNvPr id="330" name="Rectangle 329">
            <a:extLst>
              <a:ext uri="{FF2B5EF4-FFF2-40B4-BE49-F238E27FC236}">
                <a16:creationId xmlns:a16="http://schemas.microsoft.com/office/drawing/2014/main" id="{B9D11397-2031-AA00-8CB0-72665DE77097}"/>
              </a:ext>
            </a:extLst>
          </p:cNvPr>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lgn="ctr">
              <a:tabLst>
                <a:tab pos="0" algn="l"/>
              </a:tabLst>
            </a:pPr>
            <a:r>
              <a:rPr lang="el-GR" sz="3600" dirty="0"/>
              <a:t>Ροή Εκτέλεσης: Εκπαίδευση (</a:t>
            </a:r>
            <a:r>
              <a:rPr lang="el-GR" sz="3600" dirty="0" err="1"/>
              <a:t>Training</a:t>
            </a:r>
            <a:r>
              <a:rPr lang="el-GR" sz="3600" dirty="0"/>
              <a:t> </a:t>
            </a:r>
            <a:r>
              <a:rPr lang="el-GR" sz="3600" dirty="0" err="1"/>
              <a:t>Flow</a:t>
            </a:r>
            <a:r>
              <a:rPr lang="el-GR" sz="3600" dirty="0"/>
              <a:t>)</a:t>
            </a:r>
            <a:endParaRPr lang="en-US" sz="3500" b="0" u="none" strike="noStrike" dirty="0">
              <a:solidFill>
                <a:srgbClr val="000000"/>
              </a:solidFill>
              <a:effectLst/>
              <a:uFillTx/>
              <a:latin typeface="OpenSymbol"/>
            </a:endParaRPr>
          </a:p>
        </p:txBody>
      </p:sp>
      <p:sp>
        <p:nvSpPr>
          <p:cNvPr id="331" name="Rectangle 330">
            <a:extLst>
              <a:ext uri="{FF2B5EF4-FFF2-40B4-BE49-F238E27FC236}">
                <a16:creationId xmlns:a16="http://schemas.microsoft.com/office/drawing/2014/main" id="{0316061B-355D-27F8-F7B1-EB338E3B2FCC}"/>
              </a:ext>
            </a:extLst>
          </p:cNvPr>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Prep: </a:t>
            </a:r>
            <a:r>
              <a:rPr lang="el-GR" sz="1200" b="0" u="none" strike="noStrike" dirty="0">
                <a:solidFill>
                  <a:schemeClr val="dk1"/>
                </a:solidFill>
                <a:effectLst/>
                <a:uFillTx/>
                <a:latin typeface="DM Sans"/>
              </a:rPr>
              <a:t>Το </a:t>
            </a:r>
            <a:r>
              <a:rPr lang="en-US" sz="1200" b="0" u="none" strike="noStrike" dirty="0">
                <a:solidFill>
                  <a:schemeClr val="dk1"/>
                </a:solidFill>
                <a:effectLst/>
                <a:uFillTx/>
                <a:latin typeface="DM Sans"/>
              </a:rPr>
              <a:t>Backend </a:t>
            </a:r>
            <a:r>
              <a:rPr lang="el-GR" sz="1200" b="0" u="none" strike="noStrike" dirty="0">
                <a:solidFill>
                  <a:schemeClr val="dk1"/>
                </a:solidFill>
                <a:effectLst/>
                <a:uFillTx/>
                <a:latin typeface="DM Sans"/>
              </a:rPr>
              <a:t>κατεβάζει το </a:t>
            </a:r>
            <a:r>
              <a:rPr lang="en-US" sz="1200" b="0" u="none" strike="noStrike" dirty="0">
                <a:solidFill>
                  <a:schemeClr val="dk1"/>
                </a:solidFill>
                <a:effectLst/>
                <a:uFillTx/>
                <a:latin typeface="DM Sans"/>
              </a:rPr>
              <a:t>Dataset </a:t>
            </a:r>
            <a:r>
              <a:rPr lang="el-GR" sz="1200" b="0" u="none" strike="noStrike" dirty="0">
                <a:solidFill>
                  <a:schemeClr val="dk1"/>
                </a:solidFill>
                <a:effectLst/>
                <a:uFillTx/>
                <a:latin typeface="DM Sans"/>
              </a:rPr>
              <a:t>από </a:t>
            </a:r>
            <a:r>
              <a:rPr lang="en-US" sz="1200" b="0" u="none" strike="noStrike" dirty="0" err="1">
                <a:solidFill>
                  <a:schemeClr val="dk1"/>
                </a:solidFill>
                <a:effectLst/>
                <a:uFillTx/>
                <a:latin typeface="DM Sans"/>
              </a:rPr>
              <a:t>MinIO</a:t>
            </a:r>
            <a:r>
              <a:rPr lang="en-US" sz="1200" b="0" u="none" strike="noStrike" dirty="0">
                <a:solidFill>
                  <a:schemeClr val="dk1"/>
                </a:solidFill>
                <a:effectLst/>
                <a:uFillTx/>
                <a:latin typeface="DM Sans"/>
              </a:rPr>
              <a:t> </a:t>
            </a:r>
            <a:r>
              <a:rPr lang="el-GR" sz="1200" b="0" u="none" strike="noStrike" dirty="0">
                <a:solidFill>
                  <a:schemeClr val="dk1"/>
                </a:solidFill>
                <a:effectLst/>
                <a:uFillTx/>
                <a:latin typeface="DM Sans"/>
              </a:rPr>
              <a:t>σε </a:t>
            </a:r>
            <a:r>
              <a:rPr lang="en-US" sz="1200" b="0" u="none" strike="noStrike" dirty="0">
                <a:solidFill>
                  <a:schemeClr val="dk1"/>
                </a:solidFill>
                <a:effectLst/>
                <a:uFillTx/>
                <a:latin typeface="DM Sans"/>
              </a:rPr>
              <a:t>Shared Volume.</a:t>
            </a:r>
          </a:p>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Launch: </a:t>
            </a:r>
            <a:r>
              <a:rPr lang="el-GR" sz="1200" b="0" u="none" strike="noStrike" dirty="0">
                <a:solidFill>
                  <a:schemeClr val="dk1"/>
                </a:solidFill>
                <a:effectLst/>
                <a:uFillTx/>
                <a:latin typeface="DM Sans"/>
              </a:rPr>
              <a:t>Εκκίνηση </a:t>
            </a:r>
            <a:r>
              <a:rPr lang="en-US" sz="1200" b="0" u="none" strike="noStrike" dirty="0">
                <a:solidFill>
                  <a:schemeClr val="dk1"/>
                </a:solidFill>
                <a:effectLst/>
                <a:uFillTx/>
                <a:latin typeface="DM Sans"/>
              </a:rPr>
              <a:t>Kubernetes Job </a:t>
            </a:r>
            <a:r>
              <a:rPr lang="el-GR" sz="1200" b="0" u="none" strike="noStrike" dirty="0">
                <a:solidFill>
                  <a:schemeClr val="dk1"/>
                </a:solidFill>
                <a:effectLst/>
                <a:uFillTx/>
                <a:latin typeface="DM Sans"/>
              </a:rPr>
              <a:t>με όρια πόρων (</a:t>
            </a:r>
            <a:r>
              <a:rPr lang="en-US" sz="1200" b="0" u="none" strike="noStrike" dirty="0">
                <a:solidFill>
                  <a:schemeClr val="dk1"/>
                </a:solidFill>
                <a:effectLst/>
                <a:uFillTx/>
                <a:latin typeface="DM Sans"/>
              </a:rPr>
              <a:t>CPU/RAM limits).</a:t>
            </a:r>
          </a:p>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Execute: </a:t>
            </a:r>
            <a:r>
              <a:rPr lang="el-GR" sz="1200" b="0" u="none" strike="noStrike" dirty="0">
                <a:solidFill>
                  <a:schemeClr val="dk1"/>
                </a:solidFill>
                <a:effectLst/>
                <a:uFillTx/>
                <a:latin typeface="DM Sans"/>
              </a:rPr>
              <a:t>Το </a:t>
            </a:r>
            <a:r>
              <a:rPr lang="en-US" sz="1200" b="0" u="none" strike="noStrike" dirty="0">
                <a:solidFill>
                  <a:schemeClr val="dk1"/>
                </a:solidFill>
                <a:effectLst/>
                <a:uFillTx/>
                <a:latin typeface="DM Sans"/>
              </a:rPr>
              <a:t>Container </a:t>
            </a:r>
            <a:r>
              <a:rPr lang="el-GR" sz="1200" b="0" u="none" strike="noStrike" dirty="0">
                <a:solidFill>
                  <a:schemeClr val="dk1"/>
                </a:solidFill>
                <a:effectLst/>
                <a:uFillTx/>
                <a:latin typeface="DM Sans"/>
              </a:rPr>
              <a:t>διαβάζει δεδομένα, εκπαιδεύει, παράγει μοντέλο.</a:t>
            </a:r>
          </a:p>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Save: </a:t>
            </a:r>
            <a:r>
              <a:rPr lang="el-GR" sz="1200" b="0" u="none" strike="noStrike" dirty="0">
                <a:solidFill>
                  <a:schemeClr val="dk1"/>
                </a:solidFill>
                <a:effectLst/>
                <a:uFillTx/>
                <a:latin typeface="DM Sans"/>
              </a:rPr>
              <a:t>Το μοντέλο γράφεται στο </a:t>
            </a:r>
            <a:r>
              <a:rPr lang="en-US" sz="1200" b="0" u="none" strike="noStrike" dirty="0">
                <a:solidFill>
                  <a:schemeClr val="dk1"/>
                </a:solidFill>
                <a:effectLst/>
                <a:uFillTx/>
                <a:latin typeface="DM Sans"/>
              </a:rPr>
              <a:t>Volume.</a:t>
            </a:r>
          </a:p>
          <a:p>
            <a:pPr marL="171450" indent="-171450" algn="just">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DM Sans"/>
              </a:rPr>
              <a:t>Finalize: </a:t>
            </a:r>
            <a:r>
              <a:rPr lang="el-GR" sz="1200" b="0" u="none" strike="noStrike" dirty="0">
                <a:solidFill>
                  <a:schemeClr val="dk1"/>
                </a:solidFill>
                <a:effectLst/>
                <a:uFillTx/>
                <a:latin typeface="DM Sans"/>
              </a:rPr>
              <a:t>Το </a:t>
            </a:r>
            <a:r>
              <a:rPr lang="en-US" sz="1200" b="0" u="none" strike="noStrike" dirty="0">
                <a:solidFill>
                  <a:schemeClr val="dk1"/>
                </a:solidFill>
                <a:effectLst/>
                <a:uFillTx/>
                <a:latin typeface="DM Sans"/>
              </a:rPr>
              <a:t>Backend </a:t>
            </a:r>
            <a:r>
              <a:rPr lang="el-GR" sz="1200" b="0" u="none" strike="noStrike" dirty="0">
                <a:solidFill>
                  <a:schemeClr val="dk1"/>
                </a:solidFill>
                <a:effectLst/>
                <a:uFillTx/>
                <a:latin typeface="DM Sans"/>
              </a:rPr>
              <a:t>ανεβάζει το μοντέλο στο </a:t>
            </a:r>
            <a:r>
              <a:rPr lang="en-US" sz="1200" b="0" u="none" strike="noStrike" dirty="0" err="1">
                <a:solidFill>
                  <a:schemeClr val="dk1"/>
                </a:solidFill>
                <a:effectLst/>
                <a:uFillTx/>
                <a:latin typeface="DM Sans"/>
              </a:rPr>
              <a:t>MinIO</a:t>
            </a:r>
            <a:r>
              <a:rPr lang="en-US" sz="1200" b="0" u="none" strike="noStrike" dirty="0">
                <a:solidFill>
                  <a:schemeClr val="dk1"/>
                </a:solidFill>
                <a:effectLst/>
                <a:uFillTx/>
                <a:latin typeface="DM Sans"/>
              </a:rPr>
              <a:t> </a:t>
            </a:r>
            <a:r>
              <a:rPr lang="el-GR" sz="1200" b="0" u="none" strike="noStrike" dirty="0">
                <a:solidFill>
                  <a:schemeClr val="dk1"/>
                </a:solidFill>
                <a:effectLst/>
                <a:uFillTx/>
                <a:latin typeface="DM Sans"/>
              </a:rPr>
              <a:t>και καθαρίζει τον χώρο.</a:t>
            </a:r>
          </a:p>
          <a:p>
            <a:pPr marL="171450" indent="-171450" algn="just">
              <a:lnSpc>
                <a:spcPct val="150000"/>
              </a:lnSpc>
              <a:buFont typeface="Arial" panose="020B0604020202020204" pitchFamily="34" charset="0"/>
              <a:buChar char="•"/>
              <a:tabLst>
                <a:tab pos="0" algn="l"/>
              </a:tabLst>
            </a:pPr>
            <a:endParaRPr lang="el-GR" sz="1200" b="0" u="none" strike="noStrike" dirty="0">
              <a:solidFill>
                <a:schemeClr val="dk1"/>
              </a:solidFill>
              <a:effectLst/>
              <a:uFillTx/>
              <a:latin typeface="DM Sans"/>
            </a:endParaRPr>
          </a:p>
        </p:txBody>
      </p:sp>
    </p:spTree>
    <p:extLst>
      <p:ext uri="{BB962C8B-B14F-4D97-AF65-F5344CB8AC3E}">
        <p14:creationId xmlns:p14="http://schemas.microsoft.com/office/powerpoint/2010/main" val="1986973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854B7-7C9B-43B0-0932-DB90CA78ADEB}"/>
            </a:ext>
          </a:extLst>
        </p:cNvPr>
        <p:cNvGrpSpPr/>
        <p:nvPr/>
      </p:nvGrpSpPr>
      <p:grpSpPr>
        <a:xfrm>
          <a:off x="0" y="0"/>
          <a:ext cx="0" cy="0"/>
          <a:chOff x="0" y="0"/>
          <a:chExt cx="0" cy="0"/>
        </a:xfrm>
      </p:grpSpPr>
      <p:sp>
        <p:nvSpPr>
          <p:cNvPr id="330" name="Rectangle 329">
            <a:extLst>
              <a:ext uri="{FF2B5EF4-FFF2-40B4-BE49-F238E27FC236}">
                <a16:creationId xmlns:a16="http://schemas.microsoft.com/office/drawing/2014/main" id="{04029C5B-57A4-0366-C95C-122C7B014E1A}"/>
              </a:ext>
            </a:extLst>
          </p:cNvPr>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lgn="ctr">
              <a:tabLst>
                <a:tab pos="0" algn="l"/>
              </a:tabLst>
            </a:pPr>
            <a:r>
              <a:rPr lang="el-GR" sz="3600" dirty="0"/>
              <a:t>Ροή Εκτέλεσης: Πρόβλεψη (</a:t>
            </a:r>
            <a:r>
              <a:rPr lang="el-GR" sz="3600" dirty="0" err="1"/>
              <a:t>Prediction</a:t>
            </a:r>
            <a:r>
              <a:rPr lang="el-GR" sz="3600" dirty="0"/>
              <a:t> </a:t>
            </a:r>
            <a:r>
              <a:rPr lang="el-GR" sz="3600" dirty="0" err="1"/>
              <a:t>Flow</a:t>
            </a:r>
            <a:r>
              <a:rPr lang="el-GR" sz="3600" dirty="0"/>
              <a:t>)</a:t>
            </a:r>
            <a:endParaRPr lang="en-US" sz="3500" b="0" u="none" strike="noStrike" dirty="0">
              <a:solidFill>
                <a:srgbClr val="000000"/>
              </a:solidFill>
              <a:effectLst/>
              <a:uFillTx/>
              <a:latin typeface="OpenSymbol"/>
            </a:endParaRPr>
          </a:p>
        </p:txBody>
      </p:sp>
      <p:sp>
        <p:nvSpPr>
          <p:cNvPr id="331" name="Rectangle 330">
            <a:extLst>
              <a:ext uri="{FF2B5EF4-FFF2-40B4-BE49-F238E27FC236}">
                <a16:creationId xmlns:a16="http://schemas.microsoft.com/office/drawing/2014/main" id="{19B3915E-2706-F6DD-91C0-D34684A9FCBC}"/>
              </a:ext>
            </a:extLst>
          </p:cNvPr>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Consistency Check: </a:t>
            </a:r>
            <a:r>
              <a:rPr lang="el-GR" sz="1200" b="0" u="none" strike="noStrike" dirty="0">
                <a:solidFill>
                  <a:srgbClr val="000000"/>
                </a:solidFill>
                <a:effectLst/>
                <a:uFillTx/>
                <a:latin typeface="OpenSymbol"/>
              </a:rPr>
              <a:t>Έλεγχος συμβατότητας νέων δεδομένων με το μοντέλο.</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Pipeline Rehydration: </a:t>
            </a:r>
            <a:r>
              <a:rPr lang="el-GR" sz="1200" b="0" u="none" strike="noStrike" dirty="0">
                <a:solidFill>
                  <a:srgbClr val="000000"/>
                </a:solidFill>
                <a:effectLst/>
                <a:uFillTx/>
                <a:latin typeface="OpenSymbol"/>
              </a:rPr>
              <a:t>Επαναφορά των μετασχηματισμών (π.χ. </a:t>
            </a:r>
            <a:r>
              <a:rPr lang="en-US" sz="1200" b="0" u="none" strike="noStrike" dirty="0">
                <a:solidFill>
                  <a:srgbClr val="000000"/>
                </a:solidFill>
                <a:effectLst/>
                <a:uFillTx/>
                <a:latin typeface="OpenSymbol"/>
              </a:rPr>
              <a:t>One-Hot Encoding) </a:t>
            </a:r>
            <a:r>
              <a:rPr lang="el-GR" sz="1200" b="0" u="none" strike="noStrike" dirty="0">
                <a:solidFill>
                  <a:srgbClr val="000000"/>
                </a:solidFill>
                <a:effectLst/>
                <a:uFillTx/>
                <a:latin typeface="OpenSymbol"/>
              </a:rPr>
              <a:t>που έγιναν στο </a:t>
            </a:r>
            <a:r>
              <a:rPr lang="en-US" sz="1200" b="0" u="none" strike="noStrike" dirty="0">
                <a:solidFill>
                  <a:srgbClr val="000000"/>
                </a:solidFill>
                <a:effectLst/>
                <a:uFillTx/>
                <a:latin typeface="OpenSymbol"/>
              </a:rPr>
              <a:t>Training.</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Batch Prediction: </a:t>
            </a:r>
            <a:r>
              <a:rPr lang="el-GR" sz="1200" b="0" u="none" strike="noStrike" dirty="0">
                <a:solidFill>
                  <a:srgbClr val="000000"/>
                </a:solidFill>
                <a:effectLst/>
                <a:uFillTx/>
                <a:latin typeface="OpenSymbol"/>
              </a:rPr>
              <a:t>Υποστήριξη μαζικών προβλέψεων (</a:t>
            </a:r>
            <a:r>
              <a:rPr lang="en-US" sz="1200" b="0" u="none" strike="noStrike" dirty="0">
                <a:solidFill>
                  <a:srgbClr val="000000"/>
                </a:solidFill>
                <a:effectLst/>
                <a:uFillTx/>
                <a:latin typeface="OpenSymbol"/>
              </a:rPr>
              <a:t>Batch CSV processing).</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Output: </a:t>
            </a:r>
            <a:r>
              <a:rPr lang="el-GR" sz="1200" b="0" u="none" strike="noStrike" dirty="0">
                <a:solidFill>
                  <a:srgbClr val="000000"/>
                </a:solidFill>
                <a:effectLst/>
                <a:uFillTx/>
                <a:latin typeface="OpenSymbol"/>
              </a:rPr>
              <a:t>Παραγωγή νέου </a:t>
            </a:r>
            <a:r>
              <a:rPr lang="en-US" sz="1200" b="0" u="none" strike="noStrike" dirty="0">
                <a:solidFill>
                  <a:srgbClr val="000000"/>
                </a:solidFill>
                <a:effectLst/>
                <a:uFillTx/>
                <a:latin typeface="OpenSymbol"/>
              </a:rPr>
              <a:t>CSV </a:t>
            </a:r>
            <a:r>
              <a:rPr lang="el-GR" sz="1200" b="0" u="none" strike="noStrike" dirty="0">
                <a:solidFill>
                  <a:srgbClr val="000000"/>
                </a:solidFill>
                <a:effectLst/>
                <a:uFillTx/>
                <a:latin typeface="OpenSymbol"/>
              </a:rPr>
              <a:t>με τις προβλέψεις προσαρτημένες.</a:t>
            </a:r>
          </a:p>
          <a:p>
            <a:pPr marL="171450" indent="-171450" algn="just">
              <a:lnSpc>
                <a:spcPct val="150000"/>
              </a:lnSpc>
              <a:buFont typeface="Arial" panose="020B0604020202020204" pitchFamily="34" charset="0"/>
              <a:buChar char="•"/>
              <a:tabLst>
                <a:tab pos="0" algn="l"/>
              </a:tabLst>
            </a:pPr>
            <a:endParaRPr lang="en-US" sz="1200" b="0" u="none" strike="noStrike" dirty="0">
              <a:solidFill>
                <a:srgbClr val="000000"/>
              </a:solidFill>
              <a:effectLst/>
              <a:uFillTx/>
              <a:latin typeface="OpenSymbol"/>
            </a:endParaRPr>
          </a:p>
        </p:txBody>
      </p:sp>
    </p:spTree>
    <p:extLst>
      <p:ext uri="{BB962C8B-B14F-4D97-AF65-F5344CB8AC3E}">
        <p14:creationId xmlns:p14="http://schemas.microsoft.com/office/powerpoint/2010/main" val="1462191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65DF8-3251-DCA5-2032-9658D133CCB0}"/>
            </a:ext>
          </a:extLst>
        </p:cNvPr>
        <p:cNvGrpSpPr/>
        <p:nvPr/>
      </p:nvGrpSpPr>
      <p:grpSpPr>
        <a:xfrm>
          <a:off x="0" y="0"/>
          <a:ext cx="0" cy="0"/>
          <a:chOff x="0" y="0"/>
          <a:chExt cx="0" cy="0"/>
        </a:xfrm>
      </p:grpSpPr>
      <p:sp>
        <p:nvSpPr>
          <p:cNvPr id="330" name="Rectangle 329">
            <a:extLst>
              <a:ext uri="{FF2B5EF4-FFF2-40B4-BE49-F238E27FC236}">
                <a16:creationId xmlns:a16="http://schemas.microsoft.com/office/drawing/2014/main" id="{E2238199-9E95-3D01-F8D1-182DD126C3A3}"/>
              </a:ext>
            </a:extLst>
          </p:cNvPr>
          <p:cNvSpPr/>
          <p:nvPr/>
        </p:nvSpPr>
        <p:spPr>
          <a:xfrm>
            <a:off x="476280" y="476280"/>
            <a:ext cx="8191080" cy="57147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lgn="ctr">
              <a:tabLst>
                <a:tab pos="0" algn="l"/>
              </a:tabLst>
            </a:pPr>
            <a:r>
              <a:rPr lang="el-GR" sz="2200" dirty="0"/>
              <a:t>Διαχείριση Σφαλμάτων &amp; Ακύρωση</a:t>
            </a:r>
            <a:endParaRPr lang="en-US" sz="2200" b="0" u="none" strike="noStrike" dirty="0">
              <a:solidFill>
                <a:srgbClr val="000000"/>
              </a:solidFill>
              <a:effectLst/>
              <a:uFillTx/>
              <a:latin typeface="OpenSymbol"/>
            </a:endParaRPr>
          </a:p>
        </p:txBody>
      </p:sp>
      <p:sp>
        <p:nvSpPr>
          <p:cNvPr id="331" name="Rectangle 330">
            <a:extLst>
              <a:ext uri="{FF2B5EF4-FFF2-40B4-BE49-F238E27FC236}">
                <a16:creationId xmlns:a16="http://schemas.microsoft.com/office/drawing/2014/main" id="{9B225FCC-E4F0-60ED-62ED-CC13BCB51F88}"/>
              </a:ext>
            </a:extLst>
          </p:cNvPr>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User Initiated Stop: </a:t>
            </a:r>
            <a:r>
              <a:rPr lang="el-GR" sz="1200" b="0" u="none" strike="noStrike" dirty="0">
                <a:solidFill>
                  <a:srgbClr val="000000"/>
                </a:solidFill>
                <a:effectLst/>
                <a:uFillTx/>
                <a:latin typeface="OpenSymbol"/>
              </a:rPr>
              <a:t>Δυνατότητα ακύρωσης τρέχουσας εργασίας.</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Graceful Termination:</a:t>
            </a:r>
          </a:p>
          <a:p>
            <a:pPr marL="628650" lvl="1" indent="-171450" algn="just">
              <a:lnSpc>
                <a:spcPct val="150000"/>
              </a:lnSpc>
              <a:buFont typeface="Courier New" panose="02070309020205020404" pitchFamily="49" charset="0"/>
              <a:buChar char="o"/>
              <a:tabLst>
                <a:tab pos="0" algn="l"/>
              </a:tabLst>
            </a:pPr>
            <a:r>
              <a:rPr lang="el-GR" sz="1200" b="0" u="none" strike="noStrike" dirty="0">
                <a:solidFill>
                  <a:srgbClr val="000000"/>
                </a:solidFill>
                <a:effectLst/>
                <a:uFillTx/>
                <a:latin typeface="OpenSymbol"/>
              </a:rPr>
              <a:t>Διαγραφή του </a:t>
            </a:r>
            <a:r>
              <a:rPr lang="en-US" sz="1200" b="0" u="none" strike="noStrike" dirty="0">
                <a:solidFill>
                  <a:srgbClr val="000000"/>
                </a:solidFill>
                <a:effectLst/>
                <a:uFillTx/>
                <a:latin typeface="OpenSymbol"/>
              </a:rPr>
              <a:t>Kubernetes Pod/Job.</a:t>
            </a:r>
          </a:p>
          <a:p>
            <a:pPr marL="628650" lvl="1" indent="-171450" algn="just">
              <a:lnSpc>
                <a:spcPct val="150000"/>
              </a:lnSpc>
              <a:buFont typeface="Courier New" panose="02070309020205020404" pitchFamily="49" charset="0"/>
              <a:buChar char="o"/>
              <a:tabLst>
                <a:tab pos="0" algn="l"/>
              </a:tabLst>
            </a:pPr>
            <a:r>
              <a:rPr lang="el-GR" sz="1200" b="0" u="none" strike="noStrike" dirty="0">
                <a:solidFill>
                  <a:srgbClr val="000000"/>
                </a:solidFill>
                <a:effectLst/>
                <a:uFillTx/>
                <a:latin typeface="OpenSymbol"/>
              </a:rPr>
              <a:t>Εκκαθάριση προσωρινών αρχείων (</a:t>
            </a:r>
            <a:r>
              <a:rPr lang="en-US" sz="1200" b="0" u="none" strike="noStrike" dirty="0">
                <a:solidFill>
                  <a:srgbClr val="000000"/>
                </a:solidFill>
                <a:effectLst/>
                <a:uFillTx/>
                <a:latin typeface="OpenSymbol"/>
              </a:rPr>
              <a:t>Garbage Collection).</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Robustness: </a:t>
            </a:r>
            <a:r>
              <a:rPr lang="el-GR" sz="1200" b="0" u="none" strike="noStrike" dirty="0">
                <a:solidFill>
                  <a:srgbClr val="000000"/>
                </a:solidFill>
                <a:effectLst/>
                <a:uFillTx/>
                <a:latin typeface="OpenSymbol"/>
              </a:rPr>
              <a:t>Διαχείριση αποτυχιών (</a:t>
            </a:r>
            <a:r>
              <a:rPr lang="en-US" sz="1200" b="0" u="none" strike="noStrike" dirty="0">
                <a:solidFill>
                  <a:srgbClr val="000000"/>
                </a:solidFill>
                <a:effectLst/>
                <a:uFillTx/>
                <a:latin typeface="OpenSymbol"/>
              </a:rPr>
              <a:t>OOM Killed, Timeouts) </a:t>
            </a:r>
            <a:r>
              <a:rPr lang="el-GR" sz="1200" b="0" u="none" strike="noStrike" dirty="0">
                <a:solidFill>
                  <a:srgbClr val="000000"/>
                </a:solidFill>
                <a:effectLst/>
                <a:uFillTx/>
                <a:latin typeface="OpenSymbol"/>
              </a:rPr>
              <a:t>με αναλυτικά μηνύματα λάθους στον χρήστη.</a:t>
            </a:r>
          </a:p>
          <a:p>
            <a:pPr marL="171450" indent="-171450" algn="just">
              <a:lnSpc>
                <a:spcPct val="150000"/>
              </a:lnSpc>
              <a:buFont typeface="Arial" panose="020B0604020202020204" pitchFamily="34" charset="0"/>
              <a:buChar char="•"/>
              <a:tabLst>
                <a:tab pos="0" algn="l"/>
              </a:tabLst>
            </a:pPr>
            <a:endParaRPr lang="en-US" sz="1200" b="0" u="none" strike="noStrike" dirty="0">
              <a:solidFill>
                <a:srgbClr val="000000"/>
              </a:solidFill>
              <a:effectLst/>
              <a:uFillTx/>
              <a:latin typeface="OpenSymbol"/>
            </a:endParaRPr>
          </a:p>
        </p:txBody>
      </p:sp>
    </p:spTree>
    <p:extLst>
      <p:ext uri="{BB962C8B-B14F-4D97-AF65-F5344CB8AC3E}">
        <p14:creationId xmlns:p14="http://schemas.microsoft.com/office/powerpoint/2010/main" val="4109624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ED0F5-6105-ED80-D4D9-B66209E50198}"/>
            </a:ext>
          </a:extLst>
        </p:cNvPr>
        <p:cNvGrpSpPr/>
        <p:nvPr/>
      </p:nvGrpSpPr>
      <p:grpSpPr>
        <a:xfrm>
          <a:off x="0" y="0"/>
          <a:ext cx="0" cy="0"/>
          <a:chOff x="0" y="0"/>
          <a:chExt cx="0" cy="0"/>
        </a:xfrm>
      </p:grpSpPr>
      <p:sp>
        <p:nvSpPr>
          <p:cNvPr id="330" name="Rectangle 329">
            <a:extLst>
              <a:ext uri="{FF2B5EF4-FFF2-40B4-BE49-F238E27FC236}">
                <a16:creationId xmlns:a16="http://schemas.microsoft.com/office/drawing/2014/main" id="{B47F04F8-7E5D-73F1-E3A1-2DA0A30417CF}"/>
              </a:ext>
            </a:extLst>
          </p:cNvPr>
          <p:cNvSpPr/>
          <p:nvPr/>
        </p:nvSpPr>
        <p:spPr>
          <a:xfrm>
            <a:off x="476280" y="476280"/>
            <a:ext cx="8191080" cy="619095"/>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lgn="ctr">
              <a:tabLst>
                <a:tab pos="0" algn="l"/>
              </a:tabLst>
            </a:pPr>
            <a:r>
              <a:rPr lang="el-GR" sz="2400" dirty="0"/>
              <a:t>Ασφάλεια &amp; Έλεγχος Πρόσβασης</a:t>
            </a:r>
            <a:endParaRPr lang="en-US" sz="2400" b="0" u="none" strike="noStrike" dirty="0">
              <a:solidFill>
                <a:srgbClr val="000000"/>
              </a:solidFill>
              <a:effectLst/>
              <a:uFillTx/>
              <a:latin typeface="OpenSymbol"/>
            </a:endParaRPr>
          </a:p>
        </p:txBody>
      </p:sp>
      <p:sp>
        <p:nvSpPr>
          <p:cNvPr id="331" name="Rectangle 330">
            <a:extLst>
              <a:ext uri="{FF2B5EF4-FFF2-40B4-BE49-F238E27FC236}">
                <a16:creationId xmlns:a16="http://schemas.microsoft.com/office/drawing/2014/main" id="{C5376348-1067-616D-8082-1A0B0DA9F342}"/>
              </a:ext>
            </a:extLst>
          </p:cNvPr>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Authentication: Stateless JWT tokens.</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Authorization (RBAC):</a:t>
            </a:r>
          </a:p>
          <a:p>
            <a:pPr marL="628650" lvl="1" indent="-171450" algn="just">
              <a:lnSpc>
                <a:spcPct val="150000"/>
              </a:lnSpc>
              <a:buFont typeface="Courier New" panose="02070309020205020404" pitchFamily="49" charset="0"/>
              <a:buChar char="o"/>
              <a:tabLst>
                <a:tab pos="0" algn="l"/>
              </a:tabLst>
            </a:pPr>
            <a:r>
              <a:rPr lang="en-US" sz="1200" dirty="0">
                <a:solidFill>
                  <a:srgbClr val="000000"/>
                </a:solidFill>
                <a:latin typeface="OpenSymbol"/>
              </a:rPr>
              <a:t>User: </a:t>
            </a:r>
            <a:r>
              <a:rPr lang="el-GR" sz="1200" dirty="0">
                <a:solidFill>
                  <a:srgbClr val="000000"/>
                </a:solidFill>
                <a:latin typeface="OpenSymbol"/>
              </a:rPr>
              <a:t>Όλες οι προσφερόμενες υπηρεσίες  που αφορούν τον ίδιο.</a:t>
            </a:r>
            <a:endParaRPr lang="en-US" sz="1200" b="0" u="none" strike="noStrike" dirty="0">
              <a:solidFill>
                <a:srgbClr val="000000"/>
              </a:solidFill>
              <a:effectLst/>
              <a:uFillTx/>
              <a:latin typeface="OpenSymbol"/>
            </a:endParaRPr>
          </a:p>
          <a:p>
            <a:pPr marL="628650" lvl="1" indent="-171450" algn="just">
              <a:lnSpc>
                <a:spcPct val="150000"/>
              </a:lnSpc>
              <a:buFont typeface="Courier New" panose="02070309020205020404" pitchFamily="49" charset="0"/>
              <a:buChar char="o"/>
              <a:tabLst>
                <a:tab pos="0" algn="l"/>
              </a:tabLst>
            </a:pPr>
            <a:r>
              <a:rPr lang="en-US" sz="1200" b="0" u="none" strike="noStrike" dirty="0">
                <a:solidFill>
                  <a:srgbClr val="000000"/>
                </a:solidFill>
                <a:effectLst/>
                <a:uFillTx/>
                <a:latin typeface="OpenSymbol"/>
              </a:rPr>
              <a:t>Admin: </a:t>
            </a:r>
            <a:r>
              <a:rPr lang="el-GR" sz="1200" b="0" u="none" strike="noStrike" dirty="0">
                <a:solidFill>
                  <a:srgbClr val="000000"/>
                </a:solidFill>
                <a:effectLst/>
                <a:uFillTx/>
                <a:latin typeface="OpenSymbol"/>
              </a:rPr>
              <a:t>Πλήρης πρόσβαση, διαχείριση αλγορίθμων.</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Data Isolation: </a:t>
            </a:r>
            <a:r>
              <a:rPr lang="el-GR" sz="1200" b="0" u="none" strike="noStrike" dirty="0">
                <a:solidFill>
                  <a:srgbClr val="000000"/>
                </a:solidFill>
                <a:effectLst/>
                <a:uFillTx/>
                <a:latin typeface="OpenSymbol"/>
              </a:rPr>
              <a:t>Κάθε χρήστης βλέπει μόνο τα δικά του μοντέλα (εκτός αν οριστούν ως </a:t>
            </a:r>
            <a:r>
              <a:rPr lang="en-US" sz="1200" b="0" u="none" strike="noStrike" dirty="0">
                <a:solidFill>
                  <a:srgbClr val="000000"/>
                </a:solidFill>
                <a:effectLst/>
                <a:uFillTx/>
                <a:latin typeface="OpenSymbol"/>
              </a:rPr>
              <a:t>Public).</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Container Security: </a:t>
            </a:r>
            <a:r>
              <a:rPr lang="el-GR" sz="1200" b="0" u="none" strike="noStrike" dirty="0">
                <a:solidFill>
                  <a:srgbClr val="000000"/>
                </a:solidFill>
                <a:effectLst/>
                <a:uFillTx/>
                <a:latin typeface="OpenSymbol"/>
              </a:rPr>
              <a:t>Τα </a:t>
            </a:r>
            <a:r>
              <a:rPr lang="en-US" sz="1200" b="0" u="none" strike="noStrike" dirty="0">
                <a:solidFill>
                  <a:srgbClr val="000000"/>
                </a:solidFill>
                <a:effectLst/>
                <a:uFillTx/>
                <a:latin typeface="OpenSymbol"/>
              </a:rPr>
              <a:t>jobs </a:t>
            </a:r>
            <a:r>
              <a:rPr lang="el-GR" sz="1200" b="0" u="none" strike="noStrike" dirty="0">
                <a:solidFill>
                  <a:srgbClr val="000000"/>
                </a:solidFill>
                <a:effectLst/>
                <a:uFillTx/>
                <a:latin typeface="OpenSymbol"/>
              </a:rPr>
              <a:t>τρέχουν χωρίς </a:t>
            </a:r>
            <a:r>
              <a:rPr lang="en-US" sz="1200" b="0" u="none" strike="noStrike" dirty="0">
                <a:solidFill>
                  <a:srgbClr val="000000"/>
                </a:solidFill>
                <a:effectLst/>
                <a:uFillTx/>
                <a:latin typeface="OpenSymbol"/>
              </a:rPr>
              <a:t>root privileges </a:t>
            </a:r>
            <a:r>
              <a:rPr lang="el-GR" sz="1200" b="0" u="none" strike="noStrike" dirty="0">
                <a:solidFill>
                  <a:srgbClr val="000000"/>
                </a:solidFill>
                <a:effectLst/>
                <a:uFillTx/>
                <a:latin typeface="OpenSymbol"/>
              </a:rPr>
              <a:t>και χωρίς πρόσβαση στο δίκτυο του </a:t>
            </a:r>
            <a:r>
              <a:rPr lang="en-US" sz="1200" b="0" u="none" strike="noStrike" dirty="0">
                <a:solidFill>
                  <a:srgbClr val="000000"/>
                </a:solidFill>
                <a:effectLst/>
                <a:uFillTx/>
                <a:latin typeface="OpenSymbol"/>
              </a:rPr>
              <a:t>host.</a:t>
            </a:r>
          </a:p>
        </p:txBody>
      </p:sp>
    </p:spTree>
    <p:extLst>
      <p:ext uri="{BB962C8B-B14F-4D97-AF65-F5344CB8AC3E}">
        <p14:creationId xmlns:p14="http://schemas.microsoft.com/office/powerpoint/2010/main" val="51250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88BA8-C360-34D7-8CAF-47FA04EAEA95}"/>
            </a:ext>
          </a:extLst>
        </p:cNvPr>
        <p:cNvGrpSpPr/>
        <p:nvPr/>
      </p:nvGrpSpPr>
      <p:grpSpPr>
        <a:xfrm>
          <a:off x="0" y="0"/>
          <a:ext cx="0" cy="0"/>
          <a:chOff x="0" y="0"/>
          <a:chExt cx="0" cy="0"/>
        </a:xfrm>
      </p:grpSpPr>
      <p:sp>
        <p:nvSpPr>
          <p:cNvPr id="330" name="Rectangle 329">
            <a:extLst>
              <a:ext uri="{FF2B5EF4-FFF2-40B4-BE49-F238E27FC236}">
                <a16:creationId xmlns:a16="http://schemas.microsoft.com/office/drawing/2014/main" id="{665176D0-A992-4506-C434-174022AEFFC9}"/>
              </a:ext>
            </a:extLst>
          </p:cNvPr>
          <p:cNvSpPr/>
          <p:nvPr/>
        </p:nvSpPr>
        <p:spPr>
          <a:xfrm>
            <a:off x="476280" y="476280"/>
            <a:ext cx="8191080" cy="590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lgn="ctr">
              <a:tabLst>
                <a:tab pos="0" algn="l"/>
              </a:tabLst>
            </a:pPr>
            <a:r>
              <a:rPr lang="el-GR" sz="2200" dirty="0"/>
              <a:t>Διασφάλιση Ποιότητας &amp; </a:t>
            </a:r>
            <a:r>
              <a:rPr lang="en-US" sz="2200" dirty="0"/>
              <a:t>Testing</a:t>
            </a:r>
            <a:endParaRPr lang="en-US" sz="2200" b="0" u="none" strike="noStrike" dirty="0">
              <a:solidFill>
                <a:srgbClr val="000000"/>
              </a:solidFill>
              <a:effectLst/>
              <a:uFillTx/>
              <a:latin typeface="OpenSymbol"/>
            </a:endParaRPr>
          </a:p>
        </p:txBody>
      </p:sp>
      <p:sp>
        <p:nvSpPr>
          <p:cNvPr id="331" name="Rectangle 330">
            <a:extLst>
              <a:ext uri="{FF2B5EF4-FFF2-40B4-BE49-F238E27FC236}">
                <a16:creationId xmlns:a16="http://schemas.microsoft.com/office/drawing/2014/main" id="{1BC8F29A-F0ED-0B25-E0B2-E50095C97231}"/>
              </a:ext>
            </a:extLst>
          </p:cNvPr>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Integration Tests: End-to-End </a:t>
            </a:r>
            <a:r>
              <a:rPr lang="el-GR" sz="1200" b="0" u="none" strike="noStrike" dirty="0">
                <a:solidFill>
                  <a:srgbClr val="000000"/>
                </a:solidFill>
                <a:effectLst/>
                <a:uFillTx/>
                <a:latin typeface="OpenSymbol"/>
              </a:rPr>
              <a:t>σενάρια (</a:t>
            </a:r>
            <a:r>
              <a:rPr lang="en-US" sz="1200" b="0" u="none" strike="noStrike" dirty="0">
                <a:solidFill>
                  <a:srgbClr val="000000"/>
                </a:solidFill>
                <a:effectLst/>
                <a:uFillTx/>
                <a:latin typeface="OpenSymbol"/>
              </a:rPr>
              <a:t>Database + API + Docker).</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Weka &amp; Custom Flows: </a:t>
            </a:r>
            <a:r>
              <a:rPr lang="el-GR" sz="1200" b="0" u="none" strike="noStrike" dirty="0">
                <a:solidFill>
                  <a:srgbClr val="000000"/>
                </a:solidFill>
                <a:effectLst/>
                <a:uFillTx/>
                <a:latin typeface="OpenSymbol"/>
              </a:rPr>
              <a:t>Αυτοματοποιημένα τεστ που τρέχουν πραγματικές εκπαιδεύσεις.</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API Documentation: </a:t>
            </a:r>
            <a:r>
              <a:rPr lang="el-GR" sz="1200" b="0" u="none" strike="noStrike" dirty="0">
                <a:solidFill>
                  <a:srgbClr val="000000"/>
                </a:solidFill>
                <a:effectLst/>
                <a:uFillTx/>
                <a:latin typeface="OpenSymbol"/>
              </a:rPr>
              <a:t>Αυτόματη παραγωγή </a:t>
            </a:r>
            <a:r>
              <a:rPr lang="en-US" sz="1200" b="0" u="none" strike="noStrike" dirty="0" err="1">
                <a:solidFill>
                  <a:srgbClr val="000000"/>
                </a:solidFill>
                <a:effectLst/>
                <a:uFillTx/>
                <a:latin typeface="OpenSymbol"/>
              </a:rPr>
              <a:t>OpenAPI</a:t>
            </a:r>
            <a:r>
              <a:rPr lang="en-US" sz="1200" b="0" u="none" strike="noStrike" dirty="0">
                <a:solidFill>
                  <a:srgbClr val="000000"/>
                </a:solidFill>
                <a:effectLst/>
                <a:uFillTx/>
                <a:latin typeface="OpenSymbol"/>
              </a:rPr>
              <a:t>/Swagger docs.</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Code Quality: </a:t>
            </a:r>
            <a:r>
              <a:rPr lang="el-GR" sz="1200" b="0" u="none" strike="noStrike" dirty="0">
                <a:solidFill>
                  <a:srgbClr val="000000"/>
                </a:solidFill>
                <a:effectLst/>
                <a:uFillTx/>
                <a:latin typeface="OpenSymbol"/>
              </a:rPr>
              <a:t>Τυποποιημένη δομή, χρήση </a:t>
            </a:r>
            <a:r>
              <a:rPr lang="en-US" sz="1200" b="0" u="none" strike="noStrike" dirty="0">
                <a:solidFill>
                  <a:srgbClr val="000000"/>
                </a:solidFill>
                <a:effectLst/>
                <a:uFillTx/>
                <a:latin typeface="OpenSymbol"/>
              </a:rPr>
              <a:t>DTOs, Exception Handlers.</a:t>
            </a:r>
          </a:p>
          <a:p>
            <a:pPr algn="just">
              <a:lnSpc>
                <a:spcPct val="150000"/>
              </a:lnSpc>
              <a:tabLst>
                <a:tab pos="0" algn="l"/>
              </a:tabLst>
            </a:pPr>
            <a:endParaRPr lang="en-US" sz="1200" b="0" u="none" strike="noStrike" dirty="0">
              <a:solidFill>
                <a:srgbClr val="000000"/>
              </a:solidFill>
              <a:effectLst/>
              <a:uFillTx/>
              <a:latin typeface="OpenSymbol"/>
            </a:endParaRPr>
          </a:p>
        </p:txBody>
      </p:sp>
    </p:spTree>
    <p:extLst>
      <p:ext uri="{BB962C8B-B14F-4D97-AF65-F5344CB8AC3E}">
        <p14:creationId xmlns:p14="http://schemas.microsoft.com/office/powerpoint/2010/main" val="2218624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2B0DE-4D5D-9EC9-8E63-F724249DD65A}"/>
            </a:ext>
          </a:extLst>
        </p:cNvPr>
        <p:cNvGrpSpPr/>
        <p:nvPr/>
      </p:nvGrpSpPr>
      <p:grpSpPr>
        <a:xfrm>
          <a:off x="0" y="0"/>
          <a:ext cx="0" cy="0"/>
          <a:chOff x="0" y="0"/>
          <a:chExt cx="0" cy="0"/>
        </a:xfrm>
      </p:grpSpPr>
      <p:sp>
        <p:nvSpPr>
          <p:cNvPr id="330" name="Rectangle 329">
            <a:extLst>
              <a:ext uri="{FF2B5EF4-FFF2-40B4-BE49-F238E27FC236}">
                <a16:creationId xmlns:a16="http://schemas.microsoft.com/office/drawing/2014/main" id="{5A3630B0-EB1E-6E99-3461-5009FD02915C}"/>
              </a:ext>
            </a:extLst>
          </p:cNvPr>
          <p:cNvSpPr/>
          <p:nvPr/>
        </p:nvSpPr>
        <p:spPr>
          <a:xfrm>
            <a:off x="476280" y="476460"/>
            <a:ext cx="8191080" cy="5903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lgn="ctr"/>
            <a:r>
              <a:rPr lang="el-GR" sz="2200" dirty="0"/>
              <a:t>Σενάρια Επίδειξης (</a:t>
            </a:r>
            <a:r>
              <a:rPr lang="en-US" sz="2200" dirty="0"/>
              <a:t>Demo Scenarios</a:t>
            </a:r>
            <a:r>
              <a:rPr lang="el-GR" sz="2200" dirty="0"/>
              <a:t>)</a:t>
            </a:r>
            <a:endParaRPr lang="en-US" sz="2200" dirty="0"/>
          </a:p>
        </p:txBody>
      </p:sp>
      <p:sp>
        <p:nvSpPr>
          <p:cNvPr id="331" name="Rectangle 330">
            <a:extLst>
              <a:ext uri="{FF2B5EF4-FFF2-40B4-BE49-F238E27FC236}">
                <a16:creationId xmlns:a16="http://schemas.microsoft.com/office/drawing/2014/main" id="{FE7641DC-6500-9698-D012-BA474552D340}"/>
              </a:ext>
            </a:extLst>
          </p:cNvPr>
          <p:cNvSpPr/>
          <p:nvPr/>
        </p:nvSpPr>
        <p:spPr>
          <a:xfrm>
            <a:off x="476460" y="142887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Weka Training: </a:t>
            </a:r>
            <a:r>
              <a:rPr lang="el-GR" sz="1200" b="0" u="none" strike="noStrike" dirty="0">
                <a:solidFill>
                  <a:srgbClr val="000000"/>
                </a:solidFill>
                <a:effectLst/>
                <a:uFillTx/>
                <a:latin typeface="OpenSymbol"/>
              </a:rPr>
              <a:t>Εκπαίδευση </a:t>
            </a:r>
            <a:r>
              <a:rPr lang="en-US" sz="1200" b="0" u="none" strike="noStrike" dirty="0">
                <a:solidFill>
                  <a:srgbClr val="000000"/>
                </a:solidFill>
                <a:effectLst/>
                <a:uFillTx/>
                <a:latin typeface="OpenSymbol"/>
              </a:rPr>
              <a:t>Decision Tree </a:t>
            </a:r>
            <a:r>
              <a:rPr lang="el-GR" sz="1200" b="0" u="none" strike="noStrike" dirty="0">
                <a:solidFill>
                  <a:srgbClr val="000000"/>
                </a:solidFill>
                <a:effectLst/>
                <a:uFillTx/>
                <a:latin typeface="OpenSymbol"/>
              </a:rPr>
              <a:t>σε </a:t>
            </a:r>
            <a:r>
              <a:rPr lang="en-US" sz="1200" b="0" u="none" strike="noStrike" dirty="0">
                <a:solidFill>
                  <a:srgbClr val="000000"/>
                </a:solidFill>
                <a:effectLst/>
                <a:uFillTx/>
                <a:latin typeface="OpenSymbol"/>
              </a:rPr>
              <a:t>Iris dataset.</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Custom Training: </a:t>
            </a:r>
            <a:r>
              <a:rPr lang="el-GR" sz="1200" b="0" u="none" strike="noStrike" dirty="0">
                <a:solidFill>
                  <a:srgbClr val="000000"/>
                </a:solidFill>
                <a:effectLst/>
                <a:uFillTx/>
                <a:latin typeface="OpenSymbol"/>
              </a:rPr>
              <a:t>Εκπαίδευση </a:t>
            </a:r>
            <a:r>
              <a:rPr lang="en-US" sz="1200" b="0" u="none" strike="noStrike" dirty="0">
                <a:solidFill>
                  <a:srgbClr val="000000"/>
                </a:solidFill>
                <a:effectLst/>
                <a:uFillTx/>
                <a:latin typeface="OpenSymbol"/>
              </a:rPr>
              <a:t>Python script (scikit-learn) </a:t>
            </a:r>
            <a:r>
              <a:rPr lang="el-GR" sz="1200" b="0" u="none" strike="noStrike" dirty="0">
                <a:solidFill>
                  <a:srgbClr val="000000"/>
                </a:solidFill>
                <a:effectLst/>
                <a:uFillTx/>
                <a:latin typeface="OpenSymbol"/>
              </a:rPr>
              <a:t>μέσω </a:t>
            </a:r>
            <a:r>
              <a:rPr lang="en-US" sz="1200" b="0" u="none" strike="noStrike" dirty="0">
                <a:solidFill>
                  <a:srgbClr val="000000"/>
                </a:solidFill>
                <a:effectLst/>
                <a:uFillTx/>
                <a:latin typeface="OpenSymbol"/>
              </a:rPr>
              <a:t>Docker.</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Prediction: </a:t>
            </a:r>
            <a:r>
              <a:rPr lang="el-GR" sz="1200" b="0" u="none" strike="noStrike" dirty="0">
                <a:solidFill>
                  <a:srgbClr val="000000"/>
                </a:solidFill>
                <a:effectLst/>
                <a:uFillTx/>
                <a:latin typeface="OpenSymbol"/>
              </a:rPr>
              <a:t>Χρήση του μοντέλου για πρόβλεψη σε νέα δεδομένα.</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Monitoring: </a:t>
            </a:r>
            <a:r>
              <a:rPr lang="el-GR" sz="1200" b="0" u="none" strike="noStrike" dirty="0">
                <a:solidFill>
                  <a:srgbClr val="000000"/>
                </a:solidFill>
                <a:effectLst/>
                <a:uFillTx/>
                <a:latin typeface="OpenSymbol"/>
              </a:rPr>
              <a:t>Παρακολούθηση της εξέλιξης (</a:t>
            </a:r>
            <a:r>
              <a:rPr lang="en-US" sz="1200" b="0" u="none" strike="noStrike" dirty="0">
                <a:solidFill>
                  <a:srgbClr val="000000"/>
                </a:solidFill>
                <a:effectLst/>
                <a:uFillTx/>
                <a:latin typeface="OpenSymbol"/>
              </a:rPr>
              <a:t>Logs &amp; Progress).</a:t>
            </a:r>
          </a:p>
          <a:p>
            <a:pPr marL="171450" indent="-171450" algn="just">
              <a:lnSpc>
                <a:spcPct val="150000"/>
              </a:lnSpc>
              <a:buFont typeface="Arial" panose="020B0604020202020204" pitchFamily="34" charset="0"/>
              <a:buChar char="•"/>
              <a:tabLst>
                <a:tab pos="0" algn="l"/>
              </a:tabLst>
            </a:pPr>
            <a:r>
              <a:rPr lang="en-US" sz="1200" b="0" u="none" strike="noStrike" dirty="0">
                <a:solidFill>
                  <a:srgbClr val="000000"/>
                </a:solidFill>
                <a:effectLst/>
                <a:uFillTx/>
                <a:latin typeface="OpenSymbol"/>
              </a:rPr>
              <a:t>Cancellation: </a:t>
            </a:r>
            <a:r>
              <a:rPr lang="el-GR" sz="1200" b="0" u="none" strike="noStrike" dirty="0">
                <a:solidFill>
                  <a:srgbClr val="000000"/>
                </a:solidFill>
                <a:effectLst/>
                <a:uFillTx/>
                <a:latin typeface="OpenSymbol"/>
              </a:rPr>
              <a:t>Ακύρωση μιας αργής διαδικασίας και έλεγχος καθαρισμού.</a:t>
            </a:r>
          </a:p>
        </p:txBody>
      </p:sp>
    </p:spTree>
    <p:extLst>
      <p:ext uri="{BB962C8B-B14F-4D97-AF65-F5344CB8AC3E}">
        <p14:creationId xmlns:p14="http://schemas.microsoft.com/office/powerpoint/2010/main" val="2305914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BE5E3-72DA-E2C9-6C88-1DBD9CAE812A}"/>
            </a:ext>
          </a:extLst>
        </p:cNvPr>
        <p:cNvGrpSpPr/>
        <p:nvPr/>
      </p:nvGrpSpPr>
      <p:grpSpPr>
        <a:xfrm>
          <a:off x="0" y="0"/>
          <a:ext cx="0" cy="0"/>
          <a:chOff x="0" y="0"/>
          <a:chExt cx="0" cy="0"/>
        </a:xfrm>
      </p:grpSpPr>
      <p:sp>
        <p:nvSpPr>
          <p:cNvPr id="330" name="Rectangle 329">
            <a:extLst>
              <a:ext uri="{FF2B5EF4-FFF2-40B4-BE49-F238E27FC236}">
                <a16:creationId xmlns:a16="http://schemas.microsoft.com/office/drawing/2014/main" id="{43A1CF92-67A1-F721-83BE-54097449A485}"/>
              </a:ext>
            </a:extLst>
          </p:cNvPr>
          <p:cNvSpPr/>
          <p:nvPr/>
        </p:nvSpPr>
        <p:spPr>
          <a:xfrm>
            <a:off x="476280" y="476280"/>
            <a:ext cx="8191080" cy="5524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algn="ctr">
              <a:tabLst>
                <a:tab pos="0" algn="l"/>
              </a:tabLst>
            </a:pPr>
            <a:r>
              <a:rPr lang="el-GR" sz="2200" dirty="0"/>
              <a:t>Σύγκριση &amp; Αξιολόγηση</a:t>
            </a:r>
            <a:endParaRPr lang="en-US" sz="2200" b="0" u="none" strike="noStrike" dirty="0">
              <a:solidFill>
                <a:srgbClr val="000000"/>
              </a:solidFill>
              <a:effectLst/>
              <a:uFillTx/>
              <a:latin typeface="OpenSymbol"/>
            </a:endParaRPr>
          </a:p>
        </p:txBody>
      </p:sp>
      <p:sp>
        <p:nvSpPr>
          <p:cNvPr id="331" name="Rectangle 330">
            <a:extLst>
              <a:ext uri="{FF2B5EF4-FFF2-40B4-BE49-F238E27FC236}">
                <a16:creationId xmlns:a16="http://schemas.microsoft.com/office/drawing/2014/main" id="{2AE0FBDF-2566-6E15-F785-1A74AA8BF0C9}"/>
              </a:ext>
            </a:extLst>
          </p:cNvPr>
          <p:cNvSpPr/>
          <p:nvPr/>
        </p:nvSpPr>
        <p:spPr>
          <a:xfrm>
            <a:off x="476280" y="1647945"/>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Πλεονεκτήματα:</a:t>
            </a:r>
          </a:p>
          <a:p>
            <a:pPr marL="628650" lvl="1" indent="-171450" algn="just">
              <a:lnSpc>
                <a:spcPct val="150000"/>
              </a:lnSpc>
              <a:buFont typeface="Courier New" panose="02070309020205020404" pitchFamily="49" charset="0"/>
              <a:buChar char="o"/>
              <a:tabLst>
                <a:tab pos="0" algn="l"/>
              </a:tabLst>
            </a:pPr>
            <a:r>
              <a:rPr lang="el-GR" sz="1200" b="0" u="none" strike="noStrike" dirty="0">
                <a:solidFill>
                  <a:srgbClr val="000000"/>
                </a:solidFill>
                <a:effectLst/>
                <a:uFillTx/>
                <a:latin typeface="OpenSymbol"/>
              </a:rPr>
              <a:t>Πλήρης έλεγχος δεδομένων (</a:t>
            </a:r>
            <a:r>
              <a:rPr lang="el-GR" sz="1200" b="0" u="none" strike="noStrike" dirty="0" err="1">
                <a:solidFill>
                  <a:srgbClr val="000000"/>
                </a:solidFill>
                <a:effectLst/>
                <a:uFillTx/>
                <a:latin typeface="OpenSymbol"/>
              </a:rPr>
              <a:t>Privacy</a:t>
            </a:r>
            <a:r>
              <a:rPr lang="el-GR" sz="1200" b="0" u="none" strike="noStrike" dirty="0">
                <a:solidFill>
                  <a:srgbClr val="000000"/>
                </a:solidFill>
                <a:effectLst/>
                <a:uFillTx/>
                <a:latin typeface="OpenSymbol"/>
              </a:rPr>
              <a:t>).</a:t>
            </a:r>
          </a:p>
          <a:p>
            <a:pPr marL="628650" lvl="1" indent="-171450" algn="just">
              <a:lnSpc>
                <a:spcPct val="150000"/>
              </a:lnSpc>
              <a:buFont typeface="Courier New" panose="02070309020205020404" pitchFamily="49" charset="0"/>
              <a:buChar char="o"/>
              <a:tabLst>
                <a:tab pos="0" algn="l"/>
              </a:tabLst>
            </a:pPr>
            <a:r>
              <a:rPr lang="el-GR" sz="1200" b="0" u="none" strike="noStrike" dirty="0">
                <a:solidFill>
                  <a:srgbClr val="000000"/>
                </a:solidFill>
                <a:effectLst/>
                <a:uFillTx/>
                <a:latin typeface="OpenSymbol"/>
              </a:rPr>
              <a:t>Χωρίς κρυφά κόστη (σε αντίθεση με </a:t>
            </a:r>
            <a:r>
              <a:rPr lang="el-GR" sz="1200" b="0" u="none" strike="noStrike" dirty="0" err="1">
                <a:solidFill>
                  <a:srgbClr val="000000"/>
                </a:solidFill>
                <a:effectLst/>
                <a:uFillTx/>
                <a:latin typeface="OpenSymbol"/>
              </a:rPr>
              <a:t>Cloud</a:t>
            </a:r>
            <a:r>
              <a:rPr lang="el-GR" sz="1200" b="0" u="none" strike="noStrike" dirty="0">
                <a:solidFill>
                  <a:srgbClr val="000000"/>
                </a:solidFill>
                <a:effectLst/>
                <a:uFillTx/>
                <a:latin typeface="OpenSymbol"/>
              </a:rPr>
              <a:t> </a:t>
            </a:r>
            <a:r>
              <a:rPr lang="el-GR" sz="1200" b="0" u="none" strike="noStrike" dirty="0" err="1">
                <a:solidFill>
                  <a:srgbClr val="000000"/>
                </a:solidFill>
                <a:effectLst/>
                <a:uFillTx/>
                <a:latin typeface="OpenSymbol"/>
              </a:rPr>
              <a:t>Providers</a:t>
            </a:r>
            <a:r>
              <a:rPr lang="el-GR" sz="1200" b="0" u="none" strike="noStrike" dirty="0">
                <a:solidFill>
                  <a:srgbClr val="000000"/>
                </a:solidFill>
                <a:effectLst/>
                <a:uFillTx/>
                <a:latin typeface="OpenSymbol"/>
              </a:rPr>
              <a:t>).</a:t>
            </a:r>
          </a:p>
          <a:p>
            <a:pPr marL="628650" lvl="1" indent="-171450" algn="just">
              <a:lnSpc>
                <a:spcPct val="150000"/>
              </a:lnSpc>
              <a:buFont typeface="Courier New" panose="02070309020205020404" pitchFamily="49" charset="0"/>
              <a:buChar char="o"/>
              <a:tabLst>
                <a:tab pos="0" algn="l"/>
              </a:tabLst>
            </a:pPr>
            <a:r>
              <a:rPr lang="el-GR" sz="1200" b="0" u="none" strike="noStrike" dirty="0">
                <a:solidFill>
                  <a:srgbClr val="000000"/>
                </a:solidFill>
                <a:effectLst/>
                <a:uFillTx/>
                <a:latin typeface="OpenSymbol"/>
              </a:rPr>
              <a:t>Επεκτασιμότητα μέσω </a:t>
            </a:r>
            <a:r>
              <a:rPr lang="el-GR" sz="1200" b="0" u="none" strike="noStrike" dirty="0" err="1">
                <a:solidFill>
                  <a:srgbClr val="000000"/>
                </a:solidFill>
                <a:effectLst/>
                <a:uFillTx/>
                <a:latin typeface="OpenSymbol"/>
              </a:rPr>
              <a:t>Kubernetes</a:t>
            </a:r>
            <a:r>
              <a:rPr lang="el-GR" sz="1200" b="0" u="none" strike="noStrike" dirty="0">
                <a:solidFill>
                  <a:srgbClr val="000000"/>
                </a:solidFill>
                <a:effectLst/>
                <a:uFillTx/>
                <a:latin typeface="OpenSymbol"/>
              </a:rPr>
              <a:t>.</a:t>
            </a:r>
          </a:p>
          <a:p>
            <a:pPr marL="171450" indent="-171450" algn="just">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Μειονεκτήματα:</a:t>
            </a:r>
          </a:p>
          <a:p>
            <a:pPr marL="628650" lvl="1" indent="-171450" algn="just">
              <a:lnSpc>
                <a:spcPct val="150000"/>
              </a:lnSpc>
              <a:buFont typeface="Courier New" panose="02070309020205020404" pitchFamily="49" charset="0"/>
              <a:buChar char="o"/>
              <a:tabLst>
                <a:tab pos="0" algn="l"/>
              </a:tabLst>
            </a:pPr>
            <a:r>
              <a:rPr lang="el-GR" sz="1200" b="0" u="none" strike="noStrike" dirty="0">
                <a:solidFill>
                  <a:srgbClr val="000000"/>
                </a:solidFill>
                <a:effectLst/>
                <a:uFillTx/>
                <a:latin typeface="OpenSymbol"/>
              </a:rPr>
              <a:t>Απαιτεί διαχείριση της υποδομής (αν είναι On-</a:t>
            </a:r>
            <a:r>
              <a:rPr lang="el-GR" sz="1200" b="0" u="none" strike="noStrike" dirty="0" err="1">
                <a:solidFill>
                  <a:srgbClr val="000000"/>
                </a:solidFill>
                <a:effectLst/>
                <a:uFillTx/>
                <a:latin typeface="OpenSymbol"/>
              </a:rPr>
              <a:t>Premise</a:t>
            </a:r>
            <a:r>
              <a:rPr lang="el-GR" sz="1200" b="0" u="none" strike="noStrike" dirty="0">
                <a:solidFill>
                  <a:srgbClr val="000000"/>
                </a:solidFill>
                <a:effectLst/>
                <a:uFillTx/>
                <a:latin typeface="OpenSymbol"/>
              </a:rPr>
              <a:t>).</a:t>
            </a:r>
          </a:p>
          <a:p>
            <a:pPr marL="628650" lvl="1" indent="-171450" algn="just">
              <a:lnSpc>
                <a:spcPct val="150000"/>
              </a:lnSpc>
              <a:buFont typeface="Courier New" panose="02070309020205020404" pitchFamily="49" charset="0"/>
              <a:buChar char="o"/>
              <a:tabLst>
                <a:tab pos="0" algn="l"/>
              </a:tabLst>
            </a:pPr>
            <a:r>
              <a:rPr lang="el-GR" sz="1200" b="0" u="none" strike="noStrike" dirty="0">
                <a:solidFill>
                  <a:srgbClr val="000000"/>
                </a:solidFill>
                <a:effectLst/>
                <a:uFillTx/>
                <a:latin typeface="OpenSymbol"/>
              </a:rPr>
              <a:t>Έλλειψη (τρέχουσα) υποστήριξης GPU.</a:t>
            </a:r>
          </a:p>
          <a:p>
            <a:pPr marL="171450" indent="-171450" algn="just">
              <a:lnSpc>
                <a:spcPct val="150000"/>
              </a:lnSpc>
              <a:buFont typeface="Arial" panose="020B0604020202020204" pitchFamily="34" charset="0"/>
              <a:buChar char="•"/>
              <a:tabLst>
                <a:tab pos="0" algn="l"/>
              </a:tabLst>
            </a:pPr>
            <a:endParaRPr lang="en-US" sz="1200" b="0" u="none" strike="noStrike" dirty="0">
              <a:solidFill>
                <a:srgbClr val="000000"/>
              </a:solidFill>
              <a:effectLst/>
              <a:uFillTx/>
              <a:latin typeface="OpenSymbol"/>
            </a:endParaRPr>
          </a:p>
        </p:txBody>
      </p:sp>
    </p:spTree>
    <p:extLst>
      <p:ext uri="{BB962C8B-B14F-4D97-AF65-F5344CB8AC3E}">
        <p14:creationId xmlns:p14="http://schemas.microsoft.com/office/powerpoint/2010/main" val="2209250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Rectangle 331"/>
          <p:cNvSpPr/>
          <p:nvPr/>
        </p:nvSpPr>
        <p:spPr>
          <a:xfrm>
            <a:off x="95256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03</a:t>
            </a:r>
            <a:endParaRPr lang="en-US" sz="5000" b="0" u="none" strike="noStrike">
              <a:solidFill>
                <a:srgbClr val="000000"/>
              </a:solidFill>
              <a:effectLst/>
              <a:uFillTx/>
              <a:latin typeface="OpenSymbol"/>
            </a:endParaRPr>
          </a:p>
        </p:txBody>
      </p:sp>
      <p:sp>
        <p:nvSpPr>
          <p:cNvPr id="333" name="Rectangle 332"/>
          <p:cNvSpPr/>
          <p:nvPr/>
        </p:nvSpPr>
        <p:spPr>
          <a:xfrm>
            <a:off x="952560" y="1428840"/>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Outfit"/>
              </a:rPr>
              <a:t>Συμπεράσματα &amp; Προοπτικές</a:t>
            </a:r>
            <a:endParaRPr lang="en-US" sz="4000" b="0" u="none" strike="noStrike">
              <a:solidFill>
                <a:srgbClr val="000000"/>
              </a:solidFill>
              <a:effectLst/>
              <a:uFillTx/>
              <a:latin typeface="OpenSymbo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Rectangle 336"/>
          <p:cNvSpPr/>
          <p:nvPr/>
        </p:nvSpPr>
        <p:spPr>
          <a:xfrm>
            <a:off x="476280" y="476280"/>
            <a:ext cx="8191080" cy="523845"/>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algn="ctr" defTabSz="914400">
              <a:lnSpc>
                <a:spcPct val="100000"/>
              </a:lnSpc>
              <a:tabLst>
                <a:tab pos="0" algn="l"/>
              </a:tabLst>
            </a:pPr>
            <a:r>
              <a:rPr lang="en-US" sz="2200" b="1" u="none" strike="noStrike" dirty="0" err="1">
                <a:solidFill>
                  <a:schemeClr val="dk1"/>
                </a:solidFill>
                <a:effectLst/>
                <a:uFillTx/>
                <a:latin typeface="Outfit"/>
              </a:rPr>
              <a:t>Συμ</a:t>
            </a:r>
            <a:r>
              <a:rPr lang="en-US" sz="2200" b="1" u="none" strike="noStrike" dirty="0">
                <a:solidFill>
                  <a:schemeClr val="dk1"/>
                </a:solidFill>
                <a:effectLst/>
                <a:uFillTx/>
                <a:latin typeface="Outfit"/>
              </a:rPr>
              <a:t>περάσματα</a:t>
            </a:r>
            <a:endParaRPr lang="en-US" sz="2200" b="0" u="none" strike="noStrike" dirty="0">
              <a:solidFill>
                <a:srgbClr val="000000"/>
              </a:solidFill>
              <a:effectLst/>
              <a:uFillTx/>
              <a:latin typeface="OpenSymbol"/>
            </a:endParaRPr>
          </a:p>
        </p:txBody>
      </p:sp>
      <p:sp>
        <p:nvSpPr>
          <p:cNvPr id="338" name="Rectangle 337"/>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171450" indent="-171450" algn="just" defTabSz="914400">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Επιτυχής ανάπτυξη μιας </a:t>
            </a:r>
            <a:r>
              <a:rPr lang="el-GR" sz="1200" b="0" u="none" strike="noStrike" dirty="0" err="1">
                <a:solidFill>
                  <a:srgbClr val="000000"/>
                </a:solidFill>
                <a:effectLst/>
                <a:uFillTx/>
                <a:latin typeface="OpenSymbol"/>
              </a:rPr>
              <a:t>Cloud-Native</a:t>
            </a:r>
            <a:r>
              <a:rPr lang="el-GR" sz="1200" b="0" u="none" strike="noStrike" dirty="0">
                <a:solidFill>
                  <a:srgbClr val="000000"/>
                </a:solidFill>
                <a:effectLst/>
                <a:uFillTx/>
                <a:latin typeface="OpenSymbol"/>
              </a:rPr>
              <a:t> </a:t>
            </a:r>
            <a:r>
              <a:rPr lang="el-GR" sz="1200" b="0" u="none" strike="noStrike" dirty="0" err="1">
                <a:solidFill>
                  <a:srgbClr val="000000"/>
                </a:solidFill>
                <a:effectLst/>
                <a:uFillTx/>
                <a:latin typeface="OpenSymbol"/>
              </a:rPr>
              <a:t>MLaaS</a:t>
            </a:r>
            <a:r>
              <a:rPr lang="el-GR" sz="1200" b="0" u="none" strike="noStrike" dirty="0">
                <a:solidFill>
                  <a:srgbClr val="000000"/>
                </a:solidFill>
                <a:effectLst/>
                <a:uFillTx/>
                <a:latin typeface="OpenSymbol"/>
              </a:rPr>
              <a:t> πλατφόρμας.</a:t>
            </a:r>
          </a:p>
          <a:p>
            <a:pPr marL="171450" indent="-171450" algn="just" defTabSz="914400">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Απόδειξη της αξίας των Containers για την απομόνωση ML φορτίων.</a:t>
            </a:r>
          </a:p>
          <a:p>
            <a:pPr marL="171450" indent="-171450" algn="just" defTabSz="914400">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Το ασύγχρονο μοντέλο είναι μονόδρομος για τέτοιου είδους εφαρμογές.</a:t>
            </a:r>
          </a:p>
          <a:p>
            <a:pPr marL="171450" indent="-171450" algn="just" defTabSz="914400">
              <a:lnSpc>
                <a:spcPct val="150000"/>
              </a:lnSpc>
              <a:buFont typeface="Arial" panose="020B0604020202020204" pitchFamily="34" charset="0"/>
              <a:buChar char="•"/>
              <a:tabLst>
                <a:tab pos="0" algn="l"/>
              </a:tabLst>
            </a:pPr>
            <a:r>
              <a:rPr lang="el-GR" sz="1200" b="0" u="none" strike="noStrike" dirty="0">
                <a:solidFill>
                  <a:srgbClr val="000000"/>
                </a:solidFill>
                <a:effectLst/>
                <a:uFillTx/>
                <a:latin typeface="OpenSymbol"/>
              </a:rPr>
              <a:t>Η πλατφόρμα αποτελεί σταθερή βάση για ακαδημαϊκή και ερευνητική χρήση.</a:t>
            </a:r>
          </a:p>
          <a:p>
            <a:pPr marL="171450" indent="-171450" algn="just" defTabSz="914400">
              <a:lnSpc>
                <a:spcPct val="150000"/>
              </a:lnSpc>
              <a:buFont typeface="Arial" panose="020B0604020202020204" pitchFamily="34" charset="0"/>
              <a:buChar char="•"/>
              <a:tabLst>
                <a:tab pos="0" algn="l"/>
              </a:tabLst>
            </a:pPr>
            <a:endParaRPr lang="en-US" sz="1200" b="0" u="none" strike="noStrike" dirty="0">
              <a:solidFill>
                <a:srgbClr val="000000"/>
              </a:solidFill>
              <a:effectLst/>
              <a:uFillTx/>
              <a:latin typeface="OpenSymbo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Rectangle 33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3500" b="1" u="none" strike="noStrike" dirty="0" err="1">
                <a:solidFill>
                  <a:schemeClr val="dk1"/>
                </a:solidFill>
                <a:effectLst/>
                <a:uFillTx/>
                <a:latin typeface="Outfit"/>
              </a:rPr>
              <a:t>Μελλοντική</a:t>
            </a:r>
            <a:r>
              <a:rPr lang="en-US" sz="3500" b="1" u="none" strike="noStrike" dirty="0">
                <a:solidFill>
                  <a:schemeClr val="dk1"/>
                </a:solidFill>
                <a:effectLst/>
                <a:uFillTx/>
                <a:latin typeface="Outfit"/>
              </a:rPr>
              <a:t> </a:t>
            </a:r>
            <a:r>
              <a:rPr lang="el-GR" sz="3500" b="1" dirty="0">
                <a:solidFill>
                  <a:schemeClr val="dk1"/>
                </a:solidFill>
                <a:latin typeface="Outfit"/>
              </a:rPr>
              <a:t>Ε</a:t>
            </a:r>
            <a:r>
              <a:rPr lang="en-US" sz="3500" b="1" u="none" strike="noStrike" dirty="0" err="1">
                <a:solidFill>
                  <a:schemeClr val="dk1"/>
                </a:solidFill>
                <a:effectLst/>
                <a:uFillTx/>
                <a:latin typeface="Outfit"/>
              </a:rPr>
              <a:t>ργ</a:t>
            </a:r>
            <a:r>
              <a:rPr lang="en-US" sz="3500" b="1" u="none" strike="noStrike" dirty="0">
                <a:solidFill>
                  <a:schemeClr val="dk1"/>
                </a:solidFill>
                <a:effectLst/>
                <a:uFillTx/>
                <a:latin typeface="Outfit"/>
              </a:rPr>
              <a:t>ασία</a:t>
            </a:r>
            <a:endParaRPr lang="en-US" sz="3500" b="0" u="none" strike="noStrike" dirty="0">
              <a:solidFill>
                <a:srgbClr val="000000"/>
              </a:solidFill>
              <a:effectLst/>
              <a:uFillTx/>
              <a:latin typeface="OpenSymbol"/>
            </a:endParaRPr>
          </a:p>
        </p:txBody>
      </p:sp>
      <p:sp>
        <p:nvSpPr>
          <p:cNvPr id="340" name="Rectangle 33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u="none" strike="noStrike">
                <a:solidFill>
                  <a:schemeClr val="dk1"/>
                </a:solidFill>
                <a:effectLst/>
                <a:uFillTx/>
                <a:latin typeface="DM Sans"/>
              </a:rPr>
              <a:t>Η μελλοντική εργασία περιλαμβάνει διεύρυνση των δυνατοτήτων αυτοματοποίησης, ενσωμάτωση προηγμένων τεχνικών ασφαλείας και διερεύνηση μηχανισμών βελτιστοποίησης απόδοσης. Το όραμα είναι η συνέχιση της ανάπτυξης μιας ολοκληρωμένης και ευέλικτης πλατφόρμας μηχανικής μάθησης στο cloud.</a:t>
            </a:r>
            <a:endParaRPr lang="en-US" sz="1200" b="0" u="none" strike="noStrike">
              <a:solidFill>
                <a:srgbClr val="000000"/>
              </a:solidFill>
              <a:effectLst/>
              <a:uFillTx/>
              <a:latin typeface="OpenSymbo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Google Shape;664;p50"/>
          <p:cNvSpPr/>
          <p:nvPr/>
        </p:nvSpPr>
        <p:spPr>
          <a:xfrm>
            <a:off x="5122080" y="1060200"/>
            <a:ext cx="3108960" cy="310896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35" name="PlaceHolder 1"/>
          <p:cNvSpPr>
            <a:spLocks noGrp="1"/>
          </p:cNvSpPr>
          <p:nvPr>
            <p:ph type="title"/>
          </p:nvPr>
        </p:nvSpPr>
        <p:spPr>
          <a:xfrm>
            <a:off x="723960" y="1266840"/>
            <a:ext cx="3781080" cy="170460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500" b="1" u="none" strike="noStrike" dirty="0" err="1">
                <a:solidFill>
                  <a:schemeClr val="dk1"/>
                </a:solidFill>
                <a:effectLst/>
                <a:uFillTx/>
                <a:latin typeface="Outfit"/>
                <a:ea typeface="Outfit"/>
              </a:rPr>
              <a:t>Πλεονεκτήμ</a:t>
            </a:r>
            <a:r>
              <a:rPr lang="en-US" sz="3500" b="1" u="none" strike="noStrike" dirty="0">
                <a:solidFill>
                  <a:schemeClr val="dk1"/>
                </a:solidFill>
                <a:effectLst/>
                <a:uFillTx/>
                <a:latin typeface="Outfit"/>
                <a:ea typeface="Outfit"/>
              </a:rPr>
              <a:t>ατα προτεινόμενης εφαρμογής</a:t>
            </a:r>
            <a:endParaRPr lang="fr-FR" sz="3500" b="0" u="none" strike="noStrike" dirty="0">
              <a:solidFill>
                <a:schemeClr val="dk1"/>
              </a:solidFill>
              <a:effectLst/>
              <a:uFillTx/>
              <a:latin typeface="Arial"/>
            </a:endParaRPr>
          </a:p>
        </p:txBody>
      </p:sp>
      <p:sp>
        <p:nvSpPr>
          <p:cNvPr id="336" name="PlaceHolder 2"/>
          <p:cNvSpPr>
            <a:spLocks noGrp="1"/>
          </p:cNvSpPr>
          <p:nvPr>
            <p:ph type="subTitle"/>
          </p:nvPr>
        </p:nvSpPr>
        <p:spPr>
          <a:xfrm>
            <a:off x="723960" y="2981160"/>
            <a:ext cx="3781080" cy="894960"/>
          </a:xfrm>
          <a:prstGeom prst="rect">
            <a:avLst/>
          </a:prstGeom>
          <a:noFill/>
          <a:ln w="0">
            <a:noFill/>
          </a:ln>
        </p:spPr>
        <p:txBody>
          <a:bodyPr lIns="91440" tIns="91440" rIns="91440" bIns="91440" anchor="t">
            <a:normAutofit fontScale="70000" lnSpcReduction="20000"/>
          </a:bodyPr>
          <a:lstStyle/>
          <a:p>
            <a:pPr indent="0">
              <a:lnSpc>
                <a:spcPct val="150000"/>
              </a:lnSpc>
              <a:buNone/>
              <a:tabLst>
                <a:tab pos="0" algn="l"/>
              </a:tabLst>
            </a:pPr>
            <a:r>
              <a:rPr lang="en-US" sz="1200" b="0" u="none" strike="noStrike" dirty="0">
                <a:solidFill>
                  <a:schemeClr val="dk1"/>
                </a:solidFill>
                <a:effectLst/>
                <a:uFillTx/>
                <a:latin typeface="DM Sans"/>
                <a:ea typeface="DM Sans"/>
              </a:rPr>
              <a:t>Η </a:t>
            </a:r>
            <a:r>
              <a:rPr lang="en-US" sz="1200" b="0" u="none" strike="noStrike" dirty="0" err="1">
                <a:solidFill>
                  <a:schemeClr val="dk1"/>
                </a:solidFill>
                <a:effectLst/>
                <a:uFillTx/>
                <a:latin typeface="DM Sans"/>
                <a:ea typeface="DM Sans"/>
              </a:rPr>
              <a:t>εφ</a:t>
            </a:r>
            <a:r>
              <a:rPr lang="en-US" sz="1200" b="0" u="none" strike="noStrike" dirty="0">
                <a:solidFill>
                  <a:schemeClr val="dk1"/>
                </a:solidFill>
                <a:effectLst/>
                <a:uFillTx/>
                <a:latin typeface="DM Sans"/>
                <a:ea typeface="DM Sans"/>
              </a:rPr>
              <a:t>αρμογή προσφέρει ευκολία στη δημιουργία και διαχείριση μοντέλων μέσω cloud, βελτιστοποίηση πόρων και αυξημένη αξιοπιστία χάρη στη συνδυασμένη χρήση δοχείων και ενορχήστρωσης. Υπ</a:t>
            </a:r>
            <a:r>
              <a:rPr lang="en-US" sz="1200" b="0" u="none" strike="noStrike" dirty="0" err="1">
                <a:solidFill>
                  <a:schemeClr val="dk1"/>
                </a:solidFill>
                <a:effectLst/>
                <a:uFillTx/>
                <a:latin typeface="DM Sans"/>
                <a:ea typeface="DM Sans"/>
              </a:rPr>
              <a:t>οστηρίζει</a:t>
            </a:r>
            <a:r>
              <a:rPr lang="en-US" sz="1200" b="0" u="none" strike="noStrike" dirty="0">
                <a:solidFill>
                  <a:schemeClr val="dk1"/>
                </a:solidFill>
                <a:effectLst/>
                <a:uFillTx/>
                <a:latin typeface="DM Sans"/>
                <a:ea typeface="DM Sans"/>
              </a:rPr>
              <a:t> επ</a:t>
            </a:r>
            <a:r>
              <a:rPr lang="en-US" sz="1200" b="0" u="none" strike="noStrike" dirty="0" err="1">
                <a:solidFill>
                  <a:schemeClr val="dk1"/>
                </a:solidFill>
                <a:effectLst/>
                <a:uFillTx/>
                <a:latin typeface="DM Sans"/>
                <a:ea typeface="DM Sans"/>
              </a:rPr>
              <a:t>εκτ</a:t>
            </a:r>
            <a:r>
              <a:rPr lang="en-US" sz="1200" b="0" u="none" strike="noStrike" dirty="0">
                <a:solidFill>
                  <a:schemeClr val="dk1"/>
                </a:solidFill>
                <a:effectLst/>
                <a:uFillTx/>
                <a:latin typeface="DM Sans"/>
                <a:ea typeface="DM Sans"/>
              </a:rPr>
              <a:t>ασιμότητα και ευελιξία, ικανοποιώντας σύγχρονες ανάγκες μηχανικής μάθησης.</a:t>
            </a:r>
            <a:endParaRPr lang="en-US" sz="1200" b="0" u="none" strike="noStrike" dirty="0">
              <a:solidFill>
                <a:srgbClr val="000000"/>
              </a:solidFill>
              <a:effectLst/>
              <a:uFillTx/>
              <a:latin typeface="OpenSymbo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8A1A2-6ABC-0151-40A2-2736D21CC40E}"/>
            </a:ext>
          </a:extLst>
        </p:cNvPr>
        <p:cNvGrpSpPr/>
        <p:nvPr/>
      </p:nvGrpSpPr>
      <p:grpSpPr>
        <a:xfrm>
          <a:off x="0" y="0"/>
          <a:ext cx="0" cy="0"/>
          <a:chOff x="0" y="0"/>
          <a:chExt cx="0" cy="0"/>
        </a:xfrm>
      </p:grpSpPr>
      <p:sp>
        <p:nvSpPr>
          <p:cNvPr id="330" name="Rectangle 329">
            <a:extLst>
              <a:ext uri="{FF2B5EF4-FFF2-40B4-BE49-F238E27FC236}">
                <a16:creationId xmlns:a16="http://schemas.microsoft.com/office/drawing/2014/main" id="{033EDC74-2A28-857D-3BDE-C8968E906BF8}"/>
              </a:ext>
            </a:extLst>
          </p:cNvPr>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3500" b="1" u="none" strike="noStrike" dirty="0" err="1">
                <a:solidFill>
                  <a:schemeClr val="dk1"/>
                </a:solidFill>
                <a:effectLst/>
                <a:uFillTx/>
                <a:latin typeface="Outfit"/>
              </a:rPr>
              <a:t>Σύγκριση</a:t>
            </a:r>
            <a:r>
              <a:rPr lang="en-US" sz="3500" b="1" u="none" strike="noStrike" dirty="0">
                <a:solidFill>
                  <a:schemeClr val="dk1"/>
                </a:solidFill>
                <a:effectLst/>
                <a:uFillTx/>
                <a:latin typeface="Outfit"/>
              </a:rPr>
              <a:t> </a:t>
            </a:r>
            <a:r>
              <a:rPr lang="en-US" sz="3500" b="1" u="none" strike="noStrike" dirty="0" err="1">
                <a:solidFill>
                  <a:schemeClr val="dk1"/>
                </a:solidFill>
                <a:effectLst/>
                <a:uFillTx/>
                <a:latin typeface="Outfit"/>
              </a:rPr>
              <a:t>εργ</a:t>
            </a:r>
            <a:r>
              <a:rPr lang="en-US" sz="3500" b="1" u="none" strike="noStrike" dirty="0">
                <a:solidFill>
                  <a:schemeClr val="dk1"/>
                </a:solidFill>
                <a:effectLst/>
                <a:uFillTx/>
                <a:latin typeface="Outfit"/>
              </a:rPr>
              <a:t>αλείων ML (SageMaker, Vertex AI, Azure)</a:t>
            </a:r>
            <a:endParaRPr lang="en-US" sz="3500" b="0" u="none" strike="noStrike" dirty="0">
              <a:solidFill>
                <a:srgbClr val="000000"/>
              </a:solidFill>
              <a:effectLst/>
              <a:uFillTx/>
              <a:latin typeface="OpenSymbol"/>
            </a:endParaRPr>
          </a:p>
        </p:txBody>
      </p:sp>
      <p:sp>
        <p:nvSpPr>
          <p:cNvPr id="331" name="Rectangle 330">
            <a:extLst>
              <a:ext uri="{FF2B5EF4-FFF2-40B4-BE49-F238E27FC236}">
                <a16:creationId xmlns:a16="http://schemas.microsoft.com/office/drawing/2014/main" id="{71FE684A-0DE9-F42A-91E2-D3764DB82B33}"/>
              </a:ext>
            </a:extLst>
          </p:cNvPr>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u="none" strike="noStrike">
                <a:solidFill>
                  <a:schemeClr val="dk1"/>
                </a:solidFill>
                <a:effectLst/>
                <a:uFillTx/>
                <a:latin typeface="DM Sans"/>
              </a:rPr>
              <a:t>Παρουσιάζονται συγκριτικά χαρακτηριστικά των κύριων πλατφορμών ML: Amazon SageMaker, Google Vertex AI και Microsoft Azure ML. Αξιολογούνται λειτουργικότητες, υποστήριξη δοχειοποίησης, αυτοματοποίηση κύκλου ζωής μοντέλων και επεκτασιμότητα, αναδεικνύοντας τα χαρακτηριστικά που διαφοροποιούν το προτεινόμενο σύστημα.</a:t>
            </a:r>
            <a:endParaRPr lang="en-US" sz="1200" b="0" u="none" strike="noStrike">
              <a:solidFill>
                <a:srgbClr val="000000"/>
              </a:solidFill>
              <a:effectLst/>
              <a:uFillTx/>
              <a:latin typeface="OpenSymbol"/>
            </a:endParaRPr>
          </a:p>
        </p:txBody>
      </p:sp>
    </p:spTree>
    <p:extLst>
      <p:ext uri="{BB962C8B-B14F-4D97-AF65-F5344CB8AC3E}">
        <p14:creationId xmlns:p14="http://schemas.microsoft.com/office/powerpoint/2010/main" val="3566956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Google Shape;664;p50"/>
          <p:cNvSpPr/>
          <p:nvPr/>
        </p:nvSpPr>
        <p:spPr>
          <a:xfrm>
            <a:off x="5122080" y="1060200"/>
            <a:ext cx="3108960" cy="3108960"/>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42" name="PlaceHolder 1"/>
          <p:cNvSpPr>
            <a:spLocks noGrp="1"/>
          </p:cNvSpPr>
          <p:nvPr>
            <p:ph type="title"/>
          </p:nvPr>
        </p:nvSpPr>
        <p:spPr>
          <a:xfrm>
            <a:off x="723960" y="1266840"/>
            <a:ext cx="3781080" cy="1704600"/>
          </a:xfrm>
          <a:prstGeom prst="rect">
            <a:avLst/>
          </a:prstGeom>
          <a:noFill/>
          <a:ln w="0">
            <a:noFill/>
          </a:ln>
        </p:spPr>
        <p:txBody>
          <a:bodyPr lIns="91440" tIns="91440" rIns="91440" bIns="91440" anchor="b">
            <a:normAutofit/>
          </a:bodyPr>
          <a:lstStyle/>
          <a:p>
            <a:pPr>
              <a:lnSpc>
                <a:spcPct val="100000"/>
              </a:lnSpc>
              <a:tabLst>
                <a:tab pos="0" algn="l"/>
              </a:tabLst>
            </a:pPr>
            <a:r>
              <a:rPr lang="el-GR" sz="3600" dirty="0"/>
              <a:t>Συμπεράσματα</a:t>
            </a:r>
            <a:endParaRPr lang="fr-FR" sz="3500" b="0" u="none" strike="noStrike" dirty="0">
              <a:solidFill>
                <a:schemeClr val="dk1"/>
              </a:solidFill>
              <a:effectLst/>
              <a:uFillTx/>
              <a:latin typeface="Arial"/>
            </a:endParaRPr>
          </a:p>
        </p:txBody>
      </p:sp>
      <p:sp>
        <p:nvSpPr>
          <p:cNvPr id="343" name="PlaceHolder 2"/>
          <p:cNvSpPr>
            <a:spLocks noGrp="1"/>
          </p:cNvSpPr>
          <p:nvPr>
            <p:ph type="subTitle"/>
          </p:nvPr>
        </p:nvSpPr>
        <p:spPr>
          <a:xfrm>
            <a:off x="723960" y="2981160"/>
            <a:ext cx="3781080" cy="894960"/>
          </a:xfrm>
          <a:prstGeom prst="rect">
            <a:avLst/>
          </a:prstGeom>
          <a:noFill/>
          <a:ln w="0">
            <a:noFill/>
          </a:ln>
        </p:spPr>
        <p:txBody>
          <a:bodyPr lIns="91440" tIns="91440" rIns="91440" bIns="91440" anchor="t">
            <a:normAutofit fontScale="55000" lnSpcReduction="20000"/>
          </a:bodyPr>
          <a:lstStyle/>
          <a:p>
            <a:pPr indent="0">
              <a:lnSpc>
                <a:spcPct val="150000"/>
              </a:lnSpc>
              <a:buNone/>
              <a:tabLst>
                <a:tab pos="0" algn="l"/>
              </a:tabLst>
            </a:pPr>
            <a:r>
              <a:rPr lang="en-US" sz="1200" b="0" u="none" strike="noStrike" dirty="0">
                <a:solidFill>
                  <a:schemeClr val="dk1"/>
                </a:solidFill>
                <a:effectLst/>
                <a:uFillTx/>
                <a:latin typeface="DM Sans"/>
                <a:ea typeface="DM Sans"/>
              </a:rPr>
              <a:t>Η πα</a:t>
            </a:r>
            <a:r>
              <a:rPr lang="en-US" sz="1200" b="0" u="none" strike="noStrike" dirty="0" err="1">
                <a:solidFill>
                  <a:schemeClr val="dk1"/>
                </a:solidFill>
                <a:effectLst/>
                <a:uFillTx/>
                <a:latin typeface="DM Sans"/>
                <a:ea typeface="DM Sans"/>
              </a:rPr>
              <a:t>ρουσί</a:t>
            </a:r>
            <a:r>
              <a:rPr lang="en-US" sz="1200" b="0" u="none" strike="noStrike" dirty="0">
                <a:solidFill>
                  <a:schemeClr val="dk1"/>
                </a:solidFill>
                <a:effectLst/>
                <a:uFillTx/>
                <a:latin typeface="DM Sans"/>
                <a:ea typeface="DM Sans"/>
              </a:rPr>
              <a:t>αση κατέληξε σε μια σαφή εικόνα της υλοποίησης και των πλεονεκτημάτων της προτεινόμενης εφαρμογής. </a:t>
            </a:r>
            <a:r>
              <a:rPr lang="en-US" sz="1200" b="0" u="none" strike="noStrike" dirty="0" err="1">
                <a:solidFill>
                  <a:schemeClr val="dk1"/>
                </a:solidFill>
                <a:effectLst/>
                <a:uFillTx/>
                <a:latin typeface="DM Sans"/>
                <a:ea typeface="DM Sans"/>
              </a:rPr>
              <a:t>Αν</a:t>
            </a:r>
            <a:r>
              <a:rPr lang="en-US" sz="1200" b="0" u="none" strike="noStrike" dirty="0">
                <a:solidFill>
                  <a:schemeClr val="dk1"/>
                </a:solidFill>
                <a:effectLst/>
                <a:uFillTx/>
                <a:latin typeface="DM Sans"/>
                <a:ea typeface="DM Sans"/>
              </a:rPr>
              <a:t>αδεικνύεται η συνεισφορά της στις σύγχρονες ανάγκες μηχανικής μάθησης με υποστηρικτική και κλιμακούμενη υποδομή. Τα </a:t>
            </a:r>
            <a:r>
              <a:rPr lang="en-US" sz="1200" b="0" u="none" strike="noStrike" dirty="0" err="1">
                <a:solidFill>
                  <a:schemeClr val="dk1"/>
                </a:solidFill>
                <a:effectLst/>
                <a:uFillTx/>
                <a:latin typeface="DM Sans"/>
                <a:ea typeface="DM Sans"/>
              </a:rPr>
              <a:t>συμ</a:t>
            </a:r>
            <a:r>
              <a:rPr lang="en-US" sz="1200" b="0" u="none" strike="noStrike" dirty="0">
                <a:solidFill>
                  <a:schemeClr val="dk1"/>
                </a:solidFill>
                <a:effectLst/>
                <a:uFillTx/>
                <a:latin typeface="DM Sans"/>
                <a:ea typeface="DM Sans"/>
              </a:rPr>
              <a:t>περάσματα ανοίγουν δρόμους για περαιτέρω έρευνα και ανάπτυξη σε αυτόν τον δυναμικό τομέα.</a:t>
            </a:r>
            <a:endParaRPr lang="en-US" sz="1200" b="0" u="none" strike="noStrike" dirty="0">
              <a:solidFill>
                <a:srgbClr val="000000"/>
              </a:solidFill>
              <a:effectLst/>
              <a:uFillTx/>
              <a:latin typeface="OpenSymbol"/>
            </a:endParaRPr>
          </a:p>
        </p:txBody>
      </p:sp>
      <p:sp>
        <p:nvSpPr>
          <p:cNvPr id="2" name="TextBox 1">
            <a:extLst>
              <a:ext uri="{FF2B5EF4-FFF2-40B4-BE49-F238E27FC236}">
                <a16:creationId xmlns:a16="http://schemas.microsoft.com/office/drawing/2014/main" id="{A4CD63D2-9F00-F17A-8414-CDC9FD2A1312}"/>
              </a:ext>
            </a:extLst>
          </p:cNvPr>
          <p:cNvSpPr txBox="1"/>
          <p:nvPr/>
        </p:nvSpPr>
        <p:spPr>
          <a:xfrm>
            <a:off x="1124909" y="3966786"/>
            <a:ext cx="4440432" cy="923330"/>
          </a:xfrm>
          <a:prstGeom prst="rect">
            <a:avLst/>
          </a:prstGeom>
          <a:noFill/>
        </p:spPr>
        <p:txBody>
          <a:bodyPr wrap="square" rtlCol="0">
            <a:spAutoFit/>
          </a:bodyPr>
          <a:lstStyle/>
          <a:p>
            <a:pPr marL="285750" indent="-285750">
              <a:buFont typeface="Arial" panose="020B0604020202020204" pitchFamily="34" charset="0"/>
              <a:buChar char="•"/>
            </a:pPr>
            <a:r>
              <a:rPr lang="el-GR" dirty="0"/>
              <a:t>Πλήρες ML </a:t>
            </a:r>
            <a:r>
              <a:rPr lang="el-GR" dirty="0" err="1"/>
              <a:t>orchestration</a:t>
            </a:r>
            <a:r>
              <a:rPr lang="el-GR" dirty="0"/>
              <a:t> </a:t>
            </a:r>
            <a:endParaRPr lang="en-US" dirty="0"/>
          </a:p>
          <a:p>
            <a:pPr marL="285750" indent="-285750">
              <a:buFont typeface="Arial" panose="020B0604020202020204" pitchFamily="34" charset="0"/>
              <a:buChar char="•"/>
            </a:pPr>
            <a:r>
              <a:rPr lang="el-GR" dirty="0" err="1"/>
              <a:t>Cloud-native</a:t>
            </a:r>
            <a:r>
              <a:rPr lang="el-GR" dirty="0"/>
              <a:t> σχεδιασμός </a:t>
            </a:r>
            <a:endParaRPr lang="en-US" dirty="0"/>
          </a:p>
          <a:p>
            <a:pPr marL="285750" indent="-285750">
              <a:buFont typeface="Arial" panose="020B0604020202020204" pitchFamily="34" charset="0"/>
              <a:buChar char="•"/>
            </a:pPr>
            <a:r>
              <a:rPr lang="el-GR" dirty="0"/>
              <a:t>Ισχυρή βάση για επέκταση</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714240" y="676440"/>
            <a:ext cx="5095440" cy="2012040"/>
          </a:xfrm>
          <a:prstGeom prst="rect">
            <a:avLst/>
          </a:prstGeom>
          <a:noFill/>
          <a:ln w="0">
            <a:noFill/>
          </a:ln>
        </p:spPr>
        <p:txBody>
          <a:bodyPr lIns="91440" tIns="91440" rIns="91440" bIns="91440" anchor="t">
            <a:spAutoFit/>
          </a:bodyPr>
          <a:lstStyle/>
          <a:p>
            <a:pPr indent="0">
              <a:lnSpc>
                <a:spcPct val="100000"/>
              </a:lnSpc>
              <a:buNone/>
              <a:tabLst>
                <a:tab pos="0" algn="l"/>
              </a:tabLst>
            </a:pPr>
            <a:r>
              <a:rPr lang="en" sz="6000" b="1" u="none" strike="noStrike" dirty="0">
                <a:solidFill>
                  <a:schemeClr val="dk1"/>
                </a:solidFill>
                <a:effectLst/>
                <a:uFillTx/>
                <a:latin typeface="Outfit"/>
                <a:ea typeface="Outfit"/>
              </a:rPr>
              <a:t>Thanks!</a:t>
            </a:r>
            <a:endParaRPr lang="fr-FR" sz="6000" b="0" u="none" strike="noStrike" dirty="0">
              <a:solidFill>
                <a:schemeClr val="dk1"/>
              </a:solidFill>
              <a:effectLst/>
              <a:uFillTx/>
              <a:latin typeface="Arial"/>
            </a:endParaRPr>
          </a:p>
        </p:txBody>
      </p:sp>
      <p:sp>
        <p:nvSpPr>
          <p:cNvPr id="345" name="PlaceHolder 2"/>
          <p:cNvSpPr>
            <a:spLocks noGrp="1"/>
          </p:cNvSpPr>
          <p:nvPr>
            <p:ph type="subTitle"/>
          </p:nvPr>
        </p:nvSpPr>
        <p:spPr>
          <a:xfrm>
            <a:off x="714240" y="1838160"/>
            <a:ext cx="5095440" cy="1057320"/>
          </a:xfrm>
          <a:prstGeom prst="rect">
            <a:avLst/>
          </a:prstGeom>
          <a:noFill/>
          <a:ln w="0">
            <a:noFill/>
          </a:ln>
        </p:spPr>
        <p:txBody>
          <a:bodyPr lIns="91440" tIns="91440" rIns="91440" bIns="91440" anchor="ctr">
            <a:spAutoFit/>
          </a:bodyPr>
          <a:lstStyle/>
          <a:p>
            <a:pPr indent="0">
              <a:lnSpc>
                <a:spcPct val="100000"/>
              </a:lnSpc>
              <a:buNone/>
              <a:tabLst>
                <a:tab pos="0" algn="l"/>
              </a:tabLst>
            </a:pPr>
            <a:r>
              <a:rPr lang="en" sz="2000" b="0" u="none" strike="noStrike">
                <a:solidFill>
                  <a:schemeClr val="dk1"/>
                </a:solidFill>
                <a:effectLst/>
                <a:uFillTx/>
                <a:latin typeface="DM Sans"/>
                <a:ea typeface="DM Sans"/>
              </a:rPr>
              <a:t>Do you have any questions?</a:t>
            </a:r>
            <a:endParaRPr lang="en-US" sz="2000" b="0" u="none" strike="noStrike">
              <a:solidFill>
                <a:srgbClr val="000000"/>
              </a:solidFill>
              <a:effectLst/>
              <a:uFillTx/>
              <a:latin typeface="OpenSymbol"/>
            </a:endParaRPr>
          </a:p>
          <a:p>
            <a:pPr indent="0">
              <a:lnSpc>
                <a:spcPct val="100000"/>
              </a:lnSpc>
              <a:buNone/>
              <a:tabLst>
                <a:tab pos="0" algn="l"/>
              </a:tabLst>
            </a:pPr>
            <a:r>
              <a:rPr lang="en" sz="1400" b="0" u="none" strike="noStrike">
                <a:solidFill>
                  <a:schemeClr val="dk1"/>
                </a:solidFill>
                <a:effectLst/>
                <a:uFillTx/>
                <a:latin typeface="DM Sans"/>
                <a:ea typeface="DM Sans"/>
              </a:rPr>
              <a:t>youremail@freepik.com</a:t>
            </a:r>
            <a:endParaRPr lang="en-US" sz="1400" b="0" u="none" strike="noStrike">
              <a:solidFill>
                <a:srgbClr val="000000"/>
              </a:solidFill>
              <a:effectLst/>
              <a:uFillTx/>
              <a:latin typeface="OpenSymbol"/>
            </a:endParaRPr>
          </a:p>
          <a:p>
            <a:pPr indent="0">
              <a:lnSpc>
                <a:spcPct val="100000"/>
              </a:lnSpc>
              <a:buNone/>
              <a:tabLst>
                <a:tab pos="0" algn="l"/>
              </a:tabLst>
            </a:pPr>
            <a:r>
              <a:rPr lang="en" sz="1400" b="0" u="none" strike="noStrike">
                <a:solidFill>
                  <a:schemeClr val="dk1"/>
                </a:solidFill>
                <a:effectLst/>
                <a:uFillTx/>
                <a:latin typeface="DM Sans"/>
                <a:ea typeface="DM Sans"/>
              </a:rPr>
              <a:t>+34 654 321 432</a:t>
            </a:r>
            <a:endParaRPr lang="en-US" sz="1400" b="0" u="none" strike="noStrike">
              <a:solidFill>
                <a:srgbClr val="000000"/>
              </a:solidFill>
              <a:effectLst/>
              <a:uFillTx/>
              <a:latin typeface="OpenSymbol"/>
            </a:endParaRPr>
          </a:p>
          <a:p>
            <a:pPr indent="0">
              <a:lnSpc>
                <a:spcPct val="100000"/>
              </a:lnSpc>
              <a:buNone/>
              <a:tabLst>
                <a:tab pos="0" algn="l"/>
              </a:tabLst>
            </a:pPr>
            <a:r>
              <a:rPr lang="en" sz="1400" b="0" u="none" strike="noStrike">
                <a:solidFill>
                  <a:schemeClr val="dk1"/>
                </a:solidFill>
                <a:effectLst/>
                <a:uFillTx/>
                <a:latin typeface="DM Sans"/>
                <a:ea typeface="DM Sans"/>
              </a:rPr>
              <a:t>yourwebsite.com</a:t>
            </a:r>
            <a:endParaRPr lang="en-US" sz="1400" b="0" u="none" strike="noStrike">
              <a:solidFill>
                <a:srgbClr val="000000"/>
              </a:solidFill>
              <a:effectLst/>
              <a:uFillTx/>
              <a:latin typeface="OpenSymbol"/>
            </a:endParaRPr>
          </a:p>
        </p:txBody>
      </p:sp>
      <p:sp>
        <p:nvSpPr>
          <p:cNvPr id="346" name="Google Shape;1080;p70"/>
          <p:cNvSpPr/>
          <p:nvPr/>
        </p:nvSpPr>
        <p:spPr>
          <a:xfrm>
            <a:off x="714240" y="4124160"/>
            <a:ext cx="5095440" cy="0"/>
          </a:xfrm>
          <a:prstGeom prst="rect">
            <a:avLst/>
          </a:prstGeom>
          <a:noFill/>
          <a:ln w="0">
            <a:noFill/>
          </a:ln>
        </p:spPr>
        <p:style>
          <a:lnRef idx="0">
            <a:scrgbClr r="0" g="0" b="0"/>
          </a:lnRef>
          <a:fillRef idx="0">
            <a:scrgbClr r="0" g="0" b="0"/>
          </a:fillRef>
          <a:effectRef idx="0">
            <a:scrgbClr r="0" g="0" b="0"/>
          </a:effectRef>
          <a:fontRef idx="minor"/>
        </p:style>
        <p:txBody>
          <a:bodyPr lIns="870823080" tIns="-3122640" rIns="870823080" bIns="-3122640" anchor="t">
            <a:spAutoFit/>
          </a:bodyPr>
          <a:lstStyle/>
          <a:p>
            <a:pPr defTabSz="914400">
              <a:lnSpc>
                <a:spcPct val="100000"/>
              </a:lnSpc>
              <a:tabLst>
                <a:tab pos="0" algn="l"/>
              </a:tabLst>
            </a:pPr>
            <a:endParaRPr lang="en-US" sz="1200" b="0" u="none" strike="noStrike" dirty="0">
              <a:solidFill>
                <a:srgbClr val="000000"/>
              </a:solidFill>
              <a:effectLst/>
              <a:uFillTx/>
              <a:latin typeface="OpenSymbol"/>
            </a:endParaRPr>
          </a:p>
        </p:txBody>
      </p:sp>
      <p:sp>
        <p:nvSpPr>
          <p:cNvPr id="347" name="Google Shape;1081;p70"/>
          <p:cNvSpPr/>
          <p:nvPr/>
        </p:nvSpPr>
        <p:spPr>
          <a:xfrm rot="10800000" flipH="1">
            <a:off x="7185240" y="1838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1082;p70"/>
          <p:cNvSpPr/>
          <p:nvPr/>
        </p:nvSpPr>
        <p:spPr>
          <a:xfrm rot="10800000" flipH="1">
            <a:off x="7136640" y="45396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9" name="Google Shape;1083;p70"/>
          <p:cNvSpPr/>
          <p:nvPr/>
        </p:nvSpPr>
        <p:spPr>
          <a:xfrm rot="10800000" flipH="1">
            <a:off x="6717240" y="4067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0" name="Google Shape;1084;p70"/>
          <p:cNvSpPr/>
          <p:nvPr/>
        </p:nvSpPr>
        <p:spPr>
          <a:xfrm rot="10800000" flipH="1">
            <a:off x="6249600" y="30153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1085;p70"/>
          <p:cNvSpPr/>
          <p:nvPr/>
        </p:nvSpPr>
        <p:spPr>
          <a:xfrm rot="10800000" flipH="1">
            <a:off x="5842800" y="3511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1086;p70"/>
          <p:cNvSpPr/>
          <p:nvPr/>
        </p:nvSpPr>
        <p:spPr>
          <a:xfrm rot="10800000" flipH="1">
            <a:off x="7591320" y="3396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1087;p70"/>
          <p:cNvSpPr/>
          <p:nvPr/>
        </p:nvSpPr>
        <p:spPr>
          <a:xfrm rot="10800000" flipH="1">
            <a:off x="7185240" y="2310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4" name="Google Shape;1088;p70"/>
          <p:cNvSpPr/>
          <p:nvPr/>
        </p:nvSpPr>
        <p:spPr>
          <a:xfrm rot="10800000" flipH="1">
            <a:off x="8073000" y="29818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5" name="Google Shape;1089;p70"/>
          <p:cNvSpPr/>
          <p:nvPr/>
        </p:nvSpPr>
        <p:spPr>
          <a:xfrm>
            <a:off x="6147000" y="1260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6" name="Google Shape;1090;p70"/>
          <p:cNvSpPr/>
          <p:nvPr/>
        </p:nvSpPr>
        <p:spPr>
          <a:xfrm>
            <a:off x="6465960" y="283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7" name="Google Shape;1091;p70"/>
          <p:cNvSpPr/>
          <p:nvPr/>
        </p:nvSpPr>
        <p:spPr>
          <a:xfrm>
            <a:off x="5843520" y="-493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8" name="Google Shape;1092;p70"/>
          <p:cNvSpPr/>
          <p:nvPr/>
        </p:nvSpPr>
        <p:spPr>
          <a:xfrm>
            <a:off x="6794280" y="870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1093;p70"/>
          <p:cNvSpPr/>
          <p:nvPr/>
        </p:nvSpPr>
        <p:spPr>
          <a:xfrm>
            <a:off x="5215680" y="-48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1094;p70"/>
          <p:cNvSpPr/>
          <p:nvPr/>
        </p:nvSpPr>
        <p:spPr>
          <a:xfrm rot="10800000" flipH="1">
            <a:off x="8595360" y="1947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1095;p70"/>
          <p:cNvSpPr/>
          <p:nvPr/>
        </p:nvSpPr>
        <p:spPr>
          <a:xfrm rot="10800000" flipH="1">
            <a:off x="8148600" y="1464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1096;p70"/>
          <p:cNvSpPr/>
          <p:nvPr/>
        </p:nvSpPr>
        <p:spPr>
          <a:xfrm>
            <a:off x="7964280" y="42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1097;p70"/>
          <p:cNvSpPr/>
          <p:nvPr/>
        </p:nvSpPr>
        <p:spPr>
          <a:xfrm>
            <a:off x="8372520" y="-48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64" name="Google Shape;1098;p70"/>
          <p:cNvCxnSpPr/>
          <p:nvPr/>
        </p:nvCxnSpPr>
        <p:spPr>
          <a:xfrm>
            <a:off x="813960" y="677160"/>
            <a:ext cx="374040" cy="360"/>
          </a:xfrm>
          <a:prstGeom prst="straightConnector1">
            <a:avLst/>
          </a:prstGeom>
          <a:ln w="19050">
            <a:solidFill>
              <a:srgbClr val="384655"/>
            </a:solidFill>
            <a:round/>
          </a:ln>
        </p:spPr>
      </p:cxnSp>
      <p:sp>
        <p:nvSpPr>
          <p:cNvPr id="365" name="Google Shape;1099;p70"/>
          <p:cNvSpPr/>
          <p:nvPr/>
        </p:nvSpPr>
        <p:spPr>
          <a:xfrm>
            <a:off x="814320" y="3103560"/>
            <a:ext cx="407160" cy="407160"/>
          </a:xfrm>
          <a:custGeom>
            <a:avLst/>
            <a:gdLst>
              <a:gd name="textAreaLeft" fmla="*/ 0 w 407160"/>
              <a:gd name="textAreaRight" fmla="*/ 407520 w 407160"/>
              <a:gd name="textAreaTop" fmla="*/ 0 h 407160"/>
              <a:gd name="textAreaBottom" fmla="*/ 407520 h 407160"/>
            </a:gdLst>
            <a:ahLst/>
            <a:cxnLst/>
            <a:rect l="textAreaLeft" t="textAreaTop" r="textAreaRight" b="textAreaBottom"/>
            <a:pathLst>
              <a:path w="19982" h="19982">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66" name="Google Shape;1100;p70"/>
          <p:cNvGrpSpPr/>
          <p:nvPr/>
        </p:nvGrpSpPr>
        <p:grpSpPr>
          <a:xfrm>
            <a:off x="1334880" y="3103560"/>
            <a:ext cx="407160" cy="407160"/>
            <a:chOff x="1334880" y="3103560"/>
            <a:chExt cx="407160" cy="407160"/>
          </a:xfrm>
        </p:grpSpPr>
        <p:sp>
          <p:nvSpPr>
            <p:cNvPr id="367" name="Google Shape;1101;p70"/>
            <p:cNvSpPr/>
            <p:nvPr/>
          </p:nvSpPr>
          <p:spPr>
            <a:xfrm>
              <a:off x="1454760" y="3223800"/>
              <a:ext cx="166680" cy="166680"/>
            </a:xfrm>
            <a:custGeom>
              <a:avLst/>
              <a:gdLst>
                <a:gd name="textAreaLeft" fmla="*/ 0 w 166680"/>
                <a:gd name="textAreaRight" fmla="*/ 167040 w 166680"/>
                <a:gd name="textAreaTop" fmla="*/ 0 h 166680"/>
                <a:gd name="textAreaBottom" fmla="*/ 167040 h 166680"/>
              </a:gdLst>
              <a:ahLst/>
              <a:cxnLst/>
              <a:rect l="textAreaLeft" t="textAreaTop" r="textAreaRight" b="textAreaBottom"/>
              <a:pathLst>
                <a:path w="8197" h="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520" bIns="83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8" name="Google Shape;1102;p70"/>
            <p:cNvSpPr/>
            <p:nvPr/>
          </p:nvSpPr>
          <p:spPr>
            <a:xfrm>
              <a:off x="1382400" y="3151440"/>
              <a:ext cx="311400" cy="311400"/>
            </a:xfrm>
            <a:custGeom>
              <a:avLst/>
              <a:gdLst>
                <a:gd name="textAreaLeft" fmla="*/ 0 w 311400"/>
                <a:gd name="textAreaRight" fmla="*/ 311760 w 311400"/>
                <a:gd name="textAreaTop" fmla="*/ 0 h 311400"/>
                <a:gd name="textAreaBottom" fmla="*/ 311760 h 311400"/>
              </a:gdLst>
              <a:ahLst/>
              <a:cxnLst/>
              <a:rect l="textAreaLeft" t="textAreaTop" r="textAreaRight" b="textAreaBottom"/>
              <a:pathLst>
                <a:path w="15300" h="15299">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9" name="Google Shape;1103;p70"/>
            <p:cNvSpPr/>
            <p:nvPr/>
          </p:nvSpPr>
          <p:spPr>
            <a:xfrm>
              <a:off x="1334880" y="3103560"/>
              <a:ext cx="407160" cy="407160"/>
            </a:xfrm>
            <a:custGeom>
              <a:avLst/>
              <a:gdLst>
                <a:gd name="textAreaLeft" fmla="*/ 0 w 407160"/>
                <a:gd name="textAreaRight" fmla="*/ 407520 w 407160"/>
                <a:gd name="textAreaTop" fmla="*/ 0 h 407160"/>
                <a:gd name="textAreaBottom" fmla="*/ 407520 h 407160"/>
              </a:gdLst>
              <a:ahLst/>
              <a:cxnLst/>
              <a:rect l="textAreaLeft" t="textAreaTop" r="textAreaRight" b="textAreaBottom"/>
              <a:pathLst>
                <a:path w="19984" h="19982">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0" name="Google Shape;1104;p70"/>
            <p:cNvSpPr/>
            <p:nvPr/>
          </p:nvSpPr>
          <p:spPr>
            <a:xfrm>
              <a:off x="1598040" y="320004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2342" h="2343">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1" name="Google Shape;1105;p70"/>
          <p:cNvGrpSpPr/>
          <p:nvPr/>
        </p:nvGrpSpPr>
        <p:grpSpPr>
          <a:xfrm>
            <a:off x="1855440" y="3103560"/>
            <a:ext cx="407160" cy="407160"/>
            <a:chOff x="1855440" y="3103560"/>
            <a:chExt cx="407160" cy="407160"/>
          </a:xfrm>
        </p:grpSpPr>
        <p:sp>
          <p:nvSpPr>
            <p:cNvPr id="372" name="Google Shape;1106;p70"/>
            <p:cNvSpPr/>
            <p:nvPr/>
          </p:nvSpPr>
          <p:spPr>
            <a:xfrm>
              <a:off x="1915920" y="3247560"/>
              <a:ext cx="71280" cy="214560"/>
            </a:xfrm>
            <a:custGeom>
              <a:avLst/>
              <a:gdLst>
                <a:gd name="textAreaLeft" fmla="*/ 0 w 71280"/>
                <a:gd name="textAreaRight" fmla="*/ 71640 w 71280"/>
                <a:gd name="textAreaTop" fmla="*/ 0 h 214560"/>
                <a:gd name="textAreaBottom" fmla="*/ 214920 h 214560"/>
              </a:gdLst>
              <a:ahLst/>
              <a:cxnLst/>
              <a:rect l="textAreaLeft" t="textAreaTop" r="textAreaRight" b="textAreaBottom"/>
              <a:pathLst>
                <a:path w="3514" h="10537">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3" name="Google Shape;1107;p70"/>
            <p:cNvSpPr/>
            <p:nvPr/>
          </p:nvSpPr>
          <p:spPr>
            <a:xfrm>
              <a:off x="1915920" y="3152160"/>
              <a:ext cx="71280" cy="71280"/>
            </a:xfrm>
            <a:custGeom>
              <a:avLst/>
              <a:gdLst>
                <a:gd name="textAreaLeft" fmla="*/ 0 w 71280"/>
                <a:gd name="textAreaRight" fmla="*/ 71640 w 71280"/>
                <a:gd name="textAreaTop" fmla="*/ 0 h 71280"/>
                <a:gd name="textAreaBottom" fmla="*/ 71640 h 71280"/>
              </a:gdLst>
              <a:ahLst/>
              <a:cxnLst/>
              <a:rect l="textAreaLeft" t="textAreaTop" r="textAreaRight" b="textAreaBottom"/>
              <a:pathLst>
                <a:path w="3514" h="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5640" bIns="35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1108;p70"/>
            <p:cNvSpPr/>
            <p:nvPr/>
          </p:nvSpPr>
          <p:spPr>
            <a:xfrm>
              <a:off x="2011320" y="3247200"/>
              <a:ext cx="190800" cy="214920"/>
            </a:xfrm>
            <a:custGeom>
              <a:avLst/>
              <a:gdLst>
                <a:gd name="textAreaLeft" fmla="*/ 0 w 190800"/>
                <a:gd name="textAreaRight" fmla="*/ 191160 w 190800"/>
                <a:gd name="textAreaTop" fmla="*/ 0 h 214920"/>
                <a:gd name="textAreaBottom" fmla="*/ 215280 h 214920"/>
              </a:gdLst>
              <a:ahLst/>
              <a:cxnLst/>
              <a:rect l="textAreaLeft" t="textAreaTop" r="textAreaRight" b="textAreaBottom"/>
              <a:pathLst>
                <a:path w="9368" h="10556">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1109;p70"/>
            <p:cNvSpPr/>
            <p:nvPr/>
          </p:nvSpPr>
          <p:spPr>
            <a:xfrm>
              <a:off x="1855440" y="3103560"/>
              <a:ext cx="407160" cy="407160"/>
            </a:xfrm>
            <a:custGeom>
              <a:avLst/>
              <a:gdLst>
                <a:gd name="textAreaLeft" fmla="*/ 0 w 407160"/>
                <a:gd name="textAreaRight" fmla="*/ 407520 w 407160"/>
                <a:gd name="textAreaTop" fmla="*/ 0 h 407160"/>
                <a:gd name="textAreaBottom" fmla="*/ 407520 h 407160"/>
              </a:gdLst>
              <a:ahLst/>
              <a:cxnLst/>
              <a:rect l="textAreaLeft" t="textAreaTop" r="textAreaRight" b="textAreaBottom"/>
              <a:pathLst>
                <a:path w="19982" h="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1608</TotalTime>
  <Words>2536</Words>
  <Application>Microsoft Office PowerPoint</Application>
  <PresentationFormat>On-screen Show (16:9)</PresentationFormat>
  <Paragraphs>181</Paragraphs>
  <Slides>28</Slides>
  <Notes>20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Aptos</vt:lpstr>
      <vt:lpstr>Arial</vt:lpstr>
      <vt:lpstr>Calibri</vt:lpstr>
      <vt:lpstr>Courier New</vt:lpstr>
      <vt:lpstr>DM Sans</vt:lpstr>
      <vt:lpstr>OpenSymbol</vt:lpstr>
      <vt:lpstr>Outfit</vt:lpstr>
      <vt:lpstr>Symbol</vt:lpstr>
      <vt:lpstr>Wingdings</vt:lpstr>
      <vt:lpstr>Data Collection and Analysis - Master of Science in Community Health and Prevention Research by Slidesgo</vt:lpstr>
      <vt:lpstr>Slidesgo Final Pages</vt:lpstr>
      <vt:lpstr>Μια Εφαρμογή Νέφους για την Διαχείριση &amp; Εκτέλεση Μοντέλων Μηχανικής Μάθησης</vt:lpstr>
      <vt:lpstr>Εισαγωγή</vt:lpstr>
      <vt:lpstr>PowerPoint Presentation</vt:lpstr>
      <vt:lpstr>PowerPoint Presentation</vt:lpstr>
      <vt:lpstr>Στόχοι της Διατριβής</vt:lpstr>
      <vt:lpstr>PowerPoint Presentation</vt:lpstr>
      <vt:lpstr>PowerPoint Presentation</vt:lpstr>
      <vt:lpstr>PowerPoint Presentation</vt:lpstr>
      <vt:lpstr>PowerPoint Presentation</vt:lpstr>
      <vt:lpstr>Τεχνικές Λεπτομέρειες Συστήματος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Πλεονεκτήματα προτεινόμενης εφαρμογής</vt:lpstr>
      <vt:lpstr>PowerPoint Presentation</vt:lpstr>
      <vt:lpstr>Συμπεράσματα</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RIZOGIANNIS Nikolaos</cp:lastModifiedBy>
  <cp:revision>24</cp:revision>
  <dcterms:modified xsi:type="dcterms:W3CDTF">2026-02-09T20:43:21Z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2026-02-08T17:22:28Z</dcterms:created>
  <dc:creator>Unknown Creator</dc:creator>
  <dc:description/>
  <dc:language>en-US</dc:language>
  <cp:lastModifiedBy>Unknown Creator</cp:lastModifiedBy>
  <dcterms:modified xsi:type="dcterms:W3CDTF">2026-02-08T17:22:28Z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